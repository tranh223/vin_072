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502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23"/>
        </a:solidFill>
        <a:effectLst/>
      </p:bgPr>
    </p:bg>
    <p:spTree>
      <p:nvGrpSpPr>
        <p:cNvPr id="1" name=""/>
        <p:cNvGrpSpPr/>
        <p:nvPr/>
      </p:nvGrpSpPr>
      <p:grpSpPr>
        <a:xfrm>
          <a:off x="0" y="0"/>
          <a:ext cx="0" cy="0"/>
          <a:chOff x="0" y="0"/>
          <a:chExt cx="0" cy="0"/>
        </a:xfrm>
      </p:grpSpPr>
      <p:sp>
        <p:nvSpPr>
          <p:cNvPr id="2" name="Shape 0"/>
          <p:cNvSpPr/>
          <p:nvPr/>
        </p:nvSpPr>
        <p:spPr>
          <a:xfrm>
            <a:off x="6858000" y="-1097280"/>
            <a:ext cx="4114800" cy="4114800"/>
          </a:xfrm>
          <a:prstGeom prst="ellipse">
            <a:avLst/>
          </a:prstGeom>
          <a:solidFill>
            <a:srgbClr val="4136C3">
              <a:alpha val="25000"/>
            </a:srgbClr>
          </a:solidFill>
          <a:ln w="12700">
            <a:solidFill>
              <a:srgbClr val="4136C3">
                <a:alpha val="25000"/>
              </a:srgbClr>
            </a:solidFill>
            <a:prstDash val="solid"/>
          </a:ln>
        </p:spPr>
      </p:sp>
      <p:sp>
        <p:nvSpPr>
          <p:cNvPr id="3" name="Shape 1"/>
          <p:cNvSpPr/>
          <p:nvPr/>
        </p:nvSpPr>
        <p:spPr>
          <a:xfrm>
            <a:off x="-1371600" y="3200400"/>
            <a:ext cx="3657600" cy="3657600"/>
          </a:xfrm>
          <a:prstGeom prst="ellipse">
            <a:avLst/>
          </a:prstGeom>
          <a:solidFill>
            <a:srgbClr val="734AA4">
              <a:alpha val="20000"/>
            </a:srgbClr>
          </a:solidFill>
          <a:ln w="12700">
            <a:solidFill>
              <a:srgbClr val="734AA4">
                <a:alpha val="20000"/>
              </a:srgbClr>
            </a:solidFill>
            <a:prstDash val="solid"/>
          </a:ln>
        </p:spPr>
      </p:sp>
      <p:sp>
        <p:nvSpPr>
          <p:cNvPr id="6" name="Text 4"/>
          <p:cNvSpPr/>
          <p:nvPr/>
        </p:nvSpPr>
        <p:spPr>
          <a:xfrm>
            <a:off x="1645920" y="548640"/>
            <a:ext cx="1315329" cy="548640"/>
          </a:xfrm>
          <a:prstGeom prst="rect">
            <a:avLst/>
          </a:prstGeom>
          <a:noFill/>
          <a:ln/>
        </p:spPr>
        <p:txBody>
          <a:bodyPr wrap="square" rtlCol="0" anchor="ctr"/>
          <a:lstStyle/>
          <a:p>
            <a:pPr marL="0" indent="0">
              <a:buNone/>
            </a:pPr>
            <a:r>
              <a:rPr lang="en-US" sz="2600" b="1" dirty="0" err="1">
                <a:solidFill>
                  <a:srgbClr val="FFFFFF"/>
                </a:solidFill>
                <a:latin typeface="Noto san"/>
                <a:ea typeface="Arial" pitchFamily="34" charset="-122"/>
                <a:cs typeface="Arial" pitchFamily="34" charset="-120"/>
              </a:rPr>
              <a:t>Scaify</a:t>
            </a:r>
            <a:r>
              <a:rPr lang="en-US" sz="2600" b="1" dirty="0">
                <a:solidFill>
                  <a:srgbClr val="FFFFFF"/>
                </a:solidFill>
                <a:latin typeface="Noto san"/>
                <a:ea typeface="Arial" pitchFamily="34" charset="-122"/>
                <a:cs typeface="Arial" pitchFamily="34" charset="-120"/>
              </a:rPr>
              <a:t> </a:t>
            </a:r>
            <a:endParaRPr lang="en-US" sz="2600" dirty="0">
              <a:latin typeface="Noto san"/>
            </a:endParaRPr>
          </a:p>
        </p:txBody>
      </p:sp>
      <p:sp>
        <p:nvSpPr>
          <p:cNvPr id="7" name="Text 5"/>
          <p:cNvSpPr/>
          <p:nvPr/>
        </p:nvSpPr>
        <p:spPr>
          <a:xfrm>
            <a:off x="548640" y="1463040"/>
            <a:ext cx="8046720" cy="1645920"/>
          </a:xfrm>
          <a:prstGeom prst="rect">
            <a:avLst/>
          </a:prstGeom>
          <a:noFill/>
          <a:ln/>
        </p:spPr>
        <p:txBody>
          <a:bodyPr wrap="square" rtlCol="0" anchor="ctr"/>
          <a:lstStyle/>
          <a:p>
            <a:pPr marL="0" indent="0">
              <a:buNone/>
            </a:pPr>
            <a:r>
              <a:rPr lang="en-US" sz="4400" b="1" dirty="0">
                <a:solidFill>
                  <a:srgbClr val="FFFFFF"/>
                </a:solidFill>
                <a:latin typeface="Noto san"/>
                <a:ea typeface="Arial Black" pitchFamily="34" charset="-122"/>
                <a:cs typeface="Arial Black" pitchFamily="34" charset="-120"/>
              </a:rPr>
              <a:t>Đối soát &amp; chuẩn bị
</a:t>
            </a:r>
            <a:r>
              <a:rPr lang="en-US" sz="4400" b="1" dirty="0">
                <a:solidFill>
                  <a:srgbClr val="9B72F9"/>
                </a:solidFill>
                <a:latin typeface="Noto san"/>
                <a:ea typeface="Arial Black" pitchFamily="34" charset="-122"/>
                <a:cs typeface="Arial Black" pitchFamily="34" charset="-120"/>
              </a:rPr>
              <a:t>hồ sơ thuế thông minh</a:t>
            </a:r>
            <a:endParaRPr lang="en-US" sz="4400" dirty="0">
              <a:latin typeface="Noto san"/>
            </a:endParaRPr>
          </a:p>
        </p:txBody>
      </p:sp>
      <p:sp>
        <p:nvSpPr>
          <p:cNvPr id="8" name="Text 6"/>
          <p:cNvSpPr/>
          <p:nvPr/>
        </p:nvSpPr>
        <p:spPr>
          <a:xfrm>
            <a:off x="548640" y="3154680"/>
            <a:ext cx="8046720" cy="914400"/>
          </a:xfrm>
          <a:prstGeom prst="rect">
            <a:avLst/>
          </a:prstGeom>
          <a:noFill/>
          <a:ln/>
        </p:spPr>
        <p:txBody>
          <a:bodyPr wrap="square" rtlCol="0" anchor="ctr"/>
          <a:lstStyle/>
          <a:p>
            <a:pPr marL="0" indent="0">
              <a:buNone/>
            </a:pPr>
            <a:r>
              <a:rPr lang="en-US" sz="1500" i="1" dirty="0">
                <a:solidFill>
                  <a:srgbClr val="C3C0FF"/>
                </a:solidFill>
                <a:latin typeface="Noto san"/>
                <a:ea typeface="Calibri" pitchFamily="34" charset="-122"/>
                <a:cs typeface="Calibri" pitchFamily="34" charset="-120"/>
              </a:rPr>
              <a:t>Tự động hóa đối soát CSV ↔ chứng từ (OCR/VLM), preview thuế GTGT/TNCN,</a:t>
            </a:r>
            <a:endParaRPr lang="en-US" sz="1500" dirty="0">
              <a:latin typeface="Noto san"/>
            </a:endParaRPr>
          </a:p>
          <a:p>
            <a:pPr marL="0" indent="0">
              <a:buNone/>
            </a:pPr>
            <a:r>
              <a:rPr lang="en-US" sz="1500" i="1" dirty="0">
                <a:solidFill>
                  <a:srgbClr val="C3C0FF"/>
                </a:solidFill>
                <a:latin typeface="Noto san"/>
                <a:ea typeface="Calibri" pitchFamily="34" charset="-122"/>
                <a:cs typeface="Calibri" pitchFamily="34" charset="-120"/>
              </a:rPr>
              <a:t>cảnh báo ngưỡng 1 tỷ/năm — dashboard minh bạch cho người bán online.</a:t>
            </a:r>
            <a:endParaRPr lang="en-US" sz="1500" dirty="0">
              <a:latin typeface="Noto san"/>
            </a:endParaRPr>
          </a:p>
        </p:txBody>
      </p:sp>
      <p:sp>
        <p:nvSpPr>
          <p:cNvPr id="9" name="Shape 7"/>
          <p:cNvSpPr/>
          <p:nvPr/>
        </p:nvSpPr>
        <p:spPr>
          <a:xfrm>
            <a:off x="548640" y="4160520"/>
            <a:ext cx="2468880" cy="411480"/>
          </a:xfrm>
          <a:prstGeom prst="roundRect">
            <a:avLst>
              <a:gd name="adj" fmla="val 22222"/>
            </a:avLst>
          </a:prstGeom>
          <a:solidFill>
            <a:srgbClr val="4136C3">
              <a:alpha val="40000"/>
            </a:srgbClr>
          </a:solidFill>
          <a:ln w="12700">
            <a:solidFill>
              <a:srgbClr val="9B72F9"/>
            </a:solidFill>
            <a:prstDash val="solid"/>
          </a:ln>
        </p:spPr>
      </p:sp>
      <p:sp>
        <p:nvSpPr>
          <p:cNvPr id="10" name="Text 8"/>
          <p:cNvSpPr/>
          <p:nvPr/>
        </p:nvSpPr>
        <p:spPr>
          <a:xfrm>
            <a:off x="548640" y="4160520"/>
            <a:ext cx="2468880" cy="411480"/>
          </a:xfrm>
          <a:prstGeom prst="rect">
            <a:avLst/>
          </a:prstGeom>
          <a:noFill/>
          <a:ln/>
        </p:spPr>
        <p:txBody>
          <a:bodyPr wrap="square" rtlCol="0" anchor="ctr"/>
          <a:lstStyle/>
          <a:p>
            <a:pPr marL="0" indent="0" algn="ctr">
              <a:buNone/>
            </a:pPr>
            <a:r>
              <a:rPr lang="en-US" sz="1100" dirty="0">
                <a:solidFill>
                  <a:srgbClr val="FFFFFF"/>
                </a:solidFill>
                <a:latin typeface="Noto san"/>
                <a:ea typeface="Calibri" pitchFamily="34" charset="-122"/>
                <a:cs typeface="Calibri" pitchFamily="34" charset="-120"/>
              </a:rPr>
              <a:t>Facebook / Zalo / TikTok</a:t>
            </a:r>
            <a:endParaRPr lang="en-US" sz="1100" dirty="0">
              <a:latin typeface="Noto san"/>
            </a:endParaRPr>
          </a:p>
        </p:txBody>
      </p:sp>
      <p:sp>
        <p:nvSpPr>
          <p:cNvPr id="11" name="Shape 9"/>
          <p:cNvSpPr/>
          <p:nvPr/>
        </p:nvSpPr>
        <p:spPr>
          <a:xfrm>
            <a:off x="3291840" y="4160520"/>
            <a:ext cx="2468880" cy="411480"/>
          </a:xfrm>
          <a:prstGeom prst="roundRect">
            <a:avLst>
              <a:gd name="adj" fmla="val 22222"/>
            </a:avLst>
          </a:prstGeom>
          <a:solidFill>
            <a:srgbClr val="4136C3">
              <a:alpha val="40000"/>
            </a:srgbClr>
          </a:solidFill>
          <a:ln w="12700">
            <a:solidFill>
              <a:srgbClr val="9B72F9"/>
            </a:solidFill>
            <a:prstDash val="solid"/>
          </a:ln>
        </p:spPr>
      </p:sp>
      <p:sp>
        <p:nvSpPr>
          <p:cNvPr id="12" name="Text 10"/>
          <p:cNvSpPr/>
          <p:nvPr/>
        </p:nvSpPr>
        <p:spPr>
          <a:xfrm>
            <a:off x="3291840" y="4160520"/>
            <a:ext cx="2468880" cy="411480"/>
          </a:xfrm>
          <a:prstGeom prst="rect">
            <a:avLst/>
          </a:prstGeom>
          <a:noFill/>
          <a:ln/>
        </p:spPr>
        <p:txBody>
          <a:bodyPr wrap="square" rtlCol="0" anchor="ctr"/>
          <a:lstStyle/>
          <a:p>
            <a:pPr marL="0" indent="0" algn="ctr">
              <a:buNone/>
            </a:pPr>
            <a:r>
              <a:rPr lang="en-US" sz="1100" dirty="0">
                <a:solidFill>
                  <a:srgbClr val="FFFFFF"/>
                </a:solidFill>
                <a:latin typeface="Noto san"/>
                <a:ea typeface="Calibri" pitchFamily="34" charset="-122"/>
                <a:cs typeface="Calibri" pitchFamily="34" charset="-120"/>
              </a:rPr>
              <a:t>OCR / VLM</a:t>
            </a:r>
            <a:endParaRPr lang="en-US" sz="1100" dirty="0">
              <a:latin typeface="Noto san"/>
            </a:endParaRPr>
          </a:p>
        </p:txBody>
      </p:sp>
      <p:sp>
        <p:nvSpPr>
          <p:cNvPr id="13" name="Shape 11"/>
          <p:cNvSpPr/>
          <p:nvPr/>
        </p:nvSpPr>
        <p:spPr>
          <a:xfrm>
            <a:off x="6035040" y="4160520"/>
            <a:ext cx="2468880" cy="411480"/>
          </a:xfrm>
          <a:prstGeom prst="roundRect">
            <a:avLst>
              <a:gd name="adj" fmla="val 22222"/>
            </a:avLst>
          </a:prstGeom>
          <a:solidFill>
            <a:srgbClr val="4136C3">
              <a:alpha val="40000"/>
            </a:srgbClr>
          </a:solidFill>
          <a:ln w="12700">
            <a:solidFill>
              <a:srgbClr val="9B72F9"/>
            </a:solidFill>
            <a:prstDash val="solid"/>
          </a:ln>
        </p:spPr>
      </p:sp>
      <p:sp>
        <p:nvSpPr>
          <p:cNvPr id="14" name="Text 12"/>
          <p:cNvSpPr/>
          <p:nvPr/>
        </p:nvSpPr>
        <p:spPr>
          <a:xfrm>
            <a:off x="6035040" y="4160520"/>
            <a:ext cx="2468880" cy="411480"/>
          </a:xfrm>
          <a:prstGeom prst="rect">
            <a:avLst/>
          </a:prstGeom>
          <a:noFill/>
          <a:ln/>
        </p:spPr>
        <p:txBody>
          <a:bodyPr wrap="square" rtlCol="0" anchor="ctr"/>
          <a:lstStyle/>
          <a:p>
            <a:pPr marL="0" indent="0" algn="ctr">
              <a:buNone/>
            </a:pPr>
            <a:r>
              <a:rPr lang="en-US" sz="1100" dirty="0">
                <a:solidFill>
                  <a:srgbClr val="FFFFFF"/>
                </a:solidFill>
                <a:latin typeface="Noto san"/>
                <a:ea typeface="Calibri" pitchFamily="34" charset="-122"/>
                <a:cs typeface="Calibri" pitchFamily="34" charset="-120"/>
              </a:rPr>
              <a:t>Rule minh bạch</a:t>
            </a:r>
            <a:endParaRPr lang="en-US" sz="1100" dirty="0">
              <a:latin typeface="Noto san"/>
            </a:endParaRPr>
          </a:p>
        </p:txBody>
      </p:sp>
      <p:sp>
        <p:nvSpPr>
          <p:cNvPr id="15" name="Text 13"/>
          <p:cNvSpPr/>
          <p:nvPr/>
        </p:nvSpPr>
        <p:spPr>
          <a:xfrm>
            <a:off x="457200" y="4754880"/>
            <a:ext cx="8229600" cy="274320"/>
          </a:xfrm>
          <a:prstGeom prst="rect">
            <a:avLst/>
          </a:prstGeom>
          <a:noFill/>
          <a:ln/>
        </p:spPr>
        <p:txBody>
          <a:bodyPr wrap="square" rtlCol="0" anchor="ctr"/>
          <a:lstStyle/>
          <a:p>
            <a:pPr marL="0" indent="0" algn="ctr">
              <a:buNone/>
            </a:pPr>
            <a:r>
              <a:rPr lang="en-US" sz="1000" dirty="0">
                <a:solidFill>
                  <a:srgbClr val="777586"/>
                </a:solidFill>
                <a:latin typeface="Calibri" pitchFamily="34" charset="0"/>
                <a:ea typeface="Calibri" pitchFamily="34" charset="-122"/>
                <a:cs typeface="Calibri" pitchFamily="34" charset="-120"/>
              </a:rPr>
              <a:t>Team 072 · VinUni · © 2026 Scaify AI Intelligence</a:t>
            </a:r>
            <a:endParaRPr lang="en-US" sz="1000" dirty="0"/>
          </a:p>
        </p:txBody>
      </p:sp>
      <p:pic>
        <p:nvPicPr>
          <p:cNvPr id="17" name="Picture 16">
            <a:extLst>
              <a:ext uri="{FF2B5EF4-FFF2-40B4-BE49-F238E27FC236}">
                <a16:creationId xmlns:a16="http://schemas.microsoft.com/office/drawing/2014/main" id="{66CF1BC7-20FB-48E1-AD06-C2299230ABC7}"/>
              </a:ext>
            </a:extLst>
          </p:cNvPr>
          <p:cNvPicPr>
            <a:picLocks noChangeAspect="1"/>
          </p:cNvPicPr>
          <p:nvPr/>
        </p:nvPicPr>
        <p:blipFill>
          <a:blip r:embed="rId3"/>
          <a:stretch>
            <a:fillRect/>
          </a:stretch>
        </p:blipFill>
        <p:spPr>
          <a:xfrm>
            <a:off x="811530" y="434340"/>
            <a:ext cx="777240" cy="777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812AD"/>
          </a:solidFill>
          <a:ln w="12700">
            <a:solidFill>
              <a:srgbClr val="2812AD"/>
            </a:solidFill>
            <a:prstDash val="solid"/>
          </a:ln>
        </p:spPr>
      </p:sp>
      <p:sp>
        <p:nvSpPr>
          <p:cNvPr id="3" name="Text 1"/>
          <p:cNvSpPr/>
          <p:nvPr/>
        </p:nvSpPr>
        <p:spPr>
          <a:xfrm>
            <a:off x="365760" y="274320"/>
            <a:ext cx="8412480" cy="594360"/>
          </a:xfrm>
          <a:prstGeom prst="rect">
            <a:avLst/>
          </a:prstGeom>
          <a:noFill/>
          <a:ln/>
        </p:spPr>
        <p:txBody>
          <a:bodyPr wrap="square" rtlCol="0" anchor="ctr"/>
          <a:lstStyle/>
          <a:p>
            <a:pPr marL="0" indent="0">
              <a:buNone/>
            </a:pPr>
            <a:r>
              <a:rPr lang="en-US" sz="3200" b="1" dirty="0">
                <a:solidFill>
                  <a:srgbClr val="1B1B23"/>
                </a:solidFill>
                <a:latin typeface="Noto san"/>
                <a:ea typeface="Arial Black" pitchFamily="34" charset="-122"/>
                <a:cs typeface="Arial Black" pitchFamily="34" charset="-120"/>
              </a:rPr>
              <a:t>Nỗi đau của người bán online</a:t>
            </a:r>
            <a:endParaRPr lang="en-US" sz="3200" dirty="0">
              <a:latin typeface="Noto san"/>
            </a:endParaRPr>
          </a:p>
        </p:txBody>
      </p:sp>
      <p:sp>
        <p:nvSpPr>
          <p:cNvPr id="4" name="Text 2"/>
          <p:cNvSpPr/>
          <p:nvPr/>
        </p:nvSpPr>
        <p:spPr>
          <a:xfrm>
            <a:off x="365760" y="868680"/>
            <a:ext cx="8412480" cy="365760"/>
          </a:xfrm>
          <a:prstGeom prst="rect">
            <a:avLst/>
          </a:prstGeom>
          <a:noFill/>
          <a:ln/>
        </p:spPr>
        <p:txBody>
          <a:bodyPr wrap="square" rtlCol="0" anchor="ctr"/>
          <a:lstStyle/>
          <a:p>
            <a:pPr marL="0" indent="0">
              <a:buNone/>
            </a:pPr>
            <a:r>
              <a:rPr lang="en-US" sz="1300" i="1" dirty="0">
                <a:solidFill>
                  <a:srgbClr val="777586"/>
                </a:solidFill>
                <a:latin typeface="Noto san"/>
                <a:ea typeface="Calibri" pitchFamily="34" charset="-122"/>
                <a:cs typeface="Calibri" pitchFamily="34" charset="-120"/>
              </a:rPr>
              <a:t>Khi dữ liệu phát triển nhanh hơn khả năng xử lý thủ công, sự rời rạc trở thành rủi ro lớn nhất.</a:t>
            </a:r>
            <a:endParaRPr lang="en-US" sz="1300" dirty="0">
              <a:latin typeface="Noto san"/>
            </a:endParaRPr>
          </a:p>
        </p:txBody>
      </p:sp>
      <p:sp>
        <p:nvSpPr>
          <p:cNvPr id="5" name="Shape 3"/>
          <p:cNvSpPr/>
          <p:nvPr/>
        </p:nvSpPr>
        <p:spPr>
          <a:xfrm>
            <a:off x="365760" y="1325880"/>
            <a:ext cx="4114800" cy="1600200"/>
          </a:xfrm>
          <a:prstGeom prst="rect">
            <a:avLst/>
          </a:prstGeom>
          <a:solidFill>
            <a:srgbClr val="F6F2FE"/>
          </a:solidFill>
          <a:ln w="12700">
            <a:solidFill>
              <a:srgbClr val="E4E1ED"/>
            </a:solidFill>
            <a:prstDash val="solid"/>
          </a:ln>
          <a:effectLst>
            <a:outerShdw blurRad="101600" dist="38100" dir="8100000" algn="bl" rotWithShape="0">
              <a:srgbClr val="000000">
                <a:alpha val="10000"/>
              </a:srgbClr>
            </a:outerShdw>
          </a:effectLst>
        </p:spPr>
      </p:sp>
      <p:sp>
        <p:nvSpPr>
          <p:cNvPr id="6" name="Shape 4"/>
          <p:cNvSpPr/>
          <p:nvPr/>
        </p:nvSpPr>
        <p:spPr>
          <a:xfrm>
            <a:off x="502920" y="1463040"/>
            <a:ext cx="457200" cy="457200"/>
          </a:xfrm>
          <a:prstGeom prst="ellipse">
            <a:avLst/>
          </a:prstGeom>
          <a:solidFill>
            <a:srgbClr val="2812AD"/>
          </a:solidFill>
          <a:ln w="12700">
            <a:solidFill>
              <a:srgbClr val="2812AD"/>
            </a:solidFill>
            <a:prstDash val="solid"/>
          </a:ln>
        </p:spPr>
      </p:sp>
      <p:sp>
        <p:nvSpPr>
          <p:cNvPr id="7" name="Text 5"/>
          <p:cNvSpPr/>
          <p:nvPr/>
        </p:nvSpPr>
        <p:spPr>
          <a:xfrm>
            <a:off x="502920" y="1463040"/>
            <a:ext cx="457200" cy="457200"/>
          </a:xfrm>
          <a:prstGeom prst="rect">
            <a:avLst/>
          </a:prstGeom>
          <a:noFill/>
          <a:ln/>
        </p:spPr>
        <p:txBody>
          <a:bodyPr wrap="square" rtlCol="0" anchor="ctr"/>
          <a:lstStyle/>
          <a:p>
            <a:pPr marL="0" indent="0" algn="ctr">
              <a:buNone/>
            </a:pPr>
            <a:r>
              <a:rPr lang="en-US" sz="1300" b="1" dirty="0">
                <a:solidFill>
                  <a:srgbClr val="FFFFFF"/>
                </a:solidFill>
                <a:latin typeface="Noto san"/>
              </a:rPr>
              <a:t>1</a:t>
            </a:r>
            <a:endParaRPr lang="en-US" sz="1300" dirty="0">
              <a:latin typeface="Noto san"/>
            </a:endParaRPr>
          </a:p>
        </p:txBody>
      </p:sp>
      <p:sp>
        <p:nvSpPr>
          <p:cNvPr id="8" name="Text 6"/>
          <p:cNvSpPr/>
          <p:nvPr/>
        </p:nvSpPr>
        <p:spPr>
          <a:xfrm>
            <a:off x="1051560" y="1463040"/>
            <a:ext cx="3200400" cy="411480"/>
          </a:xfrm>
          <a:prstGeom prst="rect">
            <a:avLst/>
          </a:prstGeom>
          <a:noFill/>
          <a:ln/>
        </p:spPr>
        <p:txBody>
          <a:bodyPr wrap="square" lIns="0" tIns="0" rIns="0" bIns="0" rtlCol="0" anchor="ctr"/>
          <a:lstStyle/>
          <a:p>
            <a:pPr marL="0" indent="0">
              <a:buNone/>
            </a:pPr>
            <a:r>
              <a:rPr lang="en-US" sz="1500" b="1" dirty="0">
                <a:solidFill>
                  <a:srgbClr val="2812AD"/>
                </a:solidFill>
                <a:latin typeface="Noto san"/>
                <a:ea typeface="Arial" pitchFamily="34" charset="-122"/>
                <a:cs typeface="Arial" pitchFamily="34" charset="-120"/>
              </a:rPr>
              <a:t>Gom dữ liệu</a:t>
            </a:r>
            <a:endParaRPr lang="en-US" sz="1500" dirty="0">
              <a:latin typeface="Noto san"/>
            </a:endParaRPr>
          </a:p>
        </p:txBody>
      </p:sp>
      <p:sp>
        <p:nvSpPr>
          <p:cNvPr id="9" name="Text 7"/>
          <p:cNvSpPr/>
          <p:nvPr/>
        </p:nvSpPr>
        <p:spPr>
          <a:xfrm>
            <a:off x="502920" y="1920240"/>
            <a:ext cx="3840480" cy="914400"/>
          </a:xfrm>
          <a:prstGeom prst="rect">
            <a:avLst/>
          </a:prstGeom>
          <a:noFill/>
          <a:ln/>
        </p:spPr>
        <p:txBody>
          <a:bodyPr wrap="square" rtlCol="0" anchor="ctr"/>
          <a:lstStyle/>
          <a:p>
            <a:pPr marL="0" indent="0">
              <a:buNone/>
            </a:pPr>
            <a:r>
              <a:rPr lang="en-US" sz="1200" dirty="0">
                <a:solidFill>
                  <a:srgbClr val="464554"/>
                </a:solidFill>
                <a:latin typeface="Noto san"/>
                <a:ea typeface="Calibri" pitchFamily="34" charset="-122"/>
                <a:cs typeface="Calibri" pitchFamily="34" charset="-120"/>
              </a:rPr>
              <a:t>Tải file Excel thủ công từ nhiều nguồn (sàn TMĐT, sao kê ngân hàng). Định dạng lộn xộn, tốn hàng giờ mỗi ngày.</a:t>
            </a:r>
            <a:endParaRPr lang="en-US" sz="1200" dirty="0">
              <a:latin typeface="Noto san"/>
            </a:endParaRPr>
          </a:p>
        </p:txBody>
      </p:sp>
      <p:sp>
        <p:nvSpPr>
          <p:cNvPr id="10" name="Shape 8"/>
          <p:cNvSpPr/>
          <p:nvPr/>
        </p:nvSpPr>
        <p:spPr>
          <a:xfrm>
            <a:off x="4754880" y="1325880"/>
            <a:ext cx="4114800" cy="1600200"/>
          </a:xfrm>
          <a:prstGeom prst="rect">
            <a:avLst/>
          </a:prstGeom>
          <a:solidFill>
            <a:srgbClr val="FFDAD6"/>
          </a:solidFill>
          <a:ln w="12700">
            <a:solidFill>
              <a:srgbClr val="E4E1ED"/>
            </a:solidFill>
            <a:prstDash val="solid"/>
          </a:ln>
          <a:effectLst>
            <a:outerShdw blurRad="101600" dist="38100" dir="8100000" algn="bl" rotWithShape="0">
              <a:srgbClr val="000000">
                <a:alpha val="10000"/>
              </a:srgbClr>
            </a:outerShdw>
          </a:effectLst>
        </p:spPr>
      </p:sp>
      <p:sp>
        <p:nvSpPr>
          <p:cNvPr id="11" name="Shape 9"/>
          <p:cNvSpPr/>
          <p:nvPr/>
        </p:nvSpPr>
        <p:spPr>
          <a:xfrm>
            <a:off x="4892040" y="1463040"/>
            <a:ext cx="457200" cy="457200"/>
          </a:xfrm>
          <a:prstGeom prst="ellipse">
            <a:avLst/>
          </a:prstGeom>
          <a:solidFill>
            <a:srgbClr val="2812AD"/>
          </a:solidFill>
          <a:ln w="12700">
            <a:solidFill>
              <a:srgbClr val="2812AD"/>
            </a:solidFill>
            <a:prstDash val="solid"/>
          </a:ln>
        </p:spPr>
      </p:sp>
      <p:sp>
        <p:nvSpPr>
          <p:cNvPr id="12" name="Text 10"/>
          <p:cNvSpPr/>
          <p:nvPr/>
        </p:nvSpPr>
        <p:spPr>
          <a:xfrm>
            <a:off x="4892040" y="1463040"/>
            <a:ext cx="457200" cy="457200"/>
          </a:xfrm>
          <a:prstGeom prst="rect">
            <a:avLst/>
          </a:prstGeom>
          <a:noFill/>
          <a:ln/>
        </p:spPr>
        <p:txBody>
          <a:bodyPr wrap="square" rtlCol="0" anchor="ctr"/>
          <a:lstStyle/>
          <a:p>
            <a:pPr marL="0" indent="0" algn="ctr">
              <a:buNone/>
            </a:pPr>
            <a:r>
              <a:rPr lang="en-US" sz="1300" b="1" dirty="0">
                <a:solidFill>
                  <a:srgbClr val="FFFFFF"/>
                </a:solidFill>
                <a:latin typeface="Noto san"/>
              </a:rPr>
              <a:t>2</a:t>
            </a:r>
            <a:endParaRPr lang="en-US" sz="1300" dirty="0">
              <a:latin typeface="Noto san"/>
            </a:endParaRPr>
          </a:p>
        </p:txBody>
      </p:sp>
      <p:sp>
        <p:nvSpPr>
          <p:cNvPr id="13" name="Text 11"/>
          <p:cNvSpPr/>
          <p:nvPr/>
        </p:nvSpPr>
        <p:spPr>
          <a:xfrm>
            <a:off x="5440680" y="1463040"/>
            <a:ext cx="3200400" cy="411480"/>
          </a:xfrm>
          <a:prstGeom prst="rect">
            <a:avLst/>
          </a:prstGeom>
          <a:noFill/>
          <a:ln/>
        </p:spPr>
        <p:txBody>
          <a:bodyPr wrap="square" lIns="0" tIns="0" rIns="0" bIns="0" rtlCol="0" anchor="ctr"/>
          <a:lstStyle/>
          <a:p>
            <a:pPr marL="0" indent="0">
              <a:buNone/>
            </a:pPr>
            <a:r>
              <a:rPr lang="en-US" sz="1500" b="1" dirty="0">
                <a:solidFill>
                  <a:srgbClr val="2812AD"/>
                </a:solidFill>
                <a:latin typeface="Noto san"/>
                <a:ea typeface="Arial" pitchFamily="34" charset="-122"/>
                <a:cs typeface="Arial" pitchFamily="34" charset="-120"/>
              </a:rPr>
              <a:t>Rà soát &amp; Đối chiếu</a:t>
            </a:r>
            <a:endParaRPr lang="en-US" sz="1500" dirty="0">
              <a:latin typeface="Noto san"/>
            </a:endParaRPr>
          </a:p>
        </p:txBody>
      </p:sp>
      <p:sp>
        <p:nvSpPr>
          <p:cNvPr id="14" name="Text 12"/>
          <p:cNvSpPr/>
          <p:nvPr/>
        </p:nvSpPr>
        <p:spPr>
          <a:xfrm>
            <a:off x="4892040" y="1920240"/>
            <a:ext cx="3840480" cy="914400"/>
          </a:xfrm>
          <a:prstGeom prst="rect">
            <a:avLst/>
          </a:prstGeom>
          <a:noFill/>
          <a:ln/>
        </p:spPr>
        <p:txBody>
          <a:bodyPr wrap="square" rtlCol="0" anchor="ctr"/>
          <a:lstStyle/>
          <a:p>
            <a:pPr marL="0" indent="0">
              <a:buNone/>
            </a:pPr>
            <a:r>
              <a:rPr lang="en-US" sz="1200" dirty="0">
                <a:solidFill>
                  <a:srgbClr val="464554"/>
                </a:solidFill>
                <a:latin typeface="Noto san"/>
                <a:ea typeface="Calibri" pitchFamily="34" charset="-122"/>
                <a:cs typeface="Calibri" pitchFamily="34" charset="-120"/>
              </a:rPr>
              <a:t>Phụ thuộc vào VLOOKUP/INDEX MATCH. Máy tính treo, sai số cao, không đối soát thời gian thực.</a:t>
            </a:r>
            <a:endParaRPr lang="en-US" sz="1200" dirty="0">
              <a:latin typeface="Noto san"/>
            </a:endParaRPr>
          </a:p>
        </p:txBody>
      </p:sp>
      <p:sp>
        <p:nvSpPr>
          <p:cNvPr id="15" name="Shape 13"/>
          <p:cNvSpPr/>
          <p:nvPr/>
        </p:nvSpPr>
        <p:spPr>
          <a:xfrm>
            <a:off x="365760" y="3108960"/>
            <a:ext cx="4114800" cy="1600200"/>
          </a:xfrm>
          <a:prstGeom prst="rect">
            <a:avLst/>
          </a:prstGeom>
          <a:solidFill>
            <a:srgbClr val="F6F2FE"/>
          </a:solidFill>
          <a:ln w="12700">
            <a:solidFill>
              <a:srgbClr val="E4E1ED"/>
            </a:solidFill>
            <a:prstDash val="solid"/>
          </a:ln>
          <a:effectLst>
            <a:outerShdw blurRad="101600" dist="38100" dir="8100000" algn="bl" rotWithShape="0">
              <a:srgbClr val="000000">
                <a:alpha val="10000"/>
              </a:srgbClr>
            </a:outerShdw>
          </a:effectLst>
        </p:spPr>
      </p:sp>
      <p:sp>
        <p:nvSpPr>
          <p:cNvPr id="16" name="Shape 14"/>
          <p:cNvSpPr/>
          <p:nvPr/>
        </p:nvSpPr>
        <p:spPr>
          <a:xfrm>
            <a:off x="502920" y="3246120"/>
            <a:ext cx="457200" cy="457200"/>
          </a:xfrm>
          <a:prstGeom prst="ellipse">
            <a:avLst/>
          </a:prstGeom>
          <a:solidFill>
            <a:srgbClr val="2812AD"/>
          </a:solidFill>
          <a:ln w="12700">
            <a:solidFill>
              <a:srgbClr val="2812AD"/>
            </a:solidFill>
            <a:prstDash val="solid"/>
          </a:ln>
        </p:spPr>
      </p:sp>
      <p:sp>
        <p:nvSpPr>
          <p:cNvPr id="17" name="Text 15"/>
          <p:cNvSpPr/>
          <p:nvPr/>
        </p:nvSpPr>
        <p:spPr>
          <a:xfrm>
            <a:off x="502920" y="3246120"/>
            <a:ext cx="457200" cy="457200"/>
          </a:xfrm>
          <a:prstGeom prst="rect">
            <a:avLst/>
          </a:prstGeom>
          <a:noFill/>
          <a:ln/>
        </p:spPr>
        <p:txBody>
          <a:bodyPr wrap="square" rtlCol="0" anchor="ctr"/>
          <a:lstStyle/>
          <a:p>
            <a:pPr marL="0" indent="0" algn="ctr">
              <a:buNone/>
            </a:pPr>
            <a:r>
              <a:rPr lang="en-US" sz="1300" b="1" dirty="0">
                <a:solidFill>
                  <a:srgbClr val="FFFFFF"/>
                </a:solidFill>
                <a:latin typeface="Noto san"/>
              </a:rPr>
              <a:t>3</a:t>
            </a:r>
            <a:endParaRPr lang="en-US" sz="1300" dirty="0">
              <a:latin typeface="Noto san"/>
            </a:endParaRPr>
          </a:p>
        </p:txBody>
      </p:sp>
      <p:sp>
        <p:nvSpPr>
          <p:cNvPr id="18" name="Text 16"/>
          <p:cNvSpPr/>
          <p:nvPr/>
        </p:nvSpPr>
        <p:spPr>
          <a:xfrm>
            <a:off x="1051560" y="3246120"/>
            <a:ext cx="3200400" cy="411480"/>
          </a:xfrm>
          <a:prstGeom prst="rect">
            <a:avLst/>
          </a:prstGeom>
          <a:noFill/>
          <a:ln/>
        </p:spPr>
        <p:txBody>
          <a:bodyPr wrap="square" lIns="0" tIns="0" rIns="0" bIns="0" rtlCol="0" anchor="ctr"/>
          <a:lstStyle/>
          <a:p>
            <a:pPr marL="0" indent="0">
              <a:buNone/>
            </a:pPr>
            <a:r>
              <a:rPr lang="en-US" sz="1500" b="1" dirty="0">
                <a:solidFill>
                  <a:srgbClr val="2812AD"/>
                </a:solidFill>
                <a:latin typeface="Noto san"/>
                <a:ea typeface="Arial" pitchFamily="34" charset="-122"/>
                <a:cs typeface="Arial" pitchFamily="34" charset="-120"/>
              </a:rPr>
              <a:t>Chuẩn bị hồ sơ</a:t>
            </a:r>
            <a:endParaRPr lang="en-US" sz="1500" dirty="0">
              <a:latin typeface="Noto san"/>
            </a:endParaRPr>
          </a:p>
        </p:txBody>
      </p:sp>
      <p:sp>
        <p:nvSpPr>
          <p:cNvPr id="19" name="Text 17"/>
          <p:cNvSpPr/>
          <p:nvPr/>
        </p:nvSpPr>
        <p:spPr>
          <a:xfrm>
            <a:off x="502920" y="3703320"/>
            <a:ext cx="3840480" cy="914400"/>
          </a:xfrm>
          <a:prstGeom prst="rect">
            <a:avLst/>
          </a:prstGeom>
          <a:noFill/>
          <a:ln/>
        </p:spPr>
        <p:txBody>
          <a:bodyPr wrap="square" rtlCol="0" anchor="ctr"/>
          <a:lstStyle/>
          <a:p>
            <a:pPr marL="0" indent="0">
              <a:buNone/>
            </a:pPr>
            <a:r>
              <a:rPr lang="en-US" sz="1200" dirty="0">
                <a:solidFill>
                  <a:srgbClr val="464554"/>
                </a:solidFill>
                <a:latin typeface="Noto san"/>
                <a:ea typeface="Calibri" pitchFamily="34" charset="-122"/>
                <a:cs typeface="Calibri" pitchFamily="34" charset="-120"/>
              </a:rPr>
              <a:t>Copy-paste thủ công vào mẫu báo cáo. Mất tính toàn vẹn dữ liệu — khó truy vết nguồn gốc.</a:t>
            </a:r>
            <a:endParaRPr lang="en-US" sz="1200" dirty="0">
              <a:latin typeface="Noto san"/>
            </a:endParaRPr>
          </a:p>
        </p:txBody>
      </p:sp>
      <p:sp>
        <p:nvSpPr>
          <p:cNvPr id="20" name="Shape 18"/>
          <p:cNvSpPr/>
          <p:nvPr/>
        </p:nvSpPr>
        <p:spPr>
          <a:xfrm>
            <a:off x="4754880" y="3108960"/>
            <a:ext cx="4114800" cy="1600200"/>
          </a:xfrm>
          <a:prstGeom prst="rect">
            <a:avLst/>
          </a:prstGeom>
          <a:solidFill>
            <a:srgbClr val="F6F2FE"/>
          </a:solidFill>
          <a:ln w="12700">
            <a:solidFill>
              <a:srgbClr val="E4E1ED"/>
            </a:solidFill>
            <a:prstDash val="solid"/>
          </a:ln>
          <a:effectLst>
            <a:outerShdw blurRad="101600" dist="38100" dir="8100000" algn="bl" rotWithShape="0">
              <a:srgbClr val="000000">
                <a:alpha val="10000"/>
              </a:srgbClr>
            </a:outerShdw>
          </a:effectLst>
        </p:spPr>
      </p:sp>
      <p:sp>
        <p:nvSpPr>
          <p:cNvPr id="21" name="Shape 19"/>
          <p:cNvSpPr/>
          <p:nvPr/>
        </p:nvSpPr>
        <p:spPr>
          <a:xfrm>
            <a:off x="4892040" y="3246120"/>
            <a:ext cx="457200" cy="457200"/>
          </a:xfrm>
          <a:prstGeom prst="ellipse">
            <a:avLst/>
          </a:prstGeom>
          <a:solidFill>
            <a:srgbClr val="2812AD"/>
          </a:solidFill>
          <a:ln w="12700">
            <a:solidFill>
              <a:srgbClr val="2812AD"/>
            </a:solidFill>
            <a:prstDash val="solid"/>
          </a:ln>
        </p:spPr>
      </p:sp>
      <p:sp>
        <p:nvSpPr>
          <p:cNvPr id="22" name="Text 20"/>
          <p:cNvSpPr/>
          <p:nvPr/>
        </p:nvSpPr>
        <p:spPr>
          <a:xfrm>
            <a:off x="4892040" y="3246120"/>
            <a:ext cx="457200" cy="457200"/>
          </a:xfrm>
          <a:prstGeom prst="rect">
            <a:avLst/>
          </a:prstGeom>
          <a:noFill/>
          <a:ln/>
        </p:spPr>
        <p:txBody>
          <a:bodyPr wrap="square" rtlCol="0" anchor="ctr"/>
          <a:lstStyle/>
          <a:p>
            <a:pPr marL="0" indent="0" algn="ctr">
              <a:buNone/>
            </a:pPr>
            <a:r>
              <a:rPr lang="en-US" sz="1300" b="1" dirty="0">
                <a:solidFill>
                  <a:srgbClr val="FFFFFF"/>
                </a:solidFill>
                <a:latin typeface="Noto san"/>
              </a:rPr>
              <a:t>4</a:t>
            </a:r>
            <a:endParaRPr lang="en-US" sz="1300" dirty="0">
              <a:latin typeface="Noto san"/>
            </a:endParaRPr>
          </a:p>
        </p:txBody>
      </p:sp>
      <p:sp>
        <p:nvSpPr>
          <p:cNvPr id="23" name="Text 21"/>
          <p:cNvSpPr/>
          <p:nvPr/>
        </p:nvSpPr>
        <p:spPr>
          <a:xfrm>
            <a:off x="5440680" y="3246120"/>
            <a:ext cx="3200400" cy="411480"/>
          </a:xfrm>
          <a:prstGeom prst="rect">
            <a:avLst/>
          </a:prstGeom>
          <a:noFill/>
          <a:ln/>
        </p:spPr>
        <p:txBody>
          <a:bodyPr wrap="square" lIns="0" tIns="0" rIns="0" bIns="0" rtlCol="0" anchor="ctr"/>
          <a:lstStyle/>
          <a:p>
            <a:pPr marL="0" indent="0">
              <a:buNone/>
            </a:pPr>
            <a:r>
              <a:rPr lang="en-US" sz="1500" b="1" dirty="0">
                <a:solidFill>
                  <a:srgbClr val="2812AD"/>
                </a:solidFill>
                <a:latin typeface="Noto san"/>
                <a:ea typeface="Arial" pitchFamily="34" charset="-122"/>
                <a:cs typeface="Arial" pitchFamily="34" charset="-120"/>
              </a:rPr>
              <a:t>Giải thích số lệch</a:t>
            </a:r>
            <a:endParaRPr lang="en-US" sz="1500" dirty="0">
              <a:latin typeface="Noto san"/>
            </a:endParaRPr>
          </a:p>
        </p:txBody>
      </p:sp>
      <p:sp>
        <p:nvSpPr>
          <p:cNvPr id="24" name="Text 22"/>
          <p:cNvSpPr/>
          <p:nvPr/>
        </p:nvSpPr>
        <p:spPr>
          <a:xfrm>
            <a:off x="4892040" y="3703320"/>
            <a:ext cx="3840480" cy="914400"/>
          </a:xfrm>
          <a:prstGeom prst="rect">
            <a:avLst/>
          </a:prstGeom>
          <a:noFill/>
          <a:ln/>
        </p:spPr>
        <p:txBody>
          <a:bodyPr wrap="square" rtlCol="0" anchor="ctr"/>
          <a:lstStyle/>
          <a:p>
            <a:pPr marL="0" indent="0">
              <a:buNone/>
            </a:pPr>
            <a:r>
              <a:rPr lang="en-US" sz="1200" dirty="0">
                <a:solidFill>
                  <a:srgbClr val="464554"/>
                </a:solidFill>
                <a:latin typeface="Noto san"/>
                <a:ea typeface="Calibri" pitchFamily="34" charset="-122"/>
                <a:cs typeface="Calibri" pitchFamily="34" charset="-120"/>
              </a:rPr>
              <a:t>Khi cơ quan thuế hỏi, không có căn cứ rõ ràng để giải trình từng con số lệch.</a:t>
            </a:r>
            <a:endParaRPr lang="en-US" sz="1200" dirty="0">
              <a:latin typeface="Noto san"/>
            </a:endParaRPr>
          </a:p>
        </p:txBody>
      </p:sp>
      <p:sp>
        <p:nvSpPr>
          <p:cNvPr id="25" name="Text 23"/>
          <p:cNvSpPr/>
          <p:nvPr/>
        </p:nvSpPr>
        <p:spPr>
          <a:xfrm>
            <a:off x="36576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23"/>
        </a:solidFill>
        <a:effectLst/>
      </p:bgPr>
    </p:bg>
    <p:spTree>
      <p:nvGrpSpPr>
        <p:cNvPr id="1" name=""/>
        <p:cNvGrpSpPr/>
        <p:nvPr/>
      </p:nvGrpSpPr>
      <p:grpSpPr>
        <a:xfrm>
          <a:off x="0" y="0"/>
          <a:ext cx="0" cy="0"/>
          <a:chOff x="0" y="0"/>
          <a:chExt cx="0" cy="0"/>
        </a:xfrm>
      </p:grpSpPr>
      <p:sp>
        <p:nvSpPr>
          <p:cNvPr id="2" name="Shape 0"/>
          <p:cNvSpPr/>
          <p:nvPr/>
        </p:nvSpPr>
        <p:spPr>
          <a:xfrm>
            <a:off x="6583680" y="-731520"/>
            <a:ext cx="3657600" cy="3657600"/>
          </a:xfrm>
          <a:prstGeom prst="ellipse">
            <a:avLst/>
          </a:prstGeom>
          <a:solidFill>
            <a:srgbClr val="9B72F9">
              <a:alpha val="15000"/>
            </a:srgbClr>
          </a:solidFill>
          <a:ln w="12700">
            <a:solidFill>
              <a:srgbClr val="9B72F9">
                <a:alpha val="15000"/>
              </a:srgbClr>
            </a:solidFill>
            <a:prstDash val="solid"/>
          </a:ln>
        </p:spPr>
      </p:sp>
      <p:sp>
        <p:nvSpPr>
          <p:cNvPr id="3" name="Text 1"/>
          <p:cNvSpPr/>
          <p:nvPr/>
        </p:nvSpPr>
        <p:spPr>
          <a:xfrm>
            <a:off x="457200" y="274320"/>
            <a:ext cx="8229600" cy="457200"/>
          </a:xfrm>
          <a:prstGeom prst="rect">
            <a:avLst/>
          </a:prstGeom>
          <a:noFill/>
          <a:ln/>
        </p:spPr>
        <p:txBody>
          <a:bodyPr wrap="square" rtlCol="0" anchor="ctr"/>
          <a:lstStyle/>
          <a:p>
            <a:pPr marL="0" indent="0">
              <a:buNone/>
            </a:pPr>
            <a:r>
              <a:rPr lang="en-US" sz="1400" b="1" dirty="0">
                <a:solidFill>
                  <a:srgbClr val="9B72F9"/>
                </a:solidFill>
                <a:latin typeface="Noto san"/>
                <a:ea typeface="Calibri" pitchFamily="34" charset="-122"/>
                <a:cs typeface="Calibri" pitchFamily="34" charset="-120"/>
              </a:rPr>
              <a:t>Giải pháp</a:t>
            </a:r>
            <a:endParaRPr lang="en-US" sz="1400" dirty="0">
              <a:latin typeface="Noto san"/>
            </a:endParaRPr>
          </a:p>
        </p:txBody>
      </p:sp>
      <p:sp>
        <p:nvSpPr>
          <p:cNvPr id="4" name="Text 2"/>
          <p:cNvSpPr/>
          <p:nvPr/>
        </p:nvSpPr>
        <p:spPr>
          <a:xfrm>
            <a:off x="457200" y="594360"/>
            <a:ext cx="8229600" cy="685800"/>
          </a:xfrm>
          <a:prstGeom prst="rect">
            <a:avLst/>
          </a:prstGeom>
          <a:noFill/>
          <a:ln/>
        </p:spPr>
        <p:txBody>
          <a:bodyPr wrap="square" rtlCol="0" anchor="ctr"/>
          <a:lstStyle/>
          <a:p>
            <a:pPr marL="0" indent="0">
              <a:buNone/>
            </a:pPr>
            <a:r>
              <a:rPr lang="en-US" sz="3800" b="1" dirty="0">
                <a:solidFill>
                  <a:srgbClr val="FFFFFF"/>
                </a:solidFill>
                <a:latin typeface="Noto san"/>
                <a:ea typeface="Arial Black" pitchFamily="34" charset="-122"/>
                <a:cs typeface="Arial Black" pitchFamily="34" charset="-120"/>
              </a:rPr>
              <a:t>Scaify là gì?</a:t>
            </a:r>
            <a:endParaRPr lang="en-US" sz="3800" dirty="0">
              <a:latin typeface="Noto san"/>
            </a:endParaRPr>
          </a:p>
        </p:txBody>
      </p:sp>
      <p:sp>
        <p:nvSpPr>
          <p:cNvPr id="5" name="Text 3"/>
          <p:cNvSpPr/>
          <p:nvPr/>
        </p:nvSpPr>
        <p:spPr>
          <a:xfrm>
            <a:off x="457200" y="1234440"/>
            <a:ext cx="8229600" cy="502920"/>
          </a:xfrm>
          <a:prstGeom prst="rect">
            <a:avLst/>
          </a:prstGeom>
          <a:noFill/>
          <a:ln/>
        </p:spPr>
        <p:txBody>
          <a:bodyPr wrap="square" rtlCol="0" anchor="ctr"/>
          <a:lstStyle/>
          <a:p>
            <a:pPr marL="0" indent="0">
              <a:buNone/>
            </a:pPr>
            <a:r>
              <a:rPr lang="en-US" sz="1400" i="1" dirty="0">
                <a:solidFill>
                  <a:srgbClr val="C3C0FF"/>
                </a:solidFill>
                <a:latin typeface="Noto san"/>
                <a:ea typeface="Calibri" pitchFamily="34" charset="-122"/>
                <a:cs typeface="Calibri" pitchFamily="34" charset="-120"/>
              </a:rPr>
              <a:t>Lớp đối soát dữ liệu &amp; chuẩn bị hồ sơ thuế chuyên sâu — tự động hóa từ thu thập đến xác minh và xử lý chứng từ.</a:t>
            </a:r>
            <a:endParaRPr lang="en-US" sz="1400" dirty="0">
              <a:latin typeface="Noto san"/>
            </a:endParaRPr>
          </a:p>
        </p:txBody>
      </p:sp>
      <p:sp>
        <p:nvSpPr>
          <p:cNvPr id="6" name="Shape 4"/>
          <p:cNvSpPr/>
          <p:nvPr/>
        </p:nvSpPr>
        <p:spPr>
          <a:xfrm>
            <a:off x="457200" y="1828800"/>
            <a:ext cx="2651760" cy="1234440"/>
          </a:xfrm>
          <a:prstGeom prst="rect">
            <a:avLst/>
          </a:prstGeom>
          <a:solidFill>
            <a:srgbClr val="FFFFFF">
              <a:alpha val="8000"/>
            </a:srgbClr>
          </a:solidFill>
          <a:ln w="12700">
            <a:solidFill>
              <a:srgbClr val="9B72F9">
                <a:alpha val="30000"/>
              </a:srgbClr>
            </a:solidFill>
            <a:prstDash val="solid"/>
          </a:ln>
          <a:effectLst>
            <a:outerShdw blurRad="101600" dist="38100" dir="8100000" algn="bl" rotWithShape="0">
              <a:srgbClr val="000000">
                <a:alpha val="10000"/>
              </a:srgbClr>
            </a:outerShdw>
          </a:effectLst>
        </p:spPr>
      </p:sp>
      <p:sp>
        <p:nvSpPr>
          <p:cNvPr id="7" name="Text 5"/>
          <p:cNvSpPr/>
          <p:nvPr/>
        </p:nvSpPr>
        <p:spPr>
          <a:xfrm>
            <a:off x="594360" y="1920240"/>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Noto san"/>
                <a:ea typeface="Arial" pitchFamily="34" charset="-122"/>
                <a:cs typeface="Arial" pitchFamily="34" charset="-120"/>
              </a:rPr>
              <a:t>📤  Tải lên chứng từ</a:t>
            </a:r>
            <a:endParaRPr lang="en-US" sz="1300" dirty="0">
              <a:latin typeface="Noto san"/>
            </a:endParaRPr>
          </a:p>
        </p:txBody>
      </p:sp>
      <p:sp>
        <p:nvSpPr>
          <p:cNvPr id="8" name="Text 6"/>
          <p:cNvSpPr/>
          <p:nvPr/>
        </p:nvSpPr>
        <p:spPr>
          <a:xfrm>
            <a:off x="594360" y="2304288"/>
            <a:ext cx="2377440" cy="685800"/>
          </a:xfrm>
          <a:prstGeom prst="rect">
            <a:avLst/>
          </a:prstGeom>
          <a:noFill/>
          <a:ln/>
        </p:spPr>
        <p:txBody>
          <a:bodyPr wrap="square" rtlCol="0" anchor="ctr"/>
          <a:lstStyle/>
          <a:p>
            <a:pPr marL="0" indent="0">
              <a:buNone/>
            </a:pPr>
            <a:r>
              <a:rPr lang="en-US" sz="1150" dirty="0">
                <a:solidFill>
                  <a:srgbClr val="C3C0FF"/>
                </a:solidFill>
                <a:latin typeface="Noto san"/>
                <a:ea typeface="Calibri" pitchFamily="34" charset="-122"/>
                <a:cs typeface="Calibri" pitchFamily="34" charset="-120"/>
              </a:rPr>
              <a:t>Đa kênh: email, ERP, tải trực tiếp — bảo mật</a:t>
            </a:r>
            <a:endParaRPr lang="en-US" sz="1150" dirty="0">
              <a:latin typeface="Noto san"/>
            </a:endParaRPr>
          </a:p>
        </p:txBody>
      </p:sp>
      <p:sp>
        <p:nvSpPr>
          <p:cNvPr id="9" name="Shape 7"/>
          <p:cNvSpPr/>
          <p:nvPr/>
        </p:nvSpPr>
        <p:spPr>
          <a:xfrm>
            <a:off x="3337560" y="1828800"/>
            <a:ext cx="2651760" cy="1234440"/>
          </a:xfrm>
          <a:prstGeom prst="rect">
            <a:avLst/>
          </a:prstGeom>
          <a:solidFill>
            <a:srgbClr val="FFFFFF">
              <a:alpha val="8000"/>
            </a:srgbClr>
          </a:solidFill>
          <a:ln w="12700">
            <a:solidFill>
              <a:srgbClr val="9B72F9">
                <a:alpha val="30000"/>
              </a:srgbClr>
            </a:solidFill>
            <a:prstDash val="solid"/>
          </a:ln>
          <a:effectLst>
            <a:outerShdw blurRad="101600" dist="38100" dir="8100000" algn="bl" rotWithShape="0">
              <a:srgbClr val="000000">
                <a:alpha val="10000"/>
              </a:srgbClr>
            </a:outerShdw>
          </a:effectLst>
        </p:spPr>
      </p:sp>
      <p:sp>
        <p:nvSpPr>
          <p:cNvPr id="10" name="Text 8"/>
          <p:cNvSpPr/>
          <p:nvPr/>
        </p:nvSpPr>
        <p:spPr>
          <a:xfrm>
            <a:off x="3474720" y="1920240"/>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Noto san"/>
                <a:ea typeface="Arial" pitchFamily="34" charset="-122"/>
                <a:cs typeface="Arial" pitchFamily="34" charset="-120"/>
              </a:rPr>
              <a:t>🔎  Phân loại OCR</a:t>
            </a:r>
            <a:endParaRPr lang="en-US" sz="1300" dirty="0">
              <a:latin typeface="Noto san"/>
            </a:endParaRPr>
          </a:p>
        </p:txBody>
      </p:sp>
      <p:sp>
        <p:nvSpPr>
          <p:cNvPr id="11" name="Text 9"/>
          <p:cNvSpPr/>
          <p:nvPr/>
        </p:nvSpPr>
        <p:spPr>
          <a:xfrm>
            <a:off x="3474720" y="2304288"/>
            <a:ext cx="2377440" cy="685800"/>
          </a:xfrm>
          <a:prstGeom prst="rect">
            <a:avLst/>
          </a:prstGeom>
          <a:noFill/>
          <a:ln/>
        </p:spPr>
        <p:txBody>
          <a:bodyPr wrap="square" rtlCol="0" anchor="ctr"/>
          <a:lstStyle/>
          <a:p>
            <a:pPr marL="0" indent="0">
              <a:buNone/>
            </a:pPr>
            <a:r>
              <a:rPr lang="en-US" sz="1150" dirty="0">
                <a:solidFill>
                  <a:srgbClr val="C3C0FF"/>
                </a:solidFill>
                <a:latin typeface="Noto san"/>
                <a:ea typeface="Calibri" pitchFamily="34" charset="-122"/>
                <a:cs typeface="Calibri" pitchFamily="34" charset="-120"/>
              </a:rPr>
              <a:t>Bóc tách dữ liệu từ ảnh &amp; PDF bằng ML chuyên tài chính</a:t>
            </a:r>
            <a:endParaRPr lang="en-US" sz="1150" dirty="0">
              <a:latin typeface="Noto san"/>
            </a:endParaRPr>
          </a:p>
        </p:txBody>
      </p:sp>
      <p:sp>
        <p:nvSpPr>
          <p:cNvPr id="12" name="Shape 10"/>
          <p:cNvSpPr/>
          <p:nvPr/>
        </p:nvSpPr>
        <p:spPr>
          <a:xfrm>
            <a:off x="6217920" y="1828800"/>
            <a:ext cx="2651760" cy="1234440"/>
          </a:xfrm>
          <a:prstGeom prst="rect">
            <a:avLst/>
          </a:prstGeom>
          <a:solidFill>
            <a:srgbClr val="FFFFFF">
              <a:alpha val="8000"/>
            </a:srgbClr>
          </a:solidFill>
          <a:ln w="12700">
            <a:solidFill>
              <a:srgbClr val="9B72F9">
                <a:alpha val="30000"/>
              </a:srgbClr>
            </a:solidFill>
            <a:prstDash val="solid"/>
          </a:ln>
          <a:effectLst>
            <a:outerShdw blurRad="101600" dist="38100" dir="8100000" algn="bl" rotWithShape="0">
              <a:srgbClr val="000000">
                <a:alpha val="10000"/>
              </a:srgbClr>
            </a:outerShdw>
          </a:effectLst>
        </p:spPr>
      </p:sp>
      <p:sp>
        <p:nvSpPr>
          <p:cNvPr id="13" name="Text 11"/>
          <p:cNvSpPr/>
          <p:nvPr/>
        </p:nvSpPr>
        <p:spPr>
          <a:xfrm>
            <a:off x="6355080" y="1920240"/>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  Đối soát tự động</a:t>
            </a:r>
            <a:endParaRPr lang="en-US" sz="1300" dirty="0"/>
          </a:p>
        </p:txBody>
      </p:sp>
      <p:sp>
        <p:nvSpPr>
          <p:cNvPr id="14" name="Text 12"/>
          <p:cNvSpPr/>
          <p:nvPr/>
        </p:nvSpPr>
        <p:spPr>
          <a:xfrm>
            <a:off x="6355080" y="2304288"/>
            <a:ext cx="2377440" cy="685800"/>
          </a:xfrm>
          <a:prstGeom prst="rect">
            <a:avLst/>
          </a:prstGeom>
          <a:noFill/>
          <a:ln/>
        </p:spPr>
        <p:txBody>
          <a:bodyPr wrap="square" rtlCol="0" anchor="ctr"/>
          <a:lstStyle/>
          <a:p>
            <a:pPr marL="0" indent="0">
              <a:buNone/>
            </a:pPr>
            <a:r>
              <a:rPr lang="en-US" sz="1150" dirty="0">
                <a:solidFill>
                  <a:srgbClr val="C3C0FF"/>
                </a:solidFill>
                <a:latin typeface="Calibri" pitchFamily="34" charset="0"/>
                <a:ea typeface="Calibri" pitchFamily="34" charset="-122"/>
                <a:cs typeface="Calibri" pitchFamily="34" charset="-120"/>
              </a:rPr>
              <a:t>3-way matching: đơn hàng ↔ biên nhận ↔ hóa đơn</a:t>
            </a:r>
            <a:endParaRPr lang="en-US" sz="1150" dirty="0"/>
          </a:p>
        </p:txBody>
      </p:sp>
      <p:sp>
        <p:nvSpPr>
          <p:cNvPr id="15" name="Shape 13"/>
          <p:cNvSpPr/>
          <p:nvPr/>
        </p:nvSpPr>
        <p:spPr>
          <a:xfrm>
            <a:off x="457200" y="3246120"/>
            <a:ext cx="2651760" cy="1234440"/>
          </a:xfrm>
          <a:prstGeom prst="rect">
            <a:avLst/>
          </a:prstGeom>
          <a:solidFill>
            <a:srgbClr val="FFFFFF">
              <a:alpha val="8000"/>
            </a:srgbClr>
          </a:solidFill>
          <a:ln w="12700">
            <a:solidFill>
              <a:srgbClr val="9B72F9">
                <a:alpha val="30000"/>
              </a:srgbClr>
            </a:solidFill>
            <a:prstDash val="solid"/>
          </a:ln>
          <a:effectLst>
            <a:outerShdw blurRad="101600" dist="38100" dir="8100000" algn="bl" rotWithShape="0">
              <a:srgbClr val="000000">
                <a:alpha val="10000"/>
              </a:srgbClr>
            </a:outerShdw>
          </a:effectLst>
        </p:spPr>
      </p:sp>
      <p:sp>
        <p:nvSpPr>
          <p:cNvPr id="16" name="Text 14"/>
          <p:cNvSpPr/>
          <p:nvPr/>
        </p:nvSpPr>
        <p:spPr>
          <a:xfrm>
            <a:off x="594360" y="3337560"/>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Noto san"/>
                <a:ea typeface="Arial" pitchFamily="34" charset="-122"/>
                <a:cs typeface="Arial" pitchFamily="34" charset="-120"/>
              </a:rPr>
              <a:t>⚠️  Hệ thống cảnh báo</a:t>
            </a:r>
            <a:endParaRPr lang="en-US" sz="1300" dirty="0">
              <a:latin typeface="Noto san"/>
            </a:endParaRPr>
          </a:p>
        </p:txBody>
      </p:sp>
      <p:sp>
        <p:nvSpPr>
          <p:cNvPr id="17" name="Text 15"/>
          <p:cNvSpPr/>
          <p:nvPr/>
        </p:nvSpPr>
        <p:spPr>
          <a:xfrm>
            <a:off x="594360" y="3721608"/>
            <a:ext cx="2377440" cy="685800"/>
          </a:xfrm>
          <a:prstGeom prst="rect">
            <a:avLst/>
          </a:prstGeom>
          <a:noFill/>
          <a:ln/>
        </p:spPr>
        <p:txBody>
          <a:bodyPr wrap="square" rtlCol="0" anchor="ctr"/>
          <a:lstStyle/>
          <a:p>
            <a:pPr marL="0" indent="0">
              <a:buNone/>
            </a:pPr>
            <a:r>
              <a:rPr lang="en-US" sz="1150" dirty="0">
                <a:solidFill>
                  <a:srgbClr val="C3C0FF"/>
                </a:solidFill>
                <a:latin typeface="Noto san"/>
                <a:ea typeface="Calibri" pitchFamily="34" charset="-122"/>
                <a:cs typeface="Calibri" pitchFamily="34" charset="-120"/>
              </a:rPr>
              <a:t>Phát hiện trùng lặp, thiếu sót trước quyết toán thuế</a:t>
            </a:r>
            <a:endParaRPr lang="en-US" sz="1150" dirty="0">
              <a:latin typeface="Noto san"/>
            </a:endParaRPr>
          </a:p>
        </p:txBody>
      </p:sp>
      <p:sp>
        <p:nvSpPr>
          <p:cNvPr id="18" name="Shape 16"/>
          <p:cNvSpPr/>
          <p:nvPr/>
        </p:nvSpPr>
        <p:spPr>
          <a:xfrm>
            <a:off x="3337560" y="3246120"/>
            <a:ext cx="2651760" cy="1234440"/>
          </a:xfrm>
          <a:prstGeom prst="rect">
            <a:avLst/>
          </a:prstGeom>
          <a:solidFill>
            <a:srgbClr val="FFFFFF">
              <a:alpha val="8000"/>
            </a:srgbClr>
          </a:solidFill>
          <a:ln w="12700">
            <a:solidFill>
              <a:srgbClr val="9B72F9">
                <a:alpha val="30000"/>
              </a:srgbClr>
            </a:solidFill>
            <a:prstDash val="solid"/>
          </a:ln>
          <a:effectLst>
            <a:outerShdw blurRad="101600" dist="38100" dir="8100000" algn="bl" rotWithShape="0">
              <a:srgbClr val="000000">
                <a:alpha val="10000"/>
              </a:srgbClr>
            </a:outerShdw>
          </a:effectLst>
        </p:spPr>
      </p:sp>
      <p:sp>
        <p:nvSpPr>
          <p:cNvPr id="19" name="Text 17"/>
          <p:cNvSpPr/>
          <p:nvPr/>
        </p:nvSpPr>
        <p:spPr>
          <a:xfrm>
            <a:off x="3474720" y="3337560"/>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Noto san"/>
                <a:ea typeface="Arial" pitchFamily="34" charset="-122"/>
                <a:cs typeface="Arial" pitchFamily="34" charset="-120"/>
              </a:rPr>
              <a:t>🗂️  Lưu trữ hồ sơ</a:t>
            </a:r>
            <a:endParaRPr lang="en-US" sz="1300" dirty="0">
              <a:latin typeface="Noto san"/>
            </a:endParaRPr>
          </a:p>
        </p:txBody>
      </p:sp>
      <p:sp>
        <p:nvSpPr>
          <p:cNvPr id="20" name="Text 18"/>
          <p:cNvSpPr/>
          <p:nvPr/>
        </p:nvSpPr>
        <p:spPr>
          <a:xfrm>
            <a:off x="3474720" y="3721608"/>
            <a:ext cx="2377440" cy="685800"/>
          </a:xfrm>
          <a:prstGeom prst="rect">
            <a:avLst/>
          </a:prstGeom>
          <a:noFill/>
          <a:ln/>
        </p:spPr>
        <p:txBody>
          <a:bodyPr wrap="square" rtlCol="0" anchor="ctr"/>
          <a:lstStyle/>
          <a:p>
            <a:pPr marL="0" indent="0">
              <a:buNone/>
            </a:pPr>
            <a:r>
              <a:rPr lang="en-US" sz="1150" dirty="0">
                <a:solidFill>
                  <a:srgbClr val="C3C0FF"/>
                </a:solidFill>
                <a:latin typeface="Noto san"/>
                <a:ea typeface="Calibri" pitchFamily="34" charset="-122"/>
                <a:cs typeface="Calibri" pitchFamily="34" charset="-120"/>
              </a:rPr>
              <a:t>Kho trung tâm đúng chuẩn kiểm toán, phân quyền truy cập</a:t>
            </a:r>
            <a:endParaRPr lang="en-US" sz="1150" dirty="0">
              <a:latin typeface="Noto san"/>
            </a:endParaRPr>
          </a:p>
        </p:txBody>
      </p:sp>
      <p:sp>
        <p:nvSpPr>
          <p:cNvPr id="21" name="Shape 19"/>
          <p:cNvSpPr/>
          <p:nvPr/>
        </p:nvSpPr>
        <p:spPr>
          <a:xfrm>
            <a:off x="6217920" y="3246120"/>
            <a:ext cx="2651760" cy="1234440"/>
          </a:xfrm>
          <a:prstGeom prst="rect">
            <a:avLst/>
          </a:prstGeom>
          <a:solidFill>
            <a:srgbClr val="FFFFFF">
              <a:alpha val="8000"/>
            </a:srgbClr>
          </a:solidFill>
          <a:ln w="12700">
            <a:solidFill>
              <a:srgbClr val="9B72F9">
                <a:alpha val="30000"/>
              </a:srgbClr>
            </a:solidFill>
            <a:prstDash val="solid"/>
          </a:ln>
          <a:effectLst>
            <a:outerShdw blurRad="101600" dist="38100" dir="8100000" algn="bl" rotWithShape="0">
              <a:srgbClr val="000000">
                <a:alpha val="10000"/>
              </a:srgbClr>
            </a:outerShdw>
          </a:effectLst>
        </p:spPr>
      </p:sp>
      <p:sp>
        <p:nvSpPr>
          <p:cNvPr id="22" name="Text 20"/>
          <p:cNvSpPr/>
          <p:nvPr/>
        </p:nvSpPr>
        <p:spPr>
          <a:xfrm>
            <a:off x="6355080" y="3337560"/>
            <a:ext cx="237744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  RAG Bot giải thích</a:t>
            </a:r>
            <a:endParaRPr lang="en-US" sz="1300" dirty="0"/>
          </a:p>
        </p:txBody>
      </p:sp>
      <p:sp>
        <p:nvSpPr>
          <p:cNvPr id="23" name="Text 21"/>
          <p:cNvSpPr/>
          <p:nvPr/>
        </p:nvSpPr>
        <p:spPr>
          <a:xfrm>
            <a:off x="6355080" y="3721608"/>
            <a:ext cx="2377440" cy="685800"/>
          </a:xfrm>
          <a:prstGeom prst="rect">
            <a:avLst/>
          </a:prstGeom>
          <a:noFill/>
          <a:ln/>
        </p:spPr>
        <p:txBody>
          <a:bodyPr wrap="square" rtlCol="0" anchor="ctr"/>
          <a:lstStyle/>
          <a:p>
            <a:pPr marL="0" indent="0">
              <a:buNone/>
            </a:pPr>
            <a:r>
              <a:rPr lang="en-US" sz="1150" dirty="0">
                <a:solidFill>
                  <a:srgbClr val="C3C0FF"/>
                </a:solidFill>
                <a:latin typeface="Calibri" pitchFamily="34" charset="0"/>
                <a:ea typeface="Calibri" pitchFamily="34" charset="-122"/>
                <a:cs typeface="Calibri" pitchFamily="34" charset="-120"/>
              </a:rPr>
              <a:t>AI giải thích luật thuế dựa trên dữ liệu &amp; văn bản pháp luật</a:t>
            </a:r>
            <a:endParaRPr lang="en-US" sz="1150" dirty="0"/>
          </a:p>
        </p:txBody>
      </p:sp>
      <p:sp>
        <p:nvSpPr>
          <p:cNvPr id="24" name="Text 22"/>
          <p:cNvSpPr/>
          <p:nvPr/>
        </p:nvSpPr>
        <p:spPr>
          <a:xfrm>
            <a:off x="45720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FE"/>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2812AD"/>
          </a:solidFill>
          <a:ln w="12700">
            <a:solidFill>
              <a:srgbClr val="2812AD"/>
            </a:solidFill>
            <a:prstDash val="solid"/>
          </a:ln>
        </p:spPr>
      </p:sp>
      <p:sp>
        <p:nvSpPr>
          <p:cNvPr id="3" name="Text 1"/>
          <p:cNvSpPr/>
          <p:nvPr/>
        </p:nvSpPr>
        <p:spPr>
          <a:xfrm>
            <a:off x="457200" y="0"/>
            <a:ext cx="8229600" cy="777240"/>
          </a:xfrm>
          <a:prstGeom prst="rect">
            <a:avLst/>
          </a:prstGeom>
          <a:noFill/>
          <a:ln/>
        </p:spPr>
        <p:txBody>
          <a:bodyPr wrap="square" rtlCol="0" anchor="ctr"/>
          <a:lstStyle/>
          <a:p>
            <a:pPr marL="0" indent="0">
              <a:buNone/>
            </a:pPr>
            <a:r>
              <a:rPr lang="en-US" sz="2400" b="1" dirty="0">
                <a:solidFill>
                  <a:srgbClr val="FFFFFF"/>
                </a:solidFill>
                <a:latin typeface="Noto san"/>
                <a:ea typeface="Arial Black" pitchFamily="34" charset="-122"/>
                <a:cs typeface="Arial Black" pitchFamily="34" charset="-120"/>
              </a:rPr>
              <a:t>Trải nghiệm sản phẩm · Luồng vận hành thông minh</a:t>
            </a:r>
            <a:endParaRPr lang="en-US" sz="2400" dirty="0">
              <a:latin typeface="Noto san"/>
            </a:endParaRPr>
          </a:p>
        </p:txBody>
      </p:sp>
      <p:sp>
        <p:nvSpPr>
          <p:cNvPr id="4" name="Shape 2"/>
          <p:cNvSpPr/>
          <p:nvPr/>
        </p:nvSpPr>
        <p:spPr>
          <a:xfrm>
            <a:off x="320040" y="1005840"/>
            <a:ext cx="502920" cy="502920"/>
          </a:xfrm>
          <a:prstGeom prst="ellipse">
            <a:avLst/>
          </a:prstGeom>
          <a:solidFill>
            <a:srgbClr val="2812AD"/>
          </a:solidFill>
          <a:ln w="12700">
            <a:solidFill>
              <a:srgbClr val="2812AD"/>
            </a:solidFill>
            <a:prstDash val="solid"/>
          </a:ln>
        </p:spPr>
      </p:sp>
      <p:sp>
        <p:nvSpPr>
          <p:cNvPr id="5" name="Text 3"/>
          <p:cNvSpPr/>
          <p:nvPr/>
        </p:nvSpPr>
        <p:spPr>
          <a:xfrm>
            <a:off x="320040" y="1005840"/>
            <a:ext cx="502920" cy="502920"/>
          </a:xfrm>
          <a:prstGeom prst="rect">
            <a:avLst/>
          </a:prstGeom>
          <a:noFill/>
          <a:ln/>
        </p:spPr>
        <p:txBody>
          <a:bodyPr wrap="square" rtlCol="0" anchor="ctr"/>
          <a:lstStyle/>
          <a:p>
            <a:pPr marL="0" indent="0" algn="ctr">
              <a:buNone/>
            </a:pPr>
            <a:r>
              <a:rPr lang="en-US" sz="1500" b="1" dirty="0">
                <a:solidFill>
                  <a:srgbClr val="FFFFFF"/>
                </a:solidFill>
                <a:latin typeface="Noto san"/>
              </a:rPr>
              <a:t>1</a:t>
            </a:r>
            <a:endParaRPr lang="en-US" sz="1500" dirty="0">
              <a:latin typeface="Noto san"/>
            </a:endParaRPr>
          </a:p>
        </p:txBody>
      </p:sp>
      <p:sp>
        <p:nvSpPr>
          <p:cNvPr id="6" name="Text 4"/>
          <p:cNvSpPr/>
          <p:nvPr/>
        </p:nvSpPr>
        <p:spPr>
          <a:xfrm>
            <a:off x="960120" y="960120"/>
            <a:ext cx="228600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Bối cảnh</a:t>
            </a:r>
            <a:endParaRPr lang="en-US" sz="1600" dirty="0">
              <a:latin typeface="Noto san"/>
            </a:endParaRPr>
          </a:p>
        </p:txBody>
      </p:sp>
      <p:sp>
        <p:nvSpPr>
          <p:cNvPr id="7" name="Text 5"/>
          <p:cNvSpPr/>
          <p:nvPr/>
        </p:nvSpPr>
        <p:spPr>
          <a:xfrm>
            <a:off x="905529" y="1325880"/>
            <a:ext cx="3566160" cy="502920"/>
          </a:xfrm>
          <a:prstGeom prst="rect">
            <a:avLst/>
          </a:prstGeom>
          <a:noFill/>
          <a:ln/>
        </p:spPr>
        <p:txBody>
          <a:bodyPr wrap="square" rtlCol="0" anchor="ctr"/>
          <a:lstStyle/>
          <a:p>
            <a:pPr marL="0" indent="0">
              <a:buNone/>
            </a:pPr>
            <a:r>
              <a:rPr lang="en-US" sz="1200" dirty="0">
                <a:solidFill>
                  <a:srgbClr val="464554"/>
                </a:solidFill>
                <a:latin typeface="Noto san"/>
                <a:ea typeface="Calibri" pitchFamily="34" charset="-122"/>
                <a:cs typeface="Calibri" pitchFamily="34" charset="-120"/>
              </a:rPr>
              <a:t>Seller tự ghi CSV doanh thu; ảnh CK / hóa đơn nằm rời — không biết dòng nào lệch trước kỳ thuế.</a:t>
            </a:r>
            <a:endParaRPr lang="en-US" sz="1200" dirty="0">
              <a:latin typeface="Noto san"/>
            </a:endParaRPr>
          </a:p>
        </p:txBody>
      </p:sp>
      <p:sp>
        <p:nvSpPr>
          <p:cNvPr id="8" name="Shape 6"/>
          <p:cNvSpPr/>
          <p:nvPr/>
        </p:nvSpPr>
        <p:spPr>
          <a:xfrm>
            <a:off x="320040" y="2011680"/>
            <a:ext cx="502920" cy="502920"/>
          </a:xfrm>
          <a:prstGeom prst="ellipse">
            <a:avLst/>
          </a:prstGeom>
          <a:solidFill>
            <a:srgbClr val="2812AD"/>
          </a:solidFill>
          <a:ln w="12700">
            <a:solidFill>
              <a:srgbClr val="2812AD"/>
            </a:solidFill>
            <a:prstDash val="solid"/>
          </a:ln>
        </p:spPr>
      </p:sp>
      <p:sp>
        <p:nvSpPr>
          <p:cNvPr id="9" name="Text 7"/>
          <p:cNvSpPr/>
          <p:nvPr/>
        </p:nvSpPr>
        <p:spPr>
          <a:xfrm>
            <a:off x="320040" y="2011680"/>
            <a:ext cx="502920" cy="502920"/>
          </a:xfrm>
          <a:prstGeom prst="rect">
            <a:avLst/>
          </a:prstGeom>
          <a:noFill/>
          <a:ln/>
        </p:spPr>
        <p:txBody>
          <a:bodyPr wrap="square" rtlCol="0" anchor="ctr"/>
          <a:lstStyle/>
          <a:p>
            <a:pPr marL="0" indent="0" algn="ctr">
              <a:buNone/>
            </a:pPr>
            <a:r>
              <a:rPr lang="en-US" sz="1500" b="1" dirty="0">
                <a:solidFill>
                  <a:srgbClr val="FFFFFF"/>
                </a:solidFill>
                <a:latin typeface="Noto san"/>
              </a:rPr>
              <a:t>2</a:t>
            </a:r>
            <a:endParaRPr lang="en-US" sz="1500" dirty="0">
              <a:latin typeface="Noto san"/>
            </a:endParaRPr>
          </a:p>
        </p:txBody>
      </p:sp>
      <p:sp>
        <p:nvSpPr>
          <p:cNvPr id="10" name="Text 8"/>
          <p:cNvSpPr/>
          <p:nvPr/>
        </p:nvSpPr>
        <p:spPr>
          <a:xfrm>
            <a:off x="960120" y="1965960"/>
            <a:ext cx="228600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Can thiệp</a:t>
            </a:r>
            <a:endParaRPr lang="en-US" sz="1600" dirty="0">
              <a:latin typeface="Noto san"/>
            </a:endParaRPr>
          </a:p>
        </p:txBody>
      </p:sp>
      <p:sp>
        <p:nvSpPr>
          <p:cNvPr id="11" name="Text 9"/>
          <p:cNvSpPr/>
          <p:nvPr/>
        </p:nvSpPr>
        <p:spPr>
          <a:xfrm>
            <a:off x="905529" y="2354580"/>
            <a:ext cx="3566160" cy="502920"/>
          </a:xfrm>
          <a:prstGeom prst="rect">
            <a:avLst/>
          </a:prstGeom>
          <a:noFill/>
          <a:ln/>
        </p:spPr>
        <p:txBody>
          <a:bodyPr wrap="square" rtlCol="0" anchor="ctr"/>
          <a:lstStyle/>
          <a:p>
            <a:pPr marL="0" indent="0">
              <a:buNone/>
            </a:pPr>
            <a:r>
              <a:rPr lang="en-US" sz="1200" dirty="0">
                <a:solidFill>
                  <a:srgbClr val="464554"/>
                </a:solidFill>
                <a:latin typeface="Noto san"/>
                <a:ea typeface="Calibri" pitchFamily="34" charset="-122"/>
                <a:cs typeface="Calibri" pitchFamily="34" charset="-120"/>
              </a:rPr>
              <a:t>Upload CSV + chứng từ → OCR/VLM trích xuất → đối soát theo rule (≥5% / ≥5M).</a:t>
            </a:r>
            <a:endParaRPr lang="en-US" sz="1200" dirty="0">
              <a:latin typeface="Noto san"/>
            </a:endParaRPr>
          </a:p>
        </p:txBody>
      </p:sp>
      <p:sp>
        <p:nvSpPr>
          <p:cNvPr id="12" name="Shape 10"/>
          <p:cNvSpPr/>
          <p:nvPr/>
        </p:nvSpPr>
        <p:spPr>
          <a:xfrm>
            <a:off x="320040" y="3017520"/>
            <a:ext cx="502920" cy="502920"/>
          </a:xfrm>
          <a:prstGeom prst="ellipse">
            <a:avLst/>
          </a:prstGeom>
          <a:solidFill>
            <a:srgbClr val="2812AD"/>
          </a:solidFill>
          <a:ln w="12700">
            <a:solidFill>
              <a:srgbClr val="2812AD"/>
            </a:solidFill>
            <a:prstDash val="solid"/>
          </a:ln>
        </p:spPr>
      </p:sp>
      <p:sp>
        <p:nvSpPr>
          <p:cNvPr id="13" name="Text 11"/>
          <p:cNvSpPr/>
          <p:nvPr/>
        </p:nvSpPr>
        <p:spPr>
          <a:xfrm>
            <a:off x="320040" y="3017520"/>
            <a:ext cx="502920" cy="502920"/>
          </a:xfrm>
          <a:prstGeom prst="rect">
            <a:avLst/>
          </a:prstGeom>
          <a:noFill/>
          <a:ln/>
        </p:spPr>
        <p:txBody>
          <a:bodyPr wrap="square" rtlCol="0" anchor="ctr"/>
          <a:lstStyle/>
          <a:p>
            <a:pPr marL="0" indent="0" algn="ctr">
              <a:buNone/>
            </a:pPr>
            <a:r>
              <a:rPr lang="en-US" sz="1500" b="1" dirty="0">
                <a:solidFill>
                  <a:srgbClr val="FFFFFF"/>
                </a:solidFill>
                <a:latin typeface="Noto san"/>
              </a:rPr>
              <a:t>3</a:t>
            </a:r>
            <a:endParaRPr lang="en-US" sz="1500" dirty="0">
              <a:latin typeface="Noto san"/>
            </a:endParaRPr>
          </a:p>
        </p:txBody>
      </p:sp>
      <p:sp>
        <p:nvSpPr>
          <p:cNvPr id="14" name="Text 12"/>
          <p:cNvSpPr/>
          <p:nvPr/>
        </p:nvSpPr>
        <p:spPr>
          <a:xfrm>
            <a:off x="960120" y="2971800"/>
            <a:ext cx="228600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Aha moment</a:t>
            </a:r>
            <a:endParaRPr lang="en-US" sz="1600" dirty="0">
              <a:latin typeface="Noto san"/>
            </a:endParaRPr>
          </a:p>
        </p:txBody>
      </p:sp>
      <p:sp>
        <p:nvSpPr>
          <p:cNvPr id="15" name="Text 13"/>
          <p:cNvSpPr/>
          <p:nvPr/>
        </p:nvSpPr>
        <p:spPr>
          <a:xfrm>
            <a:off x="905529" y="3370485"/>
            <a:ext cx="3566160" cy="502920"/>
          </a:xfrm>
          <a:prstGeom prst="rect">
            <a:avLst/>
          </a:prstGeom>
          <a:noFill/>
          <a:ln/>
        </p:spPr>
        <p:txBody>
          <a:bodyPr wrap="square" rtlCol="0" anchor="ctr"/>
          <a:lstStyle/>
          <a:p>
            <a:pPr marL="0" indent="0">
              <a:buNone/>
            </a:pPr>
            <a:r>
              <a:rPr lang="en-US" sz="1200" dirty="0">
                <a:solidFill>
                  <a:srgbClr val="464554"/>
                </a:solidFill>
                <a:latin typeface="Noto san"/>
                <a:ea typeface="Calibri" pitchFamily="34" charset="-122"/>
                <a:cs typeface="Calibri" pitchFamily="34" charset="-120"/>
              </a:rPr>
              <a:t>Dashboard chỉ đúng chỗ lệch, Explain Tax nói rõ công thức &amp; ngưỡng 1 tỷ — không chỉ một con số.</a:t>
            </a:r>
            <a:endParaRPr lang="en-US" sz="1200" dirty="0">
              <a:latin typeface="Noto san"/>
            </a:endParaRPr>
          </a:p>
        </p:txBody>
      </p:sp>
      <p:sp>
        <p:nvSpPr>
          <p:cNvPr id="16" name="Shape 14"/>
          <p:cNvSpPr/>
          <p:nvPr/>
        </p:nvSpPr>
        <p:spPr>
          <a:xfrm>
            <a:off x="320040" y="4023360"/>
            <a:ext cx="502920" cy="502920"/>
          </a:xfrm>
          <a:prstGeom prst="ellipse">
            <a:avLst/>
          </a:prstGeom>
          <a:solidFill>
            <a:srgbClr val="2812AD"/>
          </a:solidFill>
          <a:ln w="12700">
            <a:solidFill>
              <a:srgbClr val="2812AD"/>
            </a:solidFill>
            <a:prstDash val="solid"/>
          </a:ln>
        </p:spPr>
      </p:sp>
      <p:sp>
        <p:nvSpPr>
          <p:cNvPr id="17" name="Text 15"/>
          <p:cNvSpPr/>
          <p:nvPr/>
        </p:nvSpPr>
        <p:spPr>
          <a:xfrm>
            <a:off x="320040" y="4023360"/>
            <a:ext cx="502920" cy="502920"/>
          </a:xfrm>
          <a:prstGeom prst="rect">
            <a:avLst/>
          </a:prstGeom>
          <a:noFill/>
          <a:ln/>
        </p:spPr>
        <p:txBody>
          <a:bodyPr wrap="square" rtlCol="0" anchor="ctr"/>
          <a:lstStyle/>
          <a:p>
            <a:pPr marL="0" indent="0" algn="ctr">
              <a:buNone/>
            </a:pPr>
            <a:r>
              <a:rPr lang="en-US" sz="1500" b="1" dirty="0">
                <a:solidFill>
                  <a:srgbClr val="FFFFFF"/>
                </a:solidFill>
                <a:latin typeface="Noto san"/>
              </a:rPr>
              <a:t>4</a:t>
            </a:r>
            <a:endParaRPr lang="en-US" sz="1500" dirty="0">
              <a:latin typeface="Noto san"/>
            </a:endParaRPr>
          </a:p>
        </p:txBody>
      </p:sp>
      <p:sp>
        <p:nvSpPr>
          <p:cNvPr id="18" name="Text 16"/>
          <p:cNvSpPr/>
          <p:nvPr/>
        </p:nvSpPr>
        <p:spPr>
          <a:xfrm>
            <a:off x="960120" y="3977640"/>
            <a:ext cx="228600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Giá trị</a:t>
            </a:r>
            <a:endParaRPr lang="en-US" sz="1600" dirty="0">
              <a:latin typeface="Noto san"/>
            </a:endParaRPr>
          </a:p>
        </p:txBody>
      </p:sp>
      <p:sp>
        <p:nvSpPr>
          <p:cNvPr id="19" name="Text 17"/>
          <p:cNvSpPr/>
          <p:nvPr/>
        </p:nvSpPr>
        <p:spPr>
          <a:xfrm>
            <a:off x="905529" y="4330605"/>
            <a:ext cx="3566160" cy="502920"/>
          </a:xfrm>
          <a:prstGeom prst="rect">
            <a:avLst/>
          </a:prstGeom>
          <a:noFill/>
          <a:ln/>
        </p:spPr>
        <p:txBody>
          <a:bodyPr wrap="square" rtlCol="0" anchor="ctr"/>
          <a:lstStyle/>
          <a:p>
            <a:pPr marL="0" indent="0">
              <a:buNone/>
            </a:pPr>
            <a:r>
              <a:rPr lang="en-US" sz="1200" dirty="0">
                <a:solidFill>
                  <a:srgbClr val="464554"/>
                </a:solidFill>
                <a:latin typeface="Noto san"/>
                <a:ea typeface="Calibri" pitchFamily="34" charset="-122"/>
                <a:cs typeface="Calibri" pitchFamily="34" charset="-120"/>
              </a:rPr>
              <a:t>Giảm giờ đối soát tay, giảm rủi ro 'vỡ số' khi cơ quan thuế siết. AI là công cụ, outcome là minh bạch.</a:t>
            </a:r>
            <a:endParaRPr lang="en-US" sz="1200" dirty="0">
              <a:latin typeface="Noto san"/>
            </a:endParaRPr>
          </a:p>
        </p:txBody>
      </p:sp>
      <p:sp>
        <p:nvSpPr>
          <p:cNvPr id="20" name="Shape 18"/>
          <p:cNvSpPr/>
          <p:nvPr/>
        </p:nvSpPr>
        <p:spPr>
          <a:xfrm>
            <a:off x="4937760" y="960120"/>
            <a:ext cx="3749040" cy="640080"/>
          </a:xfrm>
          <a:prstGeom prst="rect">
            <a:avLst/>
          </a:prstGeom>
          <a:solidFill>
            <a:srgbClr val="FFFFFF"/>
          </a:solidFill>
          <a:ln w="12700">
            <a:solidFill>
              <a:srgbClr val="4136C3"/>
            </a:solidFill>
            <a:prstDash val="solid"/>
          </a:ln>
          <a:effectLst>
            <a:outerShdw blurRad="101600" dist="38100" dir="8100000" algn="bl" rotWithShape="0">
              <a:srgbClr val="000000">
                <a:alpha val="10000"/>
              </a:srgbClr>
            </a:outerShdw>
          </a:effectLst>
        </p:spPr>
      </p:sp>
      <p:sp>
        <p:nvSpPr>
          <p:cNvPr id="21" name="Text 19"/>
          <p:cNvSpPr/>
          <p:nvPr/>
        </p:nvSpPr>
        <p:spPr>
          <a:xfrm>
            <a:off x="5074920" y="960120"/>
            <a:ext cx="3474720" cy="640080"/>
          </a:xfrm>
          <a:prstGeom prst="rect">
            <a:avLst/>
          </a:prstGeom>
          <a:noFill/>
          <a:ln/>
        </p:spPr>
        <p:txBody>
          <a:bodyPr wrap="square" rtlCol="0" anchor="ctr"/>
          <a:lstStyle/>
          <a:p>
            <a:pPr marL="0" indent="0">
              <a:buNone/>
            </a:pPr>
            <a:r>
              <a:rPr lang="en-US" sz="1500" b="1" dirty="0">
                <a:solidFill>
                  <a:srgbClr val="2812AD"/>
                </a:solidFill>
                <a:latin typeface="Noto san"/>
                <a:ea typeface="Arial" pitchFamily="34" charset="-122"/>
                <a:cs typeface="Arial" pitchFamily="34" charset="-120"/>
              </a:rPr>
              <a:t>☁️  Tải lên</a:t>
            </a:r>
            <a:endParaRPr lang="en-US" sz="1500" dirty="0">
              <a:latin typeface="Noto san"/>
            </a:endParaRPr>
          </a:p>
        </p:txBody>
      </p:sp>
      <p:sp>
        <p:nvSpPr>
          <p:cNvPr id="22" name="Text 20"/>
          <p:cNvSpPr/>
          <p:nvPr/>
        </p:nvSpPr>
        <p:spPr>
          <a:xfrm>
            <a:off x="6583680" y="1600200"/>
            <a:ext cx="548640" cy="365760"/>
          </a:xfrm>
          <a:prstGeom prst="rect">
            <a:avLst/>
          </a:prstGeom>
          <a:noFill/>
          <a:ln/>
        </p:spPr>
        <p:txBody>
          <a:bodyPr wrap="square" rtlCol="0" anchor="ctr"/>
          <a:lstStyle/>
          <a:p>
            <a:pPr marL="0" indent="0" algn="ctr">
              <a:buNone/>
            </a:pPr>
            <a:r>
              <a:rPr lang="en-US" sz="1600" dirty="0">
                <a:solidFill>
                  <a:srgbClr val="9B72F9"/>
                </a:solidFill>
                <a:latin typeface="Noto san"/>
              </a:rPr>
              <a:t>▼</a:t>
            </a:r>
            <a:endParaRPr lang="en-US" sz="1600" dirty="0">
              <a:latin typeface="Noto san"/>
            </a:endParaRPr>
          </a:p>
        </p:txBody>
      </p:sp>
      <p:sp>
        <p:nvSpPr>
          <p:cNvPr id="23" name="Shape 21"/>
          <p:cNvSpPr/>
          <p:nvPr/>
        </p:nvSpPr>
        <p:spPr>
          <a:xfrm>
            <a:off x="4937760" y="1965960"/>
            <a:ext cx="3749040" cy="640080"/>
          </a:xfrm>
          <a:prstGeom prst="rect">
            <a:avLst/>
          </a:prstGeom>
          <a:solidFill>
            <a:srgbClr val="FFFFFF"/>
          </a:solidFill>
          <a:ln w="12700">
            <a:solidFill>
              <a:srgbClr val="4136C3"/>
            </a:solidFill>
            <a:prstDash val="solid"/>
          </a:ln>
          <a:effectLst>
            <a:outerShdw blurRad="101600" dist="38100" dir="8100000" algn="bl" rotWithShape="0">
              <a:srgbClr val="000000">
                <a:alpha val="10000"/>
              </a:srgbClr>
            </a:outerShdw>
          </a:effectLst>
        </p:spPr>
      </p:sp>
      <p:sp>
        <p:nvSpPr>
          <p:cNvPr id="24" name="Text 22"/>
          <p:cNvSpPr/>
          <p:nvPr/>
        </p:nvSpPr>
        <p:spPr>
          <a:xfrm>
            <a:off x="5074920" y="1965960"/>
            <a:ext cx="3474720" cy="640080"/>
          </a:xfrm>
          <a:prstGeom prst="rect">
            <a:avLst/>
          </a:prstGeom>
          <a:noFill/>
          <a:ln/>
        </p:spPr>
        <p:txBody>
          <a:bodyPr wrap="square" rtlCol="0" anchor="ctr"/>
          <a:lstStyle/>
          <a:p>
            <a:pPr marL="0" indent="0">
              <a:buNone/>
            </a:pPr>
            <a:r>
              <a:rPr lang="en-US" sz="1500" b="1" dirty="0">
                <a:solidFill>
                  <a:srgbClr val="2812AD"/>
                </a:solidFill>
                <a:latin typeface="Noto san"/>
                <a:ea typeface="Arial" pitchFamily="34" charset="-122"/>
                <a:cs typeface="Arial" pitchFamily="34" charset="-120"/>
              </a:rPr>
              <a:t>📄  Phân loại (OCR/VLM)</a:t>
            </a:r>
            <a:endParaRPr lang="en-US" sz="1500" dirty="0">
              <a:latin typeface="Noto san"/>
            </a:endParaRPr>
          </a:p>
        </p:txBody>
      </p:sp>
      <p:sp>
        <p:nvSpPr>
          <p:cNvPr id="25" name="Text 23"/>
          <p:cNvSpPr/>
          <p:nvPr/>
        </p:nvSpPr>
        <p:spPr>
          <a:xfrm>
            <a:off x="6583680" y="2606040"/>
            <a:ext cx="548640" cy="365760"/>
          </a:xfrm>
          <a:prstGeom prst="rect">
            <a:avLst/>
          </a:prstGeom>
          <a:noFill/>
          <a:ln/>
        </p:spPr>
        <p:txBody>
          <a:bodyPr wrap="square" rtlCol="0" anchor="ctr"/>
          <a:lstStyle/>
          <a:p>
            <a:pPr marL="0" indent="0" algn="ctr">
              <a:buNone/>
            </a:pPr>
            <a:r>
              <a:rPr lang="en-US" sz="1600" dirty="0">
                <a:solidFill>
                  <a:srgbClr val="9B72F9"/>
                </a:solidFill>
                <a:latin typeface="Noto san"/>
              </a:rPr>
              <a:t>▼</a:t>
            </a:r>
            <a:endParaRPr lang="en-US" sz="1600" dirty="0">
              <a:latin typeface="Noto san"/>
            </a:endParaRPr>
          </a:p>
        </p:txBody>
      </p:sp>
      <p:sp>
        <p:nvSpPr>
          <p:cNvPr id="26" name="Shape 24"/>
          <p:cNvSpPr/>
          <p:nvPr/>
        </p:nvSpPr>
        <p:spPr>
          <a:xfrm>
            <a:off x="4937760" y="2971800"/>
            <a:ext cx="3749040" cy="640080"/>
          </a:xfrm>
          <a:prstGeom prst="rect">
            <a:avLst/>
          </a:prstGeom>
          <a:solidFill>
            <a:srgbClr val="FFFFFF"/>
          </a:solidFill>
          <a:ln w="12700">
            <a:solidFill>
              <a:srgbClr val="4136C3"/>
            </a:solidFill>
            <a:prstDash val="solid"/>
          </a:ln>
          <a:effectLst>
            <a:outerShdw blurRad="101600" dist="38100" dir="8100000" algn="bl" rotWithShape="0">
              <a:srgbClr val="000000">
                <a:alpha val="10000"/>
              </a:srgbClr>
            </a:outerShdw>
          </a:effectLst>
        </p:spPr>
      </p:sp>
      <p:sp>
        <p:nvSpPr>
          <p:cNvPr id="27" name="Text 25"/>
          <p:cNvSpPr/>
          <p:nvPr/>
        </p:nvSpPr>
        <p:spPr>
          <a:xfrm>
            <a:off x="5074920" y="2971800"/>
            <a:ext cx="3474720" cy="640080"/>
          </a:xfrm>
          <a:prstGeom prst="rect">
            <a:avLst/>
          </a:prstGeom>
          <a:noFill/>
          <a:ln/>
        </p:spPr>
        <p:txBody>
          <a:bodyPr wrap="square" rtlCol="0" anchor="ctr"/>
          <a:lstStyle/>
          <a:p>
            <a:pPr marL="0" indent="0">
              <a:buNone/>
            </a:pPr>
            <a:r>
              <a:rPr lang="en-US" sz="1500" b="1" dirty="0">
                <a:solidFill>
                  <a:srgbClr val="2812AD"/>
                </a:solidFill>
                <a:latin typeface="Noto san"/>
                <a:ea typeface="Arial" pitchFamily="34" charset="-122"/>
                <a:cs typeface="Arial" pitchFamily="34" charset="-120"/>
              </a:rPr>
              <a:t>✅  Đối soát</a:t>
            </a:r>
            <a:endParaRPr lang="en-US" sz="1500" dirty="0">
              <a:latin typeface="Noto san"/>
            </a:endParaRPr>
          </a:p>
        </p:txBody>
      </p:sp>
      <p:sp>
        <p:nvSpPr>
          <p:cNvPr id="28" name="Text 26"/>
          <p:cNvSpPr/>
          <p:nvPr/>
        </p:nvSpPr>
        <p:spPr>
          <a:xfrm>
            <a:off x="6583680" y="3611880"/>
            <a:ext cx="548640" cy="365760"/>
          </a:xfrm>
          <a:prstGeom prst="rect">
            <a:avLst/>
          </a:prstGeom>
          <a:noFill/>
          <a:ln/>
        </p:spPr>
        <p:txBody>
          <a:bodyPr wrap="square" rtlCol="0" anchor="ctr"/>
          <a:lstStyle/>
          <a:p>
            <a:pPr marL="0" indent="0" algn="ctr">
              <a:buNone/>
            </a:pPr>
            <a:r>
              <a:rPr lang="en-US" sz="1600" dirty="0">
                <a:solidFill>
                  <a:srgbClr val="9B72F9"/>
                </a:solidFill>
                <a:latin typeface="Noto san"/>
              </a:rPr>
              <a:t>▼</a:t>
            </a:r>
            <a:endParaRPr lang="en-US" sz="1600" dirty="0">
              <a:latin typeface="Noto san"/>
            </a:endParaRPr>
          </a:p>
        </p:txBody>
      </p:sp>
      <p:sp>
        <p:nvSpPr>
          <p:cNvPr id="29" name="Shape 27"/>
          <p:cNvSpPr/>
          <p:nvPr/>
        </p:nvSpPr>
        <p:spPr>
          <a:xfrm>
            <a:off x="4937760" y="3977640"/>
            <a:ext cx="3749040" cy="640080"/>
          </a:xfrm>
          <a:prstGeom prst="rect">
            <a:avLst/>
          </a:prstGeom>
          <a:solidFill>
            <a:srgbClr val="FFFFFF"/>
          </a:solidFill>
          <a:ln w="12700">
            <a:solidFill>
              <a:srgbClr val="4136C3"/>
            </a:solidFill>
            <a:prstDash val="solid"/>
          </a:ln>
          <a:effectLst>
            <a:outerShdw blurRad="101600" dist="38100" dir="8100000" algn="bl" rotWithShape="0">
              <a:srgbClr val="000000">
                <a:alpha val="10000"/>
              </a:srgbClr>
            </a:outerShdw>
          </a:effectLst>
        </p:spPr>
      </p:sp>
      <p:sp>
        <p:nvSpPr>
          <p:cNvPr id="30" name="Text 28"/>
          <p:cNvSpPr/>
          <p:nvPr/>
        </p:nvSpPr>
        <p:spPr>
          <a:xfrm>
            <a:off x="5074920" y="3977640"/>
            <a:ext cx="3474720" cy="640080"/>
          </a:xfrm>
          <a:prstGeom prst="rect">
            <a:avLst/>
          </a:prstGeom>
          <a:noFill/>
          <a:ln/>
        </p:spPr>
        <p:txBody>
          <a:bodyPr wrap="square" rtlCol="0" anchor="ctr"/>
          <a:lstStyle/>
          <a:p>
            <a:pPr marL="0" indent="0">
              <a:buNone/>
            </a:pPr>
            <a:r>
              <a:rPr lang="en-US" sz="1500" b="1" dirty="0">
                <a:solidFill>
                  <a:srgbClr val="2812AD"/>
                </a:solidFill>
                <a:latin typeface="Noto san"/>
                <a:ea typeface="Arial" pitchFamily="34" charset="-122"/>
                <a:cs typeface="Arial" pitchFamily="34" charset="-120"/>
              </a:rPr>
              <a:t>🗃️  Lưu trữ bảo mật</a:t>
            </a:r>
            <a:endParaRPr lang="en-US" sz="1500" dirty="0">
              <a:latin typeface="Noto san"/>
            </a:endParaRPr>
          </a:p>
        </p:txBody>
      </p:sp>
      <p:sp>
        <p:nvSpPr>
          <p:cNvPr id="31" name="Text 29"/>
          <p:cNvSpPr/>
          <p:nvPr/>
        </p:nvSpPr>
        <p:spPr>
          <a:xfrm>
            <a:off x="45720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812AD"/>
          </a:solidFill>
          <a:ln w="12700">
            <a:solidFill>
              <a:srgbClr val="2812AD"/>
            </a:solidFill>
            <a:prstDash val="solid"/>
          </a:ln>
        </p:spPr>
      </p:sp>
      <p:sp>
        <p:nvSpPr>
          <p:cNvPr id="3" name="Text 1"/>
          <p:cNvSpPr/>
          <p:nvPr/>
        </p:nvSpPr>
        <p:spPr>
          <a:xfrm>
            <a:off x="365760" y="228600"/>
            <a:ext cx="8412480" cy="594360"/>
          </a:xfrm>
          <a:prstGeom prst="rect">
            <a:avLst/>
          </a:prstGeom>
          <a:noFill/>
          <a:ln/>
        </p:spPr>
        <p:txBody>
          <a:bodyPr wrap="square" rtlCol="0" anchor="ctr"/>
          <a:lstStyle/>
          <a:p>
            <a:pPr marL="0" indent="0">
              <a:buNone/>
            </a:pPr>
            <a:r>
              <a:rPr lang="en-US" sz="3000" b="1" dirty="0">
                <a:solidFill>
                  <a:srgbClr val="1B1B23"/>
                </a:solidFill>
                <a:latin typeface="Noto san"/>
                <a:ea typeface="Arial Black" pitchFamily="34" charset="-122"/>
                <a:cs typeface="Arial Black" pitchFamily="34" charset="-120"/>
              </a:rPr>
              <a:t>Kiến trúc kỹ thuật vững chắc</a:t>
            </a:r>
            <a:endParaRPr lang="en-US" sz="3000" dirty="0">
              <a:latin typeface="Noto san"/>
            </a:endParaRPr>
          </a:p>
        </p:txBody>
      </p:sp>
      <p:sp>
        <p:nvSpPr>
          <p:cNvPr id="4" name="Text 2"/>
          <p:cNvSpPr/>
          <p:nvPr/>
        </p:nvSpPr>
        <p:spPr>
          <a:xfrm>
            <a:off x="365760" y="822960"/>
            <a:ext cx="8412480" cy="457200"/>
          </a:xfrm>
          <a:prstGeom prst="rect">
            <a:avLst/>
          </a:prstGeom>
          <a:noFill/>
          <a:ln/>
        </p:spPr>
        <p:txBody>
          <a:bodyPr wrap="square" rtlCol="0" anchor="ctr"/>
          <a:lstStyle/>
          <a:p>
            <a:pPr marL="0" indent="0">
              <a:buNone/>
            </a:pPr>
            <a:r>
              <a:rPr lang="en-US" sz="1300" i="1" dirty="0">
                <a:solidFill>
                  <a:srgbClr val="777586"/>
                </a:solidFill>
                <a:latin typeface="Noto san"/>
                <a:ea typeface="Calibri" pitchFamily="34" charset="-122"/>
                <a:cs typeface="Calibri" pitchFamily="34" charset="-120"/>
              </a:rPr>
              <a:t>Scaify không phải một slide demo — mà là một luồng có thể truy vết, có log, có cảnh báo và giải thích từng chỗ lệch theo rule minh bạch.</a:t>
            </a:r>
            <a:endParaRPr lang="en-US" sz="1300" dirty="0">
              <a:latin typeface="Noto san"/>
            </a:endParaRPr>
          </a:p>
        </p:txBody>
      </p:sp>
      <p:sp>
        <p:nvSpPr>
          <p:cNvPr id="5" name="Shape 3"/>
          <p:cNvSpPr/>
          <p:nvPr/>
        </p:nvSpPr>
        <p:spPr>
          <a:xfrm>
            <a:off x="365760" y="1417320"/>
            <a:ext cx="4160520" cy="1508760"/>
          </a:xfrm>
          <a:prstGeom prst="rect">
            <a:avLst/>
          </a:prstGeom>
          <a:solidFill>
            <a:srgbClr val="F6F2FE"/>
          </a:solidFill>
          <a:ln w="12700">
            <a:solidFill>
              <a:srgbClr val="E4E1ED"/>
            </a:solidFill>
            <a:prstDash val="solid"/>
          </a:ln>
          <a:effectLst>
            <a:outerShdw blurRad="101600" dist="38100" dir="8100000" algn="bl" rotWithShape="0">
              <a:srgbClr val="000000">
                <a:alpha val="10000"/>
              </a:srgbClr>
            </a:outerShdw>
          </a:effectLst>
        </p:spPr>
      </p:sp>
      <p:sp>
        <p:nvSpPr>
          <p:cNvPr id="6" name="Shape 4"/>
          <p:cNvSpPr/>
          <p:nvPr/>
        </p:nvSpPr>
        <p:spPr>
          <a:xfrm>
            <a:off x="365760" y="1417320"/>
            <a:ext cx="109728" cy="1508760"/>
          </a:xfrm>
          <a:prstGeom prst="rect">
            <a:avLst/>
          </a:prstGeom>
          <a:solidFill>
            <a:srgbClr val="2812AD"/>
          </a:solidFill>
          <a:ln w="12700">
            <a:solidFill>
              <a:srgbClr val="2812AD"/>
            </a:solidFill>
            <a:prstDash val="solid"/>
          </a:ln>
        </p:spPr>
      </p:sp>
      <p:sp>
        <p:nvSpPr>
          <p:cNvPr id="7" name="Text 5"/>
          <p:cNvSpPr/>
          <p:nvPr/>
        </p:nvSpPr>
        <p:spPr>
          <a:xfrm>
            <a:off x="594360" y="1554480"/>
            <a:ext cx="374904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  Traceability</a:t>
            </a:r>
            <a:endParaRPr lang="en-US" sz="1600" dirty="0">
              <a:latin typeface="Noto san"/>
            </a:endParaRPr>
          </a:p>
        </p:txBody>
      </p:sp>
      <p:sp>
        <p:nvSpPr>
          <p:cNvPr id="8" name="Text 6"/>
          <p:cNvSpPr/>
          <p:nvPr/>
        </p:nvSpPr>
        <p:spPr>
          <a:xfrm>
            <a:off x="594360" y="1965960"/>
            <a:ext cx="3749040" cy="868680"/>
          </a:xfrm>
          <a:prstGeom prst="rect">
            <a:avLst/>
          </a:prstGeom>
          <a:noFill/>
          <a:ln/>
        </p:spPr>
        <p:txBody>
          <a:bodyPr wrap="square" rtlCol="0" anchor="ctr"/>
          <a:lstStyle/>
          <a:p>
            <a:pPr marL="0" indent="0">
              <a:buNone/>
            </a:pPr>
            <a:r>
              <a:rPr lang="en-US" sz="1250" dirty="0">
                <a:solidFill>
                  <a:srgbClr val="464554"/>
                </a:solidFill>
                <a:latin typeface="Noto san"/>
                <a:ea typeface="Calibri" pitchFamily="34" charset="-122"/>
                <a:cs typeface="Calibri" pitchFamily="34" charset="-120"/>
              </a:rPr>
              <a:t>Mỗi kết quả truy về file gốc, dòng dữ liệu và rule đã kích hoạt — nền tảng niềm tin.</a:t>
            </a:r>
            <a:endParaRPr lang="en-US" sz="1250" dirty="0">
              <a:latin typeface="Noto san"/>
            </a:endParaRPr>
          </a:p>
        </p:txBody>
      </p:sp>
      <p:sp>
        <p:nvSpPr>
          <p:cNvPr id="9" name="Shape 7"/>
          <p:cNvSpPr/>
          <p:nvPr/>
        </p:nvSpPr>
        <p:spPr>
          <a:xfrm>
            <a:off x="4800600" y="1417320"/>
            <a:ext cx="4160520" cy="1508760"/>
          </a:xfrm>
          <a:prstGeom prst="rect">
            <a:avLst/>
          </a:prstGeom>
          <a:solidFill>
            <a:srgbClr val="F6F2FE"/>
          </a:solidFill>
          <a:ln w="12700">
            <a:solidFill>
              <a:srgbClr val="E4E1ED"/>
            </a:solidFill>
            <a:prstDash val="solid"/>
          </a:ln>
          <a:effectLst>
            <a:outerShdw blurRad="101600" dist="38100" dir="8100000" algn="bl" rotWithShape="0">
              <a:srgbClr val="000000">
                <a:alpha val="10000"/>
              </a:srgbClr>
            </a:outerShdw>
          </a:effectLst>
        </p:spPr>
      </p:sp>
      <p:sp>
        <p:nvSpPr>
          <p:cNvPr id="10" name="Shape 8"/>
          <p:cNvSpPr/>
          <p:nvPr/>
        </p:nvSpPr>
        <p:spPr>
          <a:xfrm>
            <a:off x="4800600" y="1417320"/>
            <a:ext cx="109728" cy="1508760"/>
          </a:xfrm>
          <a:prstGeom prst="rect">
            <a:avLst/>
          </a:prstGeom>
          <a:solidFill>
            <a:srgbClr val="2812AD"/>
          </a:solidFill>
          <a:ln w="12700">
            <a:solidFill>
              <a:srgbClr val="2812AD"/>
            </a:solidFill>
            <a:prstDash val="solid"/>
          </a:ln>
        </p:spPr>
      </p:sp>
      <p:sp>
        <p:nvSpPr>
          <p:cNvPr id="11" name="Text 9"/>
          <p:cNvSpPr/>
          <p:nvPr/>
        </p:nvSpPr>
        <p:spPr>
          <a:xfrm>
            <a:off x="5029200" y="1554480"/>
            <a:ext cx="374904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  Pipeline đối soát</a:t>
            </a:r>
            <a:endParaRPr lang="en-US" sz="1600" dirty="0">
              <a:latin typeface="Noto san"/>
            </a:endParaRPr>
          </a:p>
        </p:txBody>
      </p:sp>
      <p:sp>
        <p:nvSpPr>
          <p:cNvPr id="12" name="Text 10"/>
          <p:cNvSpPr/>
          <p:nvPr/>
        </p:nvSpPr>
        <p:spPr>
          <a:xfrm>
            <a:off x="5029200" y="1965960"/>
            <a:ext cx="3749040" cy="868680"/>
          </a:xfrm>
          <a:prstGeom prst="rect">
            <a:avLst/>
          </a:prstGeom>
          <a:noFill/>
          <a:ln/>
        </p:spPr>
        <p:txBody>
          <a:bodyPr wrap="square" rtlCol="0" anchor="ctr"/>
          <a:lstStyle/>
          <a:p>
            <a:pPr marL="0" indent="0">
              <a:buNone/>
            </a:pPr>
            <a:r>
              <a:rPr lang="en-US" sz="1250" dirty="0">
                <a:solidFill>
                  <a:srgbClr val="464554"/>
                </a:solidFill>
                <a:latin typeface="Noto san"/>
                <a:ea typeface="Calibri" pitchFamily="34" charset="-122"/>
                <a:cs typeface="Calibri" pitchFamily="34" charset="-120"/>
              </a:rPr>
              <a:t>Nhập CSV, đọc chứng từ, đối soát, cảnh báo, lưu hồ sơ — quy trình lặp lại, không phụ thuộc tay.</a:t>
            </a:r>
            <a:endParaRPr lang="en-US" sz="1250" dirty="0">
              <a:latin typeface="Noto san"/>
            </a:endParaRPr>
          </a:p>
        </p:txBody>
      </p:sp>
      <p:sp>
        <p:nvSpPr>
          <p:cNvPr id="13" name="Shape 11"/>
          <p:cNvSpPr/>
          <p:nvPr/>
        </p:nvSpPr>
        <p:spPr>
          <a:xfrm>
            <a:off x="365760" y="3108960"/>
            <a:ext cx="4160520" cy="1508760"/>
          </a:xfrm>
          <a:prstGeom prst="rect">
            <a:avLst/>
          </a:prstGeom>
          <a:solidFill>
            <a:srgbClr val="F6F2FE"/>
          </a:solidFill>
          <a:ln w="12700">
            <a:solidFill>
              <a:srgbClr val="E4E1ED"/>
            </a:solidFill>
            <a:prstDash val="solid"/>
          </a:ln>
          <a:effectLst>
            <a:outerShdw blurRad="101600" dist="38100" dir="8100000" algn="bl" rotWithShape="0">
              <a:srgbClr val="000000">
                <a:alpha val="10000"/>
              </a:srgbClr>
            </a:outerShdw>
          </a:effectLst>
        </p:spPr>
      </p:sp>
      <p:sp>
        <p:nvSpPr>
          <p:cNvPr id="14" name="Shape 12"/>
          <p:cNvSpPr/>
          <p:nvPr/>
        </p:nvSpPr>
        <p:spPr>
          <a:xfrm>
            <a:off x="365760" y="3108960"/>
            <a:ext cx="109728" cy="1508760"/>
          </a:xfrm>
          <a:prstGeom prst="rect">
            <a:avLst/>
          </a:prstGeom>
          <a:solidFill>
            <a:srgbClr val="2812AD"/>
          </a:solidFill>
          <a:ln w="12700">
            <a:solidFill>
              <a:srgbClr val="2812AD"/>
            </a:solidFill>
            <a:prstDash val="solid"/>
          </a:ln>
        </p:spPr>
      </p:sp>
      <p:sp>
        <p:nvSpPr>
          <p:cNvPr id="15" name="Text 13"/>
          <p:cNvSpPr/>
          <p:nvPr/>
        </p:nvSpPr>
        <p:spPr>
          <a:xfrm>
            <a:off x="594360" y="3246120"/>
            <a:ext cx="374904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  Explain Tax</a:t>
            </a:r>
            <a:endParaRPr lang="en-US" sz="1600" dirty="0">
              <a:latin typeface="Noto san"/>
            </a:endParaRPr>
          </a:p>
        </p:txBody>
      </p:sp>
      <p:sp>
        <p:nvSpPr>
          <p:cNvPr id="16" name="Text 14"/>
          <p:cNvSpPr/>
          <p:nvPr/>
        </p:nvSpPr>
        <p:spPr>
          <a:xfrm>
            <a:off x="594360" y="3657600"/>
            <a:ext cx="3749040" cy="868680"/>
          </a:xfrm>
          <a:prstGeom prst="rect">
            <a:avLst/>
          </a:prstGeom>
          <a:noFill/>
          <a:ln/>
        </p:spPr>
        <p:txBody>
          <a:bodyPr wrap="square" rtlCol="0" anchor="ctr"/>
          <a:lstStyle/>
          <a:p>
            <a:pPr marL="0" indent="0">
              <a:buNone/>
            </a:pPr>
            <a:r>
              <a:rPr lang="en-US" sz="1250" dirty="0">
                <a:solidFill>
                  <a:srgbClr val="464554"/>
                </a:solidFill>
                <a:latin typeface="Noto san"/>
                <a:ea typeface="Calibri" pitchFamily="34" charset="-122"/>
                <a:cs typeface="Calibri" pitchFamily="34" charset="-120"/>
              </a:rPr>
              <a:t>Khi có lệch, hệ thống trả lời 'vì sao' bằng rule và căn cứ pháp lý — không chỉ báo đỏ.</a:t>
            </a:r>
            <a:endParaRPr lang="en-US" sz="1250" dirty="0">
              <a:latin typeface="Noto san"/>
            </a:endParaRPr>
          </a:p>
        </p:txBody>
      </p:sp>
      <p:sp>
        <p:nvSpPr>
          <p:cNvPr id="17" name="Shape 15"/>
          <p:cNvSpPr/>
          <p:nvPr/>
        </p:nvSpPr>
        <p:spPr>
          <a:xfrm>
            <a:off x="4800600" y="3108960"/>
            <a:ext cx="4160520" cy="1508760"/>
          </a:xfrm>
          <a:prstGeom prst="rect">
            <a:avLst/>
          </a:prstGeom>
          <a:solidFill>
            <a:srgbClr val="F6F2FE"/>
          </a:solidFill>
          <a:ln w="12700">
            <a:solidFill>
              <a:srgbClr val="E4E1ED"/>
            </a:solidFill>
            <a:prstDash val="solid"/>
          </a:ln>
          <a:effectLst>
            <a:outerShdw blurRad="101600" dist="38100" dir="8100000" algn="bl" rotWithShape="0">
              <a:srgbClr val="000000">
                <a:alpha val="10000"/>
              </a:srgbClr>
            </a:outerShdw>
          </a:effectLst>
        </p:spPr>
      </p:sp>
      <p:sp>
        <p:nvSpPr>
          <p:cNvPr id="18" name="Shape 16"/>
          <p:cNvSpPr/>
          <p:nvPr/>
        </p:nvSpPr>
        <p:spPr>
          <a:xfrm>
            <a:off x="4800600" y="3108960"/>
            <a:ext cx="109728" cy="1508760"/>
          </a:xfrm>
          <a:prstGeom prst="rect">
            <a:avLst/>
          </a:prstGeom>
          <a:solidFill>
            <a:srgbClr val="2812AD"/>
          </a:solidFill>
          <a:ln w="12700">
            <a:solidFill>
              <a:srgbClr val="2812AD"/>
            </a:solidFill>
            <a:prstDash val="solid"/>
          </a:ln>
        </p:spPr>
      </p:sp>
      <p:sp>
        <p:nvSpPr>
          <p:cNvPr id="19" name="Text 17"/>
          <p:cNvSpPr/>
          <p:nvPr/>
        </p:nvSpPr>
        <p:spPr>
          <a:xfrm>
            <a:off x="5029200" y="3246120"/>
            <a:ext cx="374904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  Audit Log</a:t>
            </a:r>
            <a:endParaRPr lang="en-US" sz="1600" dirty="0">
              <a:latin typeface="Noto san"/>
            </a:endParaRPr>
          </a:p>
        </p:txBody>
      </p:sp>
      <p:sp>
        <p:nvSpPr>
          <p:cNvPr id="20" name="Text 18"/>
          <p:cNvSpPr/>
          <p:nvPr/>
        </p:nvSpPr>
        <p:spPr>
          <a:xfrm>
            <a:off x="5029200" y="3657600"/>
            <a:ext cx="3749040" cy="868680"/>
          </a:xfrm>
          <a:prstGeom prst="rect">
            <a:avLst/>
          </a:prstGeom>
          <a:noFill/>
          <a:ln/>
        </p:spPr>
        <p:txBody>
          <a:bodyPr wrap="square" rtlCol="0" anchor="ctr"/>
          <a:lstStyle/>
          <a:p>
            <a:pPr marL="0" indent="0">
              <a:buNone/>
            </a:pPr>
            <a:r>
              <a:rPr lang="en-US" sz="1250" dirty="0">
                <a:solidFill>
                  <a:srgbClr val="464554"/>
                </a:solidFill>
                <a:latin typeface="Noto san"/>
                <a:ea typeface="Calibri" pitchFamily="34" charset="-122"/>
                <a:cs typeface="Calibri" pitchFamily="34" charset="-120"/>
              </a:rPr>
              <a:t>Mỗi kỳ lưu lại hồ sơ, trạng thái, phản hồi để quay lại kiểm tra bất kỳ lúc nào.</a:t>
            </a:r>
            <a:endParaRPr lang="en-US" sz="1250" dirty="0">
              <a:latin typeface="Noto san"/>
            </a:endParaRPr>
          </a:p>
        </p:txBody>
      </p:sp>
      <p:sp>
        <p:nvSpPr>
          <p:cNvPr id="21" name="Text 19"/>
          <p:cNvSpPr/>
          <p:nvPr/>
        </p:nvSpPr>
        <p:spPr>
          <a:xfrm>
            <a:off x="365760" y="4846320"/>
            <a:ext cx="8229600" cy="228600"/>
          </a:xfrm>
          <a:prstGeom prst="rect">
            <a:avLst/>
          </a:prstGeom>
          <a:noFill/>
          <a:ln/>
        </p:spPr>
        <p:txBody>
          <a:bodyPr wrap="square" rtlCol="0" anchor="ctr"/>
          <a:lstStyle/>
          <a:p>
            <a:pPr marL="0" indent="0">
              <a:buNone/>
            </a:pPr>
            <a:r>
              <a:rPr lang="en-US" sz="1000" dirty="0">
                <a:solidFill>
                  <a:srgbClr val="777586"/>
                </a:solidFill>
                <a:latin typeface="Calibri" pitchFamily="34" charset="0"/>
                <a:ea typeface="Calibri" pitchFamily="34" charset="-122"/>
                <a:cs typeface="Calibri" pitchFamily="34" charset="-120"/>
              </a:rPr>
              <a:t>Scaify AI  ·  Pitch Deck</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23"/>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4136C3">
              <a:alpha val="12000"/>
            </a:srgbClr>
          </a:solidFill>
          <a:ln w="12700">
            <a:solidFill>
              <a:srgbClr val="4136C3">
                <a:alpha val="12000"/>
              </a:srgbClr>
            </a:solidFill>
            <a:prstDash val="solid"/>
          </a:ln>
        </p:spPr>
      </p:sp>
      <p:sp>
        <p:nvSpPr>
          <p:cNvPr id="3" name="Shape 1"/>
          <p:cNvSpPr/>
          <p:nvPr/>
        </p:nvSpPr>
        <p:spPr>
          <a:xfrm>
            <a:off x="6858000" y="3200400"/>
            <a:ext cx="3657600" cy="3657600"/>
          </a:xfrm>
          <a:prstGeom prst="ellipse">
            <a:avLst/>
          </a:prstGeom>
          <a:solidFill>
            <a:srgbClr val="734AA4">
              <a:alpha val="15000"/>
            </a:srgbClr>
          </a:solidFill>
          <a:ln w="12700">
            <a:solidFill>
              <a:srgbClr val="734AA4">
                <a:alpha val="15000"/>
              </a:srgbClr>
            </a:solidFill>
            <a:prstDash val="solid"/>
          </a:ln>
        </p:spPr>
      </p:sp>
      <p:sp>
        <p:nvSpPr>
          <p:cNvPr id="4" name="Text 2"/>
          <p:cNvSpPr/>
          <p:nvPr/>
        </p:nvSpPr>
        <p:spPr>
          <a:xfrm>
            <a:off x="457200" y="274320"/>
            <a:ext cx="8229600" cy="640080"/>
          </a:xfrm>
          <a:prstGeom prst="rect">
            <a:avLst/>
          </a:prstGeom>
          <a:noFill/>
          <a:ln/>
        </p:spPr>
        <p:txBody>
          <a:bodyPr wrap="square" rtlCol="0" anchor="ctr"/>
          <a:lstStyle/>
          <a:p>
            <a:pPr marL="0" indent="0">
              <a:buNone/>
            </a:pPr>
            <a:r>
              <a:rPr lang="en-US" sz="3400" b="1" dirty="0">
                <a:solidFill>
                  <a:srgbClr val="FFFFFF"/>
                </a:solidFill>
                <a:latin typeface="Noto san"/>
                <a:ea typeface="Arial Black" pitchFamily="34" charset="-122"/>
                <a:cs typeface="Arial Black" pitchFamily="34" charset="-120"/>
              </a:rPr>
              <a:t>Thời điểm vàng của thị trường</a:t>
            </a:r>
            <a:endParaRPr lang="en-US" sz="3400" dirty="0">
              <a:latin typeface="Noto san"/>
            </a:endParaRPr>
          </a:p>
        </p:txBody>
      </p:sp>
      <p:sp>
        <p:nvSpPr>
          <p:cNvPr id="5" name="Text 3"/>
          <p:cNvSpPr/>
          <p:nvPr/>
        </p:nvSpPr>
        <p:spPr>
          <a:xfrm>
            <a:off x="457200" y="914400"/>
            <a:ext cx="8229600" cy="365760"/>
          </a:xfrm>
          <a:prstGeom prst="rect">
            <a:avLst/>
          </a:prstGeom>
          <a:noFill/>
          <a:ln/>
        </p:spPr>
        <p:txBody>
          <a:bodyPr wrap="square" rtlCol="0" anchor="ctr"/>
          <a:lstStyle/>
          <a:p>
            <a:pPr marL="0" indent="0">
              <a:buNone/>
            </a:pPr>
            <a:r>
              <a:rPr lang="en-US" sz="1400" i="1" dirty="0">
                <a:solidFill>
                  <a:srgbClr val="C3C0FF"/>
                </a:solidFill>
                <a:latin typeface="Noto san"/>
                <a:ea typeface="Calibri" pitchFamily="34" charset="-122"/>
                <a:cs typeface="Calibri" pitchFamily="34" charset="-120"/>
              </a:rPr>
              <a:t>3 lực đẩy chính định hình kỷ nguyên mới của doanh nghiệp.</a:t>
            </a:r>
            <a:endParaRPr lang="en-US" sz="1400" dirty="0">
              <a:latin typeface="Noto san"/>
            </a:endParaRPr>
          </a:p>
        </p:txBody>
      </p:sp>
      <p:sp>
        <p:nvSpPr>
          <p:cNvPr id="6" name="Shape 4"/>
          <p:cNvSpPr/>
          <p:nvPr/>
        </p:nvSpPr>
        <p:spPr>
          <a:xfrm>
            <a:off x="457200" y="1417320"/>
            <a:ext cx="2651760" cy="3200400"/>
          </a:xfrm>
          <a:prstGeom prst="rect">
            <a:avLst/>
          </a:prstGeom>
          <a:solidFill>
            <a:srgbClr val="FFFFFF">
              <a:alpha val="7000"/>
            </a:srgbClr>
          </a:solidFill>
          <a:ln w="12700">
            <a:solidFill>
              <a:srgbClr val="9B72F9">
                <a:alpha val="35000"/>
              </a:srgbClr>
            </a:solidFill>
            <a:prstDash val="solid"/>
          </a:ln>
          <a:effectLst>
            <a:outerShdw blurRad="101600" dist="38100" dir="8100000" algn="bl" rotWithShape="0">
              <a:srgbClr val="000000">
                <a:alpha val="10000"/>
              </a:srgbClr>
            </a:outerShdw>
          </a:effectLst>
        </p:spPr>
      </p:sp>
      <p:sp>
        <p:nvSpPr>
          <p:cNvPr id="7" name="Text 5"/>
          <p:cNvSpPr/>
          <p:nvPr/>
        </p:nvSpPr>
        <p:spPr>
          <a:xfrm>
            <a:off x="457200" y="1600200"/>
            <a:ext cx="2651760" cy="640080"/>
          </a:xfrm>
          <a:prstGeom prst="rect">
            <a:avLst/>
          </a:prstGeom>
          <a:noFill/>
          <a:ln/>
        </p:spPr>
        <p:txBody>
          <a:bodyPr wrap="square" rtlCol="0" anchor="ctr"/>
          <a:lstStyle/>
          <a:p>
            <a:pPr marL="0" indent="0" algn="ctr">
              <a:buNone/>
            </a:pPr>
            <a:r>
              <a:rPr lang="en-US" sz="3600" dirty="0">
                <a:solidFill>
                  <a:srgbClr val="000000"/>
                </a:solidFill>
                <a:latin typeface="Noto san"/>
              </a:rPr>
              <a:t>⚖️</a:t>
            </a:r>
            <a:endParaRPr lang="en-US" sz="3600" dirty="0">
              <a:latin typeface="Noto san"/>
            </a:endParaRPr>
          </a:p>
        </p:txBody>
      </p:sp>
      <p:sp>
        <p:nvSpPr>
          <p:cNvPr id="8" name="Text 6"/>
          <p:cNvSpPr/>
          <p:nvPr/>
        </p:nvSpPr>
        <p:spPr>
          <a:xfrm>
            <a:off x="594360" y="2286000"/>
            <a:ext cx="2377440" cy="502920"/>
          </a:xfrm>
          <a:prstGeom prst="rect">
            <a:avLst/>
          </a:prstGeom>
          <a:noFill/>
          <a:ln/>
        </p:spPr>
        <p:txBody>
          <a:bodyPr wrap="square" rtlCol="0" anchor="ctr"/>
          <a:lstStyle/>
          <a:p>
            <a:pPr marL="0" indent="0" algn="ctr">
              <a:buNone/>
            </a:pPr>
            <a:r>
              <a:rPr lang="en-US" sz="1600" b="1" dirty="0">
                <a:solidFill>
                  <a:srgbClr val="FFFFFF"/>
                </a:solidFill>
                <a:latin typeface="Noto san"/>
                <a:ea typeface="Arial" pitchFamily="34" charset="-122"/>
                <a:cs typeface="Arial" pitchFamily="34" charset="-120"/>
              </a:rPr>
              <a:t>Áp lực tuân thủ</a:t>
            </a:r>
            <a:endParaRPr lang="en-US" sz="1600" dirty="0">
              <a:latin typeface="Noto san"/>
            </a:endParaRPr>
          </a:p>
        </p:txBody>
      </p:sp>
      <p:sp>
        <p:nvSpPr>
          <p:cNvPr id="9" name="Text 7"/>
          <p:cNvSpPr/>
          <p:nvPr/>
        </p:nvSpPr>
        <p:spPr>
          <a:xfrm>
            <a:off x="594360" y="2834640"/>
            <a:ext cx="2377440" cy="1645920"/>
          </a:xfrm>
          <a:prstGeom prst="rect">
            <a:avLst/>
          </a:prstGeom>
          <a:noFill/>
          <a:ln/>
        </p:spPr>
        <p:txBody>
          <a:bodyPr wrap="square" rtlCol="0" anchor="ctr"/>
          <a:lstStyle/>
          <a:p>
            <a:pPr marL="0" indent="0" algn="ctr">
              <a:buNone/>
            </a:pPr>
            <a:r>
              <a:rPr lang="en-US" sz="1200" dirty="0">
                <a:solidFill>
                  <a:srgbClr val="C3C0FF"/>
                </a:solidFill>
                <a:latin typeface="Noto san"/>
                <a:ea typeface="Calibri" pitchFamily="34" charset="-122"/>
                <a:cs typeface="Calibri" pitchFamily="34" charset="-120"/>
              </a:rPr>
              <a:t>Các quy định pháp lý ngày càng thắt chặt đòi hỏi sự minh bạch và tốc độ xử lý tài liệu vượt trội từ mọi tổ chức.</a:t>
            </a:r>
            <a:endParaRPr lang="en-US" sz="1200" dirty="0">
              <a:latin typeface="Noto san"/>
            </a:endParaRPr>
          </a:p>
        </p:txBody>
      </p:sp>
      <p:sp>
        <p:nvSpPr>
          <p:cNvPr id="10" name="Shape 8"/>
          <p:cNvSpPr/>
          <p:nvPr/>
        </p:nvSpPr>
        <p:spPr>
          <a:xfrm>
            <a:off x="3337560" y="1417320"/>
            <a:ext cx="2651760" cy="3200400"/>
          </a:xfrm>
          <a:prstGeom prst="rect">
            <a:avLst/>
          </a:prstGeom>
          <a:solidFill>
            <a:srgbClr val="FFFFFF">
              <a:alpha val="7000"/>
            </a:srgbClr>
          </a:solidFill>
          <a:ln w="12700">
            <a:solidFill>
              <a:srgbClr val="9B72F9">
                <a:alpha val="35000"/>
              </a:srgbClr>
            </a:solidFill>
            <a:prstDash val="solid"/>
          </a:ln>
          <a:effectLst>
            <a:outerShdw blurRad="101600" dist="38100" dir="8100000" algn="bl" rotWithShape="0">
              <a:srgbClr val="000000">
                <a:alpha val="10000"/>
              </a:srgbClr>
            </a:outerShdw>
          </a:effectLst>
        </p:spPr>
      </p:sp>
      <p:sp>
        <p:nvSpPr>
          <p:cNvPr id="11" name="Text 9"/>
          <p:cNvSpPr/>
          <p:nvPr/>
        </p:nvSpPr>
        <p:spPr>
          <a:xfrm>
            <a:off x="3337560" y="1600200"/>
            <a:ext cx="2651760" cy="640080"/>
          </a:xfrm>
          <a:prstGeom prst="rect">
            <a:avLst/>
          </a:prstGeom>
          <a:noFill/>
          <a:ln/>
        </p:spPr>
        <p:txBody>
          <a:bodyPr wrap="square" rtlCol="0" anchor="ctr"/>
          <a:lstStyle/>
          <a:p>
            <a:pPr marL="0" indent="0" algn="ctr">
              <a:buNone/>
            </a:pPr>
            <a:r>
              <a:rPr lang="en-US" sz="3600" dirty="0">
                <a:solidFill>
                  <a:srgbClr val="000000"/>
                </a:solidFill>
                <a:latin typeface="Noto san"/>
              </a:rPr>
              <a:t>📊</a:t>
            </a:r>
            <a:endParaRPr lang="en-US" sz="3600" dirty="0">
              <a:latin typeface="Noto san"/>
            </a:endParaRPr>
          </a:p>
        </p:txBody>
      </p:sp>
      <p:sp>
        <p:nvSpPr>
          <p:cNvPr id="12" name="Text 10"/>
          <p:cNvSpPr/>
          <p:nvPr/>
        </p:nvSpPr>
        <p:spPr>
          <a:xfrm>
            <a:off x="3474720" y="2286000"/>
            <a:ext cx="2377440" cy="502920"/>
          </a:xfrm>
          <a:prstGeom prst="rect">
            <a:avLst/>
          </a:prstGeom>
          <a:noFill/>
          <a:ln/>
        </p:spPr>
        <p:txBody>
          <a:bodyPr wrap="square" rtlCol="0" anchor="ctr"/>
          <a:lstStyle/>
          <a:p>
            <a:pPr marL="0" indent="0" algn="ctr">
              <a:buNone/>
            </a:pPr>
            <a:r>
              <a:rPr lang="en-US" sz="1600" b="1" dirty="0">
                <a:solidFill>
                  <a:srgbClr val="FFFFFF"/>
                </a:solidFill>
                <a:latin typeface="Noto san"/>
                <a:ea typeface="Arial" pitchFamily="34" charset="-122"/>
                <a:cs typeface="Arial" pitchFamily="34" charset="-120"/>
              </a:rPr>
              <a:t>Dữ liệu phi cấu trúc</a:t>
            </a:r>
            <a:endParaRPr lang="en-US" sz="1600" dirty="0">
              <a:latin typeface="Noto san"/>
            </a:endParaRPr>
          </a:p>
        </p:txBody>
      </p:sp>
      <p:sp>
        <p:nvSpPr>
          <p:cNvPr id="13" name="Text 11"/>
          <p:cNvSpPr/>
          <p:nvPr/>
        </p:nvSpPr>
        <p:spPr>
          <a:xfrm>
            <a:off x="3474720" y="2834640"/>
            <a:ext cx="2377440" cy="1645920"/>
          </a:xfrm>
          <a:prstGeom prst="rect">
            <a:avLst/>
          </a:prstGeom>
          <a:noFill/>
          <a:ln/>
        </p:spPr>
        <p:txBody>
          <a:bodyPr wrap="square" rtlCol="0" anchor="ctr"/>
          <a:lstStyle/>
          <a:p>
            <a:pPr marL="0" indent="0" algn="ctr">
              <a:buNone/>
            </a:pPr>
            <a:r>
              <a:rPr lang="en-US" sz="1200" dirty="0">
                <a:solidFill>
                  <a:srgbClr val="C3C0FF"/>
                </a:solidFill>
                <a:latin typeface="Noto san"/>
                <a:ea typeface="Calibri" pitchFamily="34" charset="-122"/>
                <a:cs typeface="Calibri" pitchFamily="34" charset="-120"/>
              </a:rPr>
              <a:t>Hơn 80% dữ liệu doanh nghiệp tồn tại dưới dạng văn bản, hình ảnh, email chưa được khai thác — quyết định lợi thế cạnh tranh.</a:t>
            </a:r>
            <a:endParaRPr lang="en-US" sz="1200" dirty="0">
              <a:latin typeface="Noto san"/>
            </a:endParaRPr>
          </a:p>
        </p:txBody>
      </p:sp>
      <p:sp>
        <p:nvSpPr>
          <p:cNvPr id="14" name="Shape 12"/>
          <p:cNvSpPr/>
          <p:nvPr/>
        </p:nvSpPr>
        <p:spPr>
          <a:xfrm>
            <a:off x="6217920" y="1417320"/>
            <a:ext cx="2651760" cy="3200400"/>
          </a:xfrm>
          <a:prstGeom prst="rect">
            <a:avLst/>
          </a:prstGeom>
          <a:solidFill>
            <a:srgbClr val="FFFFFF">
              <a:alpha val="7000"/>
            </a:srgbClr>
          </a:solidFill>
          <a:ln w="12700">
            <a:solidFill>
              <a:srgbClr val="9B72F9">
                <a:alpha val="35000"/>
              </a:srgbClr>
            </a:solidFill>
            <a:prstDash val="solid"/>
          </a:ln>
          <a:effectLst>
            <a:outerShdw blurRad="101600" dist="38100" dir="8100000" algn="bl" rotWithShape="0">
              <a:srgbClr val="000000">
                <a:alpha val="10000"/>
              </a:srgbClr>
            </a:outerShdw>
          </a:effectLst>
        </p:spPr>
      </p:sp>
      <p:sp>
        <p:nvSpPr>
          <p:cNvPr id="15" name="Text 13"/>
          <p:cNvSpPr/>
          <p:nvPr/>
        </p:nvSpPr>
        <p:spPr>
          <a:xfrm>
            <a:off x="6217920" y="1600200"/>
            <a:ext cx="2651760" cy="640080"/>
          </a:xfrm>
          <a:prstGeom prst="rect">
            <a:avLst/>
          </a:prstGeom>
          <a:noFill/>
          <a:ln/>
        </p:spPr>
        <p:txBody>
          <a:bodyPr wrap="square" rtlCol="0" anchor="ctr"/>
          <a:lstStyle/>
          <a:p>
            <a:pPr marL="0" indent="0" algn="ctr">
              <a:buNone/>
            </a:pPr>
            <a:r>
              <a:rPr lang="en-US" sz="3600" dirty="0">
                <a:solidFill>
                  <a:srgbClr val="000000"/>
                </a:solidFill>
                <a:latin typeface="Noto san"/>
              </a:rPr>
              <a:t>🤖</a:t>
            </a:r>
            <a:endParaRPr lang="en-US" sz="3600" dirty="0">
              <a:latin typeface="Noto san"/>
            </a:endParaRPr>
          </a:p>
        </p:txBody>
      </p:sp>
      <p:sp>
        <p:nvSpPr>
          <p:cNvPr id="16" name="Text 14"/>
          <p:cNvSpPr/>
          <p:nvPr/>
        </p:nvSpPr>
        <p:spPr>
          <a:xfrm>
            <a:off x="6355080" y="2286000"/>
            <a:ext cx="2377440" cy="502920"/>
          </a:xfrm>
          <a:prstGeom prst="rect">
            <a:avLst/>
          </a:prstGeom>
          <a:noFill/>
          <a:ln/>
        </p:spPr>
        <p:txBody>
          <a:bodyPr wrap="square" rtlCol="0" anchor="ctr"/>
          <a:lstStyle/>
          <a:p>
            <a:pPr marL="0" indent="0" algn="ctr">
              <a:buNone/>
            </a:pPr>
            <a:r>
              <a:rPr lang="en-US" sz="1600" b="1" dirty="0">
                <a:solidFill>
                  <a:srgbClr val="FFFFFF"/>
                </a:solidFill>
                <a:latin typeface="Noto san"/>
                <a:ea typeface="Arial" pitchFamily="34" charset="-122"/>
                <a:cs typeface="Arial" pitchFamily="34" charset="-120"/>
              </a:rPr>
              <a:t>AI đã đủ rẻ</a:t>
            </a:r>
            <a:endParaRPr lang="en-US" sz="1600" dirty="0">
              <a:latin typeface="Noto san"/>
            </a:endParaRPr>
          </a:p>
        </p:txBody>
      </p:sp>
      <p:sp>
        <p:nvSpPr>
          <p:cNvPr id="17" name="Text 15"/>
          <p:cNvSpPr/>
          <p:nvPr/>
        </p:nvSpPr>
        <p:spPr>
          <a:xfrm>
            <a:off x="6355080" y="2834640"/>
            <a:ext cx="2377440" cy="1645920"/>
          </a:xfrm>
          <a:prstGeom prst="rect">
            <a:avLst/>
          </a:prstGeom>
          <a:noFill/>
          <a:ln/>
        </p:spPr>
        <p:txBody>
          <a:bodyPr wrap="square" rtlCol="0" anchor="ctr"/>
          <a:lstStyle/>
          <a:p>
            <a:pPr marL="0" indent="0" algn="ctr">
              <a:buNone/>
            </a:pPr>
            <a:r>
              <a:rPr lang="en-US" sz="1200" dirty="0">
                <a:solidFill>
                  <a:srgbClr val="C3C0FF"/>
                </a:solidFill>
                <a:latin typeface="Noto san"/>
                <a:ea typeface="Calibri" pitchFamily="34" charset="-122"/>
                <a:cs typeface="Calibri" pitchFamily="34" charset="-120"/>
              </a:rPr>
              <a:t>Chi phí tính toán &amp; truy cập LLMs giảm theo cấp số nhân — AI từ phòng thí nghiệm trở thành công cụ phổ thông cho mọi quy mô doanh nghiệp.</a:t>
            </a:r>
            <a:endParaRPr lang="en-US" sz="1200" dirty="0">
              <a:latin typeface="Noto san"/>
            </a:endParaRPr>
          </a:p>
        </p:txBody>
      </p:sp>
      <p:sp>
        <p:nvSpPr>
          <p:cNvPr id="18" name="Text 16"/>
          <p:cNvSpPr/>
          <p:nvPr/>
        </p:nvSpPr>
        <p:spPr>
          <a:xfrm>
            <a:off x="45720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734AA4"/>
          </a:solidFill>
          <a:ln w="12700">
            <a:solidFill>
              <a:srgbClr val="734AA4"/>
            </a:solidFill>
            <a:prstDash val="solid"/>
          </a:ln>
        </p:spPr>
      </p:sp>
      <p:sp>
        <p:nvSpPr>
          <p:cNvPr id="3" name="Text 1"/>
          <p:cNvSpPr/>
          <p:nvPr/>
        </p:nvSpPr>
        <p:spPr>
          <a:xfrm>
            <a:off x="365760" y="228600"/>
            <a:ext cx="8412480" cy="594360"/>
          </a:xfrm>
          <a:prstGeom prst="rect">
            <a:avLst/>
          </a:prstGeom>
          <a:noFill/>
          <a:ln/>
        </p:spPr>
        <p:txBody>
          <a:bodyPr wrap="square" rtlCol="0" anchor="ctr"/>
          <a:lstStyle/>
          <a:p>
            <a:pPr marL="0" indent="0">
              <a:buNone/>
            </a:pPr>
            <a:r>
              <a:rPr lang="en-US" sz="3000" b="1" dirty="0">
                <a:solidFill>
                  <a:srgbClr val="1B1B23"/>
                </a:solidFill>
                <a:latin typeface="Noto san"/>
                <a:ea typeface="Arial Black" pitchFamily="34" charset="-122"/>
                <a:cs typeface="Arial Black" pitchFamily="34" charset="-120"/>
              </a:rPr>
              <a:t>Thị trường &amp; Moat</a:t>
            </a:r>
            <a:endParaRPr lang="en-US" sz="3000" dirty="0">
              <a:latin typeface="Noto san"/>
            </a:endParaRPr>
          </a:p>
        </p:txBody>
      </p:sp>
      <p:sp>
        <p:nvSpPr>
          <p:cNvPr id="4" name="Text 2"/>
          <p:cNvSpPr/>
          <p:nvPr/>
        </p:nvSpPr>
        <p:spPr>
          <a:xfrm>
            <a:off x="365760" y="822960"/>
            <a:ext cx="8412480" cy="365760"/>
          </a:xfrm>
          <a:prstGeom prst="rect">
            <a:avLst/>
          </a:prstGeom>
          <a:noFill/>
          <a:ln/>
        </p:spPr>
        <p:txBody>
          <a:bodyPr wrap="square" rtlCol="0" anchor="ctr"/>
          <a:lstStyle/>
          <a:p>
            <a:pPr marL="0" indent="0">
              <a:buNone/>
            </a:pPr>
            <a:r>
              <a:rPr lang="en-US" sz="1300" i="1" dirty="0">
                <a:solidFill>
                  <a:srgbClr val="777586"/>
                </a:solidFill>
                <a:latin typeface="Noto san"/>
                <a:ea typeface="Calibri" pitchFamily="34" charset="-122"/>
                <a:cs typeface="Calibri" pitchFamily="34" charset="-120"/>
              </a:rPr>
              <a:t>Scaify chọn một lát cắt cụ thể: người bán online tự ghi CSV — đủ lớn để bắt đầu từ nhóm hẹp, mở rộng dần.</a:t>
            </a:r>
            <a:endParaRPr lang="en-US" sz="1300" dirty="0">
              <a:latin typeface="Noto san"/>
            </a:endParaRPr>
          </a:p>
        </p:txBody>
      </p:sp>
      <p:sp>
        <p:nvSpPr>
          <p:cNvPr id="5" name="Shape 3"/>
          <p:cNvSpPr/>
          <p:nvPr/>
        </p:nvSpPr>
        <p:spPr>
          <a:xfrm>
            <a:off x="365760" y="1234440"/>
            <a:ext cx="2606040" cy="502920"/>
          </a:xfrm>
          <a:prstGeom prst="roundRect">
            <a:avLst>
              <a:gd name="adj" fmla="val 14545"/>
            </a:avLst>
          </a:prstGeom>
          <a:solidFill>
            <a:srgbClr val="2812AD"/>
          </a:solidFill>
          <a:ln w="12700">
            <a:solidFill>
              <a:srgbClr val="2812AD"/>
            </a:solidFill>
            <a:prstDash val="solid"/>
          </a:ln>
        </p:spPr>
      </p:sp>
      <p:sp>
        <p:nvSpPr>
          <p:cNvPr id="6" name="Text 4"/>
          <p:cNvSpPr/>
          <p:nvPr/>
        </p:nvSpPr>
        <p:spPr>
          <a:xfrm>
            <a:off x="365760" y="1234440"/>
            <a:ext cx="2606040" cy="502920"/>
          </a:xfrm>
          <a:prstGeom prst="rect">
            <a:avLst/>
          </a:prstGeom>
          <a:noFill/>
          <a:ln/>
        </p:spPr>
        <p:txBody>
          <a:bodyPr wrap="square" rtlCol="0" anchor="ctr"/>
          <a:lstStyle/>
          <a:p>
            <a:pPr marL="0" indent="0" algn="ctr">
              <a:buNone/>
            </a:pPr>
            <a:r>
              <a:rPr lang="en-US" sz="1300" b="1" dirty="0">
                <a:solidFill>
                  <a:srgbClr val="FFFFFF"/>
                </a:solidFill>
                <a:latin typeface="Noto san"/>
                <a:ea typeface="Calibri" pitchFamily="34" charset="-122"/>
                <a:cs typeface="Calibri" pitchFamily="34" charset="-120"/>
              </a:rPr>
              <a:t>✓  Tệp khách đủ lớn</a:t>
            </a:r>
            <a:endParaRPr lang="en-US" sz="1300" dirty="0">
              <a:latin typeface="Noto san"/>
            </a:endParaRPr>
          </a:p>
        </p:txBody>
      </p:sp>
      <p:sp>
        <p:nvSpPr>
          <p:cNvPr id="7" name="Shape 5"/>
          <p:cNvSpPr/>
          <p:nvPr/>
        </p:nvSpPr>
        <p:spPr>
          <a:xfrm>
            <a:off x="3246120" y="1234440"/>
            <a:ext cx="2606040" cy="502920"/>
          </a:xfrm>
          <a:prstGeom prst="roundRect">
            <a:avLst>
              <a:gd name="adj" fmla="val 14545"/>
            </a:avLst>
          </a:prstGeom>
          <a:solidFill>
            <a:srgbClr val="2812AD"/>
          </a:solidFill>
          <a:ln w="12700">
            <a:solidFill>
              <a:srgbClr val="2812AD"/>
            </a:solidFill>
            <a:prstDash val="solid"/>
          </a:ln>
        </p:spPr>
      </p:sp>
      <p:sp>
        <p:nvSpPr>
          <p:cNvPr id="8" name="Text 6"/>
          <p:cNvSpPr/>
          <p:nvPr/>
        </p:nvSpPr>
        <p:spPr>
          <a:xfrm>
            <a:off x="3246120" y="1234440"/>
            <a:ext cx="2606040" cy="502920"/>
          </a:xfrm>
          <a:prstGeom prst="rect">
            <a:avLst/>
          </a:prstGeom>
          <a:noFill/>
          <a:ln/>
        </p:spPr>
        <p:txBody>
          <a:bodyPr wrap="square" rtlCol="0" anchor="ctr"/>
          <a:lstStyle/>
          <a:p>
            <a:pPr marL="0" indent="0" algn="ctr">
              <a:buNone/>
            </a:pPr>
            <a:r>
              <a:rPr lang="en-US" sz="1300" b="1" dirty="0">
                <a:solidFill>
                  <a:srgbClr val="FFFFFF"/>
                </a:solidFill>
                <a:latin typeface="Noto san"/>
                <a:ea typeface="Calibri" pitchFamily="34" charset="-122"/>
                <a:cs typeface="Calibri" pitchFamily="34" charset="-120"/>
              </a:rPr>
              <a:t>✓  Workflow lặp lại theo kỳ</a:t>
            </a:r>
            <a:endParaRPr lang="en-US" sz="1300" dirty="0">
              <a:latin typeface="Noto san"/>
            </a:endParaRPr>
          </a:p>
        </p:txBody>
      </p:sp>
      <p:sp>
        <p:nvSpPr>
          <p:cNvPr id="9" name="Shape 7"/>
          <p:cNvSpPr/>
          <p:nvPr/>
        </p:nvSpPr>
        <p:spPr>
          <a:xfrm>
            <a:off x="6126480" y="1234440"/>
            <a:ext cx="2606040" cy="502920"/>
          </a:xfrm>
          <a:prstGeom prst="roundRect">
            <a:avLst>
              <a:gd name="adj" fmla="val 14545"/>
            </a:avLst>
          </a:prstGeom>
          <a:solidFill>
            <a:srgbClr val="2812AD"/>
          </a:solidFill>
          <a:ln w="12700">
            <a:solidFill>
              <a:srgbClr val="2812AD"/>
            </a:solidFill>
            <a:prstDash val="solid"/>
          </a:ln>
        </p:spPr>
      </p:sp>
      <p:sp>
        <p:nvSpPr>
          <p:cNvPr id="10" name="Text 8"/>
          <p:cNvSpPr/>
          <p:nvPr/>
        </p:nvSpPr>
        <p:spPr>
          <a:xfrm>
            <a:off x="6126480" y="1234440"/>
            <a:ext cx="2606040" cy="502920"/>
          </a:xfrm>
          <a:prstGeom prst="rect">
            <a:avLst/>
          </a:prstGeom>
          <a:noFill/>
          <a:ln/>
        </p:spPr>
        <p:txBody>
          <a:bodyPr wrap="square" rtlCol="0" anchor="ctr"/>
          <a:lstStyle/>
          <a:p>
            <a:pPr marL="0" indent="0" algn="ctr">
              <a:buNone/>
            </a:pPr>
            <a:r>
              <a:rPr lang="en-US" sz="1300" b="1" dirty="0">
                <a:solidFill>
                  <a:srgbClr val="FFFFFF"/>
                </a:solidFill>
                <a:latin typeface="Noto san"/>
                <a:ea typeface="Calibri" pitchFamily="34" charset="-122"/>
                <a:cs typeface="Calibri" pitchFamily="34" charset="-120"/>
              </a:rPr>
              <a:t>✓  Giải thích có căn cứ</a:t>
            </a:r>
            <a:endParaRPr lang="en-US" sz="1300" dirty="0">
              <a:latin typeface="Noto san"/>
            </a:endParaRPr>
          </a:p>
        </p:txBody>
      </p:sp>
      <p:sp>
        <p:nvSpPr>
          <p:cNvPr id="11" name="Shape 9"/>
          <p:cNvSpPr/>
          <p:nvPr/>
        </p:nvSpPr>
        <p:spPr>
          <a:xfrm>
            <a:off x="365760" y="1874520"/>
            <a:ext cx="2788920" cy="548640"/>
          </a:xfrm>
          <a:prstGeom prst="rect">
            <a:avLst/>
          </a:prstGeom>
          <a:solidFill>
            <a:srgbClr val="2812AD"/>
          </a:solidFill>
          <a:ln w="12700">
            <a:solidFill>
              <a:srgbClr val="E4E1ED"/>
            </a:solidFill>
            <a:prstDash val="solid"/>
          </a:ln>
        </p:spPr>
      </p:sp>
      <p:sp>
        <p:nvSpPr>
          <p:cNvPr id="12" name="Text 10"/>
          <p:cNvSpPr/>
          <p:nvPr/>
        </p:nvSpPr>
        <p:spPr>
          <a:xfrm>
            <a:off x="365760" y="1874520"/>
            <a:ext cx="2788920" cy="548640"/>
          </a:xfrm>
          <a:prstGeom prst="rect">
            <a:avLst/>
          </a:prstGeom>
          <a:noFill/>
          <a:ln/>
        </p:spPr>
        <p:txBody>
          <a:bodyPr wrap="square" lIns="0" tIns="1270" rIns="1270" bIns="0" rtlCol="0" anchor="ctr"/>
          <a:lstStyle/>
          <a:p>
            <a:pPr marL="0" indent="0" algn="l">
              <a:buNone/>
            </a:pPr>
            <a:endParaRPr lang="en-US" sz="1200" dirty="0">
              <a:latin typeface="Noto san"/>
            </a:endParaRPr>
          </a:p>
        </p:txBody>
      </p:sp>
      <p:sp>
        <p:nvSpPr>
          <p:cNvPr id="13" name="Shape 11"/>
          <p:cNvSpPr/>
          <p:nvPr/>
        </p:nvSpPr>
        <p:spPr>
          <a:xfrm>
            <a:off x="3246120" y="1874520"/>
            <a:ext cx="2788920" cy="548640"/>
          </a:xfrm>
          <a:prstGeom prst="rect">
            <a:avLst/>
          </a:prstGeom>
          <a:solidFill>
            <a:srgbClr val="2812AD"/>
          </a:solidFill>
          <a:ln w="12700">
            <a:solidFill>
              <a:srgbClr val="E4E1ED"/>
            </a:solidFill>
            <a:prstDash val="solid"/>
          </a:ln>
        </p:spPr>
      </p:sp>
      <p:sp>
        <p:nvSpPr>
          <p:cNvPr id="14" name="Text 12"/>
          <p:cNvSpPr/>
          <p:nvPr/>
        </p:nvSpPr>
        <p:spPr>
          <a:xfrm>
            <a:off x="3246120" y="1874520"/>
            <a:ext cx="2788920" cy="548640"/>
          </a:xfrm>
          <a:prstGeom prst="rect">
            <a:avLst/>
          </a:prstGeom>
          <a:noFill/>
          <a:ln/>
        </p:spPr>
        <p:txBody>
          <a:bodyPr wrap="square" lIns="0" tIns="1270" rIns="1270" bIns="0" rtlCol="0" anchor="ctr"/>
          <a:lstStyle/>
          <a:p>
            <a:pPr marL="0" indent="0" algn="ctr">
              <a:buNone/>
            </a:pPr>
            <a:r>
              <a:rPr lang="en-US" sz="1200" b="1" dirty="0">
                <a:solidFill>
                  <a:srgbClr val="FFFFFF"/>
                </a:solidFill>
                <a:latin typeface="Noto san"/>
                <a:ea typeface="Calibri" pitchFamily="34" charset="-122"/>
                <a:cs typeface="Calibri" pitchFamily="34" charset="-120"/>
              </a:rPr>
              <a:t>Tự đối soát</a:t>
            </a:r>
            <a:endParaRPr lang="en-US" sz="1200" dirty="0">
              <a:latin typeface="Noto san"/>
            </a:endParaRPr>
          </a:p>
        </p:txBody>
      </p:sp>
      <p:sp>
        <p:nvSpPr>
          <p:cNvPr id="15" name="Shape 13"/>
          <p:cNvSpPr/>
          <p:nvPr/>
        </p:nvSpPr>
        <p:spPr>
          <a:xfrm>
            <a:off x="6126480" y="1874520"/>
            <a:ext cx="2788920" cy="548640"/>
          </a:xfrm>
          <a:prstGeom prst="rect">
            <a:avLst/>
          </a:prstGeom>
          <a:solidFill>
            <a:srgbClr val="2812AD"/>
          </a:solidFill>
          <a:ln w="12700">
            <a:solidFill>
              <a:srgbClr val="E4E1ED"/>
            </a:solidFill>
            <a:prstDash val="solid"/>
          </a:ln>
        </p:spPr>
      </p:sp>
      <p:sp>
        <p:nvSpPr>
          <p:cNvPr id="16" name="Text 14"/>
          <p:cNvSpPr/>
          <p:nvPr/>
        </p:nvSpPr>
        <p:spPr>
          <a:xfrm>
            <a:off x="6126480" y="1874520"/>
            <a:ext cx="2788920" cy="548640"/>
          </a:xfrm>
          <a:prstGeom prst="rect">
            <a:avLst/>
          </a:prstGeom>
          <a:noFill/>
          <a:ln/>
        </p:spPr>
        <p:txBody>
          <a:bodyPr wrap="square" lIns="0" tIns="1270" rIns="1270" bIns="0" rtlCol="0" anchor="ctr"/>
          <a:lstStyle/>
          <a:p>
            <a:pPr marL="0" indent="0" algn="ctr">
              <a:buNone/>
            </a:pPr>
            <a:r>
              <a:rPr lang="en-US" sz="1200" b="1" dirty="0">
                <a:solidFill>
                  <a:srgbClr val="FFFFFF"/>
                </a:solidFill>
                <a:latin typeface="Noto san"/>
                <a:ea typeface="Calibri" pitchFamily="34" charset="-122"/>
                <a:cs typeface="Calibri" pitchFamily="34" charset="-120"/>
              </a:rPr>
              <a:t>Giải thích</a:t>
            </a:r>
            <a:endParaRPr lang="en-US" sz="1200" dirty="0">
              <a:latin typeface="Noto san"/>
            </a:endParaRPr>
          </a:p>
        </p:txBody>
      </p:sp>
      <p:sp>
        <p:nvSpPr>
          <p:cNvPr id="17" name="Shape 15"/>
          <p:cNvSpPr/>
          <p:nvPr/>
        </p:nvSpPr>
        <p:spPr>
          <a:xfrm>
            <a:off x="365760" y="2441448"/>
            <a:ext cx="2788920" cy="548640"/>
          </a:xfrm>
          <a:prstGeom prst="rect">
            <a:avLst/>
          </a:prstGeom>
          <a:solidFill>
            <a:srgbClr val="F6F2FE"/>
          </a:solidFill>
          <a:ln w="12700">
            <a:solidFill>
              <a:srgbClr val="E4E1ED"/>
            </a:solidFill>
            <a:prstDash val="solid"/>
          </a:ln>
        </p:spPr>
      </p:sp>
      <p:sp>
        <p:nvSpPr>
          <p:cNvPr id="18" name="Text 16"/>
          <p:cNvSpPr/>
          <p:nvPr/>
        </p:nvSpPr>
        <p:spPr>
          <a:xfrm>
            <a:off x="365760" y="2441448"/>
            <a:ext cx="2788920" cy="548640"/>
          </a:xfrm>
          <a:prstGeom prst="rect">
            <a:avLst/>
          </a:prstGeom>
          <a:noFill/>
          <a:ln/>
        </p:spPr>
        <p:txBody>
          <a:bodyPr wrap="square" lIns="0" tIns="1270" rIns="1270" bIns="0" rtlCol="0" anchor="ctr"/>
          <a:lstStyle/>
          <a:p>
            <a:pPr marL="0" indent="0" algn="l">
              <a:buNone/>
            </a:pPr>
            <a:r>
              <a:rPr lang="en-US" sz="1300" dirty="0">
                <a:solidFill>
                  <a:srgbClr val="1B1B23"/>
                </a:solidFill>
                <a:latin typeface="Noto san"/>
                <a:ea typeface="Calibri" pitchFamily="34" charset="-122"/>
                <a:cs typeface="Calibri" pitchFamily="34" charset="-120"/>
              </a:rPr>
              <a:t>📊  Excel / Sheet</a:t>
            </a:r>
            <a:endParaRPr lang="en-US" sz="1300" dirty="0">
              <a:latin typeface="Noto san"/>
            </a:endParaRPr>
          </a:p>
        </p:txBody>
      </p:sp>
      <p:sp>
        <p:nvSpPr>
          <p:cNvPr id="19" name="Shape 17"/>
          <p:cNvSpPr/>
          <p:nvPr/>
        </p:nvSpPr>
        <p:spPr>
          <a:xfrm>
            <a:off x="3246120" y="2441448"/>
            <a:ext cx="2788920" cy="548640"/>
          </a:xfrm>
          <a:prstGeom prst="rect">
            <a:avLst/>
          </a:prstGeom>
          <a:solidFill>
            <a:srgbClr val="FFFFFF"/>
          </a:solidFill>
          <a:ln w="12700">
            <a:solidFill>
              <a:srgbClr val="E4E1ED"/>
            </a:solidFill>
            <a:prstDash val="solid"/>
          </a:ln>
        </p:spPr>
      </p:sp>
      <p:sp>
        <p:nvSpPr>
          <p:cNvPr id="20" name="Text 18"/>
          <p:cNvSpPr/>
          <p:nvPr/>
        </p:nvSpPr>
        <p:spPr>
          <a:xfrm>
            <a:off x="3246120" y="2441448"/>
            <a:ext cx="2788920" cy="548640"/>
          </a:xfrm>
          <a:prstGeom prst="rect">
            <a:avLst/>
          </a:prstGeom>
          <a:noFill/>
          <a:ln/>
        </p:spPr>
        <p:txBody>
          <a:bodyPr wrap="square" lIns="0" tIns="1270" rIns="1270" bIns="0" rtlCol="0" anchor="ctr"/>
          <a:lstStyle/>
          <a:p>
            <a:pPr marL="0" indent="0" algn="ctr">
              <a:buNone/>
            </a:pPr>
            <a:r>
              <a:rPr lang="en-US" sz="1300" dirty="0">
                <a:solidFill>
                  <a:srgbClr val="1B1B23"/>
                </a:solidFill>
                <a:latin typeface="Noto san"/>
                <a:ea typeface="Calibri" pitchFamily="34" charset="-122"/>
                <a:cs typeface="Calibri" pitchFamily="34" charset="-120"/>
              </a:rPr>
              <a:t>❌  Dò tay</a:t>
            </a:r>
            <a:endParaRPr lang="en-US" sz="1300" dirty="0">
              <a:latin typeface="Noto san"/>
            </a:endParaRPr>
          </a:p>
        </p:txBody>
      </p:sp>
      <p:sp>
        <p:nvSpPr>
          <p:cNvPr id="21" name="Shape 19"/>
          <p:cNvSpPr/>
          <p:nvPr/>
        </p:nvSpPr>
        <p:spPr>
          <a:xfrm>
            <a:off x="6126480" y="2441448"/>
            <a:ext cx="2788920" cy="548640"/>
          </a:xfrm>
          <a:prstGeom prst="rect">
            <a:avLst/>
          </a:prstGeom>
          <a:solidFill>
            <a:srgbClr val="FFFFFF"/>
          </a:solidFill>
          <a:ln w="12700">
            <a:solidFill>
              <a:srgbClr val="E4E1ED"/>
            </a:solidFill>
            <a:prstDash val="solid"/>
          </a:ln>
        </p:spPr>
      </p:sp>
      <p:sp>
        <p:nvSpPr>
          <p:cNvPr id="22" name="Text 20"/>
          <p:cNvSpPr/>
          <p:nvPr/>
        </p:nvSpPr>
        <p:spPr>
          <a:xfrm>
            <a:off x="6126480" y="2441448"/>
            <a:ext cx="2788920" cy="548640"/>
          </a:xfrm>
          <a:prstGeom prst="rect">
            <a:avLst/>
          </a:prstGeom>
          <a:noFill/>
          <a:ln/>
        </p:spPr>
        <p:txBody>
          <a:bodyPr wrap="square" lIns="0" tIns="1270" rIns="1270" bIns="0" rtlCol="0" anchor="ctr"/>
          <a:lstStyle/>
          <a:p>
            <a:pPr marL="0" indent="0" algn="ctr">
              <a:buNone/>
            </a:pPr>
            <a:r>
              <a:rPr lang="en-US" sz="1300" dirty="0">
                <a:solidFill>
                  <a:srgbClr val="1B1B23"/>
                </a:solidFill>
                <a:latin typeface="Noto san"/>
                <a:ea typeface="Calibri" pitchFamily="34" charset="-122"/>
                <a:cs typeface="Calibri" pitchFamily="34" charset="-120"/>
              </a:rPr>
              <a:t>❌  Khó giải trình</a:t>
            </a:r>
            <a:endParaRPr lang="en-US" sz="1300" dirty="0">
              <a:latin typeface="Noto san"/>
            </a:endParaRPr>
          </a:p>
        </p:txBody>
      </p:sp>
      <p:sp>
        <p:nvSpPr>
          <p:cNvPr id="23" name="Shape 21"/>
          <p:cNvSpPr/>
          <p:nvPr/>
        </p:nvSpPr>
        <p:spPr>
          <a:xfrm>
            <a:off x="365760" y="3008376"/>
            <a:ext cx="2788920" cy="548640"/>
          </a:xfrm>
          <a:prstGeom prst="rect">
            <a:avLst/>
          </a:prstGeom>
          <a:solidFill>
            <a:srgbClr val="F6F2FE"/>
          </a:solidFill>
          <a:ln w="12700">
            <a:solidFill>
              <a:srgbClr val="E4E1ED"/>
            </a:solidFill>
            <a:prstDash val="solid"/>
          </a:ln>
        </p:spPr>
      </p:sp>
      <p:sp>
        <p:nvSpPr>
          <p:cNvPr id="24" name="Text 22"/>
          <p:cNvSpPr/>
          <p:nvPr/>
        </p:nvSpPr>
        <p:spPr>
          <a:xfrm>
            <a:off x="365760" y="3008376"/>
            <a:ext cx="2788920" cy="548640"/>
          </a:xfrm>
          <a:prstGeom prst="rect">
            <a:avLst/>
          </a:prstGeom>
          <a:noFill/>
          <a:ln/>
        </p:spPr>
        <p:txBody>
          <a:bodyPr wrap="square" lIns="0" tIns="1270" rIns="1270" bIns="0" rtlCol="0" anchor="ctr"/>
          <a:lstStyle/>
          <a:p>
            <a:pPr marL="0" indent="0" algn="l">
              <a:buNone/>
            </a:pPr>
            <a:r>
              <a:rPr lang="en-US" sz="1300" dirty="0">
                <a:solidFill>
                  <a:srgbClr val="1B1B23"/>
                </a:solidFill>
                <a:latin typeface="Noto san"/>
                <a:ea typeface="Calibri" pitchFamily="34" charset="-122"/>
                <a:cs typeface="Calibri" pitchFamily="34" charset="-120"/>
              </a:rPr>
              <a:t>🏪  POS / Sàn</a:t>
            </a:r>
            <a:endParaRPr lang="en-US" sz="1300" dirty="0">
              <a:latin typeface="Noto san"/>
            </a:endParaRPr>
          </a:p>
        </p:txBody>
      </p:sp>
      <p:sp>
        <p:nvSpPr>
          <p:cNvPr id="25" name="Shape 23"/>
          <p:cNvSpPr/>
          <p:nvPr/>
        </p:nvSpPr>
        <p:spPr>
          <a:xfrm>
            <a:off x="3246120" y="3008376"/>
            <a:ext cx="2788920" cy="548640"/>
          </a:xfrm>
          <a:prstGeom prst="rect">
            <a:avLst/>
          </a:prstGeom>
          <a:solidFill>
            <a:srgbClr val="FFFFFF"/>
          </a:solidFill>
          <a:ln w="12700">
            <a:solidFill>
              <a:srgbClr val="E4E1ED"/>
            </a:solidFill>
            <a:prstDash val="solid"/>
          </a:ln>
        </p:spPr>
      </p:sp>
      <p:sp>
        <p:nvSpPr>
          <p:cNvPr id="26" name="Text 24"/>
          <p:cNvSpPr/>
          <p:nvPr/>
        </p:nvSpPr>
        <p:spPr>
          <a:xfrm>
            <a:off x="3246120" y="3008376"/>
            <a:ext cx="2788920" cy="548640"/>
          </a:xfrm>
          <a:prstGeom prst="rect">
            <a:avLst/>
          </a:prstGeom>
          <a:noFill/>
          <a:ln/>
        </p:spPr>
        <p:txBody>
          <a:bodyPr wrap="square" lIns="0" tIns="1270" rIns="1270" bIns="0" rtlCol="0" anchor="ctr"/>
          <a:lstStyle/>
          <a:p>
            <a:pPr marL="0" indent="0" algn="ctr">
              <a:buNone/>
            </a:pPr>
            <a:r>
              <a:rPr lang="en-US" sz="1300" dirty="0">
                <a:solidFill>
                  <a:srgbClr val="1B1B23"/>
                </a:solidFill>
                <a:latin typeface="Noto san"/>
                <a:ea typeface="Calibri" pitchFamily="34" charset="-122"/>
                <a:cs typeface="Calibri" pitchFamily="34" charset="-120"/>
              </a:rPr>
              <a:t>✅  Vận hành tốt</a:t>
            </a:r>
            <a:endParaRPr lang="en-US" sz="1300" dirty="0">
              <a:latin typeface="Noto san"/>
            </a:endParaRPr>
          </a:p>
        </p:txBody>
      </p:sp>
      <p:sp>
        <p:nvSpPr>
          <p:cNvPr id="27" name="Shape 25"/>
          <p:cNvSpPr/>
          <p:nvPr/>
        </p:nvSpPr>
        <p:spPr>
          <a:xfrm>
            <a:off x="6126480" y="3008376"/>
            <a:ext cx="2788920" cy="548640"/>
          </a:xfrm>
          <a:prstGeom prst="rect">
            <a:avLst/>
          </a:prstGeom>
          <a:solidFill>
            <a:srgbClr val="FFFFFF"/>
          </a:solidFill>
          <a:ln w="12700">
            <a:solidFill>
              <a:srgbClr val="E4E1ED"/>
            </a:solidFill>
            <a:prstDash val="solid"/>
          </a:ln>
        </p:spPr>
      </p:sp>
      <p:sp>
        <p:nvSpPr>
          <p:cNvPr id="28" name="Text 26"/>
          <p:cNvSpPr/>
          <p:nvPr/>
        </p:nvSpPr>
        <p:spPr>
          <a:xfrm>
            <a:off x="6126480" y="3008376"/>
            <a:ext cx="2788920" cy="548640"/>
          </a:xfrm>
          <a:prstGeom prst="rect">
            <a:avLst/>
          </a:prstGeom>
          <a:noFill/>
          <a:ln/>
        </p:spPr>
        <p:txBody>
          <a:bodyPr wrap="square" lIns="0" tIns="1270" rIns="1270" bIns="0" rtlCol="0" anchor="ctr"/>
          <a:lstStyle/>
          <a:p>
            <a:pPr marL="0" indent="0" algn="ctr">
              <a:buNone/>
            </a:pPr>
            <a:r>
              <a:rPr lang="en-US" sz="1300" dirty="0">
                <a:solidFill>
                  <a:srgbClr val="1B1B23"/>
                </a:solidFill>
                <a:latin typeface="Noto san"/>
                <a:ea typeface="Calibri" pitchFamily="34" charset="-122"/>
                <a:cs typeface="Calibri" pitchFamily="34" charset="-120"/>
              </a:rPr>
              <a:t>❌  Thiếu lớp giải thích</a:t>
            </a:r>
            <a:endParaRPr lang="en-US" sz="1300" dirty="0">
              <a:latin typeface="Noto san"/>
            </a:endParaRPr>
          </a:p>
        </p:txBody>
      </p:sp>
      <p:sp>
        <p:nvSpPr>
          <p:cNvPr id="29" name="Shape 27"/>
          <p:cNvSpPr/>
          <p:nvPr/>
        </p:nvSpPr>
        <p:spPr>
          <a:xfrm>
            <a:off x="365760" y="3575304"/>
            <a:ext cx="2788920" cy="548640"/>
          </a:xfrm>
          <a:prstGeom prst="rect">
            <a:avLst/>
          </a:prstGeom>
          <a:solidFill>
            <a:srgbClr val="F6F2FE"/>
          </a:solidFill>
          <a:ln w="12700">
            <a:solidFill>
              <a:srgbClr val="E4E1ED"/>
            </a:solidFill>
            <a:prstDash val="solid"/>
          </a:ln>
        </p:spPr>
      </p:sp>
      <p:sp>
        <p:nvSpPr>
          <p:cNvPr id="30" name="Text 28"/>
          <p:cNvSpPr/>
          <p:nvPr/>
        </p:nvSpPr>
        <p:spPr>
          <a:xfrm>
            <a:off x="365760" y="3575304"/>
            <a:ext cx="2788920" cy="548640"/>
          </a:xfrm>
          <a:prstGeom prst="rect">
            <a:avLst/>
          </a:prstGeom>
          <a:noFill/>
          <a:ln/>
        </p:spPr>
        <p:txBody>
          <a:bodyPr wrap="square" lIns="0" tIns="1270" rIns="1270" bIns="0" rtlCol="0" anchor="ctr"/>
          <a:lstStyle/>
          <a:p>
            <a:pPr marL="0" indent="0" algn="l">
              <a:buNone/>
            </a:pPr>
            <a:r>
              <a:rPr lang="en-US" sz="1300" dirty="0">
                <a:solidFill>
                  <a:srgbClr val="1B1B23"/>
                </a:solidFill>
                <a:latin typeface="Noto san"/>
                <a:ea typeface="Calibri" pitchFamily="34" charset="-122"/>
                <a:cs typeface="Calibri" pitchFamily="34" charset="-120"/>
              </a:rPr>
              <a:t>💼  Kế toán trọn gói</a:t>
            </a:r>
            <a:endParaRPr lang="en-US" sz="1300" dirty="0">
              <a:latin typeface="Noto san"/>
            </a:endParaRPr>
          </a:p>
        </p:txBody>
      </p:sp>
      <p:sp>
        <p:nvSpPr>
          <p:cNvPr id="31" name="Shape 29"/>
          <p:cNvSpPr/>
          <p:nvPr/>
        </p:nvSpPr>
        <p:spPr>
          <a:xfrm>
            <a:off x="3246120" y="3575304"/>
            <a:ext cx="2788920" cy="548640"/>
          </a:xfrm>
          <a:prstGeom prst="rect">
            <a:avLst/>
          </a:prstGeom>
          <a:solidFill>
            <a:srgbClr val="FFFFFF"/>
          </a:solidFill>
          <a:ln w="12700">
            <a:solidFill>
              <a:srgbClr val="E4E1ED"/>
            </a:solidFill>
            <a:prstDash val="solid"/>
          </a:ln>
        </p:spPr>
      </p:sp>
      <p:sp>
        <p:nvSpPr>
          <p:cNvPr id="32" name="Text 30"/>
          <p:cNvSpPr/>
          <p:nvPr/>
        </p:nvSpPr>
        <p:spPr>
          <a:xfrm>
            <a:off x="3246120" y="3575304"/>
            <a:ext cx="2788920" cy="548640"/>
          </a:xfrm>
          <a:prstGeom prst="rect">
            <a:avLst/>
          </a:prstGeom>
          <a:noFill/>
          <a:ln/>
        </p:spPr>
        <p:txBody>
          <a:bodyPr wrap="square" lIns="0" tIns="1270" rIns="1270" bIns="0" rtlCol="0" anchor="ctr"/>
          <a:lstStyle/>
          <a:p>
            <a:pPr marL="0" indent="0" algn="ctr">
              <a:buNone/>
            </a:pPr>
            <a:r>
              <a:rPr lang="en-US" sz="1300" dirty="0">
                <a:solidFill>
                  <a:srgbClr val="1B1B23"/>
                </a:solidFill>
                <a:latin typeface="Noto san"/>
                <a:ea typeface="Calibri" pitchFamily="34" charset="-122"/>
                <a:cs typeface="Calibri" pitchFamily="34" charset="-120"/>
              </a:rPr>
              <a:t>✅  Chuẩn nghiệp vụ</a:t>
            </a:r>
            <a:endParaRPr lang="en-US" sz="1300" dirty="0">
              <a:latin typeface="Noto san"/>
            </a:endParaRPr>
          </a:p>
        </p:txBody>
      </p:sp>
      <p:sp>
        <p:nvSpPr>
          <p:cNvPr id="33" name="Shape 31"/>
          <p:cNvSpPr/>
          <p:nvPr/>
        </p:nvSpPr>
        <p:spPr>
          <a:xfrm>
            <a:off x="6126480" y="3575304"/>
            <a:ext cx="2788920" cy="548640"/>
          </a:xfrm>
          <a:prstGeom prst="rect">
            <a:avLst/>
          </a:prstGeom>
          <a:solidFill>
            <a:srgbClr val="FFFFFF"/>
          </a:solidFill>
          <a:ln w="12700">
            <a:solidFill>
              <a:srgbClr val="E4E1ED"/>
            </a:solidFill>
            <a:prstDash val="solid"/>
          </a:ln>
        </p:spPr>
      </p:sp>
      <p:sp>
        <p:nvSpPr>
          <p:cNvPr id="34" name="Text 32"/>
          <p:cNvSpPr/>
          <p:nvPr/>
        </p:nvSpPr>
        <p:spPr>
          <a:xfrm>
            <a:off x="6126480" y="3575304"/>
            <a:ext cx="2788920" cy="548640"/>
          </a:xfrm>
          <a:prstGeom prst="rect">
            <a:avLst/>
          </a:prstGeom>
          <a:noFill/>
          <a:ln/>
        </p:spPr>
        <p:txBody>
          <a:bodyPr wrap="square" lIns="0" tIns="1270" rIns="1270" bIns="0" rtlCol="0" anchor="ctr"/>
          <a:lstStyle/>
          <a:p>
            <a:pPr marL="0" indent="0" algn="ctr">
              <a:buNone/>
            </a:pPr>
            <a:r>
              <a:rPr lang="en-US" sz="1300" dirty="0">
                <a:solidFill>
                  <a:srgbClr val="1B1B23"/>
                </a:solidFill>
                <a:latin typeface="Noto san"/>
                <a:ea typeface="Calibri" pitchFamily="34" charset="-122"/>
                <a:cs typeface="Calibri" pitchFamily="34" charset="-120"/>
              </a:rPr>
              <a:t>❌  Không tối ưu tự đối soát</a:t>
            </a:r>
            <a:endParaRPr lang="en-US" sz="1300" dirty="0">
              <a:latin typeface="Noto san"/>
            </a:endParaRPr>
          </a:p>
        </p:txBody>
      </p:sp>
      <p:sp>
        <p:nvSpPr>
          <p:cNvPr id="35" name="Shape 33"/>
          <p:cNvSpPr/>
          <p:nvPr/>
        </p:nvSpPr>
        <p:spPr>
          <a:xfrm>
            <a:off x="365760" y="4142232"/>
            <a:ext cx="2788920" cy="548640"/>
          </a:xfrm>
          <a:prstGeom prst="rect">
            <a:avLst/>
          </a:prstGeom>
          <a:solidFill>
            <a:srgbClr val="E9DDFF"/>
          </a:solidFill>
          <a:ln w="12700">
            <a:solidFill>
              <a:srgbClr val="E4E1ED"/>
            </a:solidFill>
            <a:prstDash val="solid"/>
          </a:ln>
        </p:spPr>
      </p:sp>
      <p:sp>
        <p:nvSpPr>
          <p:cNvPr id="36" name="Text 34"/>
          <p:cNvSpPr/>
          <p:nvPr/>
        </p:nvSpPr>
        <p:spPr>
          <a:xfrm>
            <a:off x="365760" y="4142232"/>
            <a:ext cx="2788920" cy="548640"/>
          </a:xfrm>
          <a:prstGeom prst="rect">
            <a:avLst/>
          </a:prstGeom>
          <a:noFill/>
          <a:ln/>
        </p:spPr>
        <p:txBody>
          <a:bodyPr wrap="square" lIns="0" tIns="1270" rIns="1270" bIns="0" rtlCol="0" anchor="ctr"/>
          <a:lstStyle/>
          <a:p>
            <a:pPr marL="0" indent="0" algn="l">
              <a:buNone/>
            </a:pPr>
            <a:r>
              <a:rPr lang="en-US" sz="1300" b="1" dirty="0">
                <a:solidFill>
                  <a:srgbClr val="2812AD"/>
                </a:solidFill>
                <a:latin typeface="Noto san"/>
                <a:ea typeface="Calibri" pitchFamily="34" charset="-122"/>
                <a:cs typeface="Calibri" pitchFamily="34" charset="-120"/>
              </a:rPr>
              <a:t>⚡  Scaify</a:t>
            </a:r>
            <a:endParaRPr lang="en-US" sz="1300" dirty="0">
              <a:latin typeface="Noto san"/>
            </a:endParaRPr>
          </a:p>
        </p:txBody>
      </p:sp>
      <p:sp>
        <p:nvSpPr>
          <p:cNvPr id="37" name="Shape 35"/>
          <p:cNvSpPr/>
          <p:nvPr/>
        </p:nvSpPr>
        <p:spPr>
          <a:xfrm>
            <a:off x="3246120" y="4142232"/>
            <a:ext cx="2788920" cy="548640"/>
          </a:xfrm>
          <a:prstGeom prst="rect">
            <a:avLst/>
          </a:prstGeom>
          <a:solidFill>
            <a:srgbClr val="E9DDFF"/>
          </a:solidFill>
          <a:ln w="12700">
            <a:solidFill>
              <a:srgbClr val="E4E1ED"/>
            </a:solidFill>
            <a:prstDash val="solid"/>
          </a:ln>
        </p:spPr>
      </p:sp>
      <p:sp>
        <p:nvSpPr>
          <p:cNvPr id="38" name="Text 36"/>
          <p:cNvSpPr/>
          <p:nvPr/>
        </p:nvSpPr>
        <p:spPr>
          <a:xfrm>
            <a:off x="3246120" y="4142232"/>
            <a:ext cx="2788920" cy="548640"/>
          </a:xfrm>
          <a:prstGeom prst="rect">
            <a:avLst/>
          </a:prstGeom>
          <a:noFill/>
          <a:ln/>
        </p:spPr>
        <p:txBody>
          <a:bodyPr wrap="square" lIns="0" tIns="1270" rIns="1270" bIns="0" rtlCol="0" anchor="ctr"/>
          <a:lstStyle/>
          <a:p>
            <a:pPr marL="0" indent="0" algn="ctr">
              <a:buNone/>
            </a:pPr>
            <a:r>
              <a:rPr lang="en-US" sz="1300" b="1" dirty="0">
                <a:solidFill>
                  <a:srgbClr val="2812AD"/>
                </a:solidFill>
                <a:latin typeface="Noto san"/>
                <a:ea typeface="Calibri" pitchFamily="34" charset="-122"/>
                <a:cs typeface="Calibri" pitchFamily="34" charset="-120"/>
              </a:rPr>
              <a:t>✅  Đối soát CSV ↔ chứng từ</a:t>
            </a:r>
            <a:endParaRPr lang="en-US" sz="1300" dirty="0">
              <a:latin typeface="Noto san"/>
            </a:endParaRPr>
          </a:p>
        </p:txBody>
      </p:sp>
      <p:sp>
        <p:nvSpPr>
          <p:cNvPr id="39" name="Shape 37"/>
          <p:cNvSpPr/>
          <p:nvPr/>
        </p:nvSpPr>
        <p:spPr>
          <a:xfrm>
            <a:off x="6126480" y="4142232"/>
            <a:ext cx="2788920" cy="548640"/>
          </a:xfrm>
          <a:prstGeom prst="rect">
            <a:avLst/>
          </a:prstGeom>
          <a:solidFill>
            <a:srgbClr val="E9DDFF"/>
          </a:solidFill>
          <a:ln w="12700">
            <a:solidFill>
              <a:srgbClr val="E4E1ED"/>
            </a:solidFill>
            <a:prstDash val="solid"/>
          </a:ln>
        </p:spPr>
      </p:sp>
      <p:sp>
        <p:nvSpPr>
          <p:cNvPr id="40" name="Text 38"/>
          <p:cNvSpPr/>
          <p:nvPr/>
        </p:nvSpPr>
        <p:spPr>
          <a:xfrm>
            <a:off x="6126480" y="4142232"/>
            <a:ext cx="2788920" cy="548640"/>
          </a:xfrm>
          <a:prstGeom prst="rect">
            <a:avLst/>
          </a:prstGeom>
          <a:noFill/>
          <a:ln/>
        </p:spPr>
        <p:txBody>
          <a:bodyPr wrap="square" lIns="0" tIns="1270" rIns="1270" bIns="0" rtlCol="0" anchor="ctr"/>
          <a:lstStyle/>
          <a:p>
            <a:pPr marL="0" indent="0" algn="ctr">
              <a:buNone/>
            </a:pPr>
            <a:r>
              <a:rPr lang="en-US" sz="1300" b="1" dirty="0">
                <a:solidFill>
                  <a:srgbClr val="2812AD"/>
                </a:solidFill>
                <a:latin typeface="Noto san"/>
                <a:ea typeface="Calibri" pitchFamily="34" charset="-122"/>
                <a:cs typeface="Calibri" pitchFamily="34" charset="-120"/>
              </a:rPr>
              <a:t>✅  Explain Tax + audit log</a:t>
            </a:r>
            <a:endParaRPr lang="en-US" sz="1300" dirty="0">
              <a:latin typeface="Noto san"/>
            </a:endParaRPr>
          </a:p>
        </p:txBody>
      </p:sp>
      <p:sp>
        <p:nvSpPr>
          <p:cNvPr id="41" name="Text 39"/>
          <p:cNvSpPr/>
          <p:nvPr/>
        </p:nvSpPr>
        <p:spPr>
          <a:xfrm>
            <a:off x="36576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23"/>
        </a:solidFill>
        <a:effectLst/>
      </p:bgPr>
    </p:bg>
    <p:spTree>
      <p:nvGrpSpPr>
        <p:cNvPr id="1" name=""/>
        <p:cNvGrpSpPr/>
        <p:nvPr/>
      </p:nvGrpSpPr>
      <p:grpSpPr>
        <a:xfrm>
          <a:off x="0" y="0"/>
          <a:ext cx="0" cy="0"/>
          <a:chOff x="0" y="0"/>
          <a:chExt cx="0" cy="0"/>
        </a:xfrm>
      </p:grpSpPr>
      <p:sp>
        <p:nvSpPr>
          <p:cNvPr id="2" name="Shape 0"/>
          <p:cNvSpPr/>
          <p:nvPr/>
        </p:nvSpPr>
        <p:spPr>
          <a:xfrm>
            <a:off x="5943600" y="-457200"/>
            <a:ext cx="4114800" cy="4114800"/>
          </a:xfrm>
          <a:prstGeom prst="ellipse">
            <a:avLst/>
          </a:prstGeom>
          <a:solidFill>
            <a:srgbClr val="9B72F9">
              <a:alpha val="10000"/>
            </a:srgbClr>
          </a:solidFill>
          <a:ln w="12700">
            <a:solidFill>
              <a:srgbClr val="9B72F9">
                <a:alpha val="10000"/>
              </a:srgbClr>
            </a:solidFill>
            <a:prstDash val="solid"/>
          </a:ln>
        </p:spPr>
      </p:sp>
      <p:sp>
        <p:nvSpPr>
          <p:cNvPr id="3" name="Text 1"/>
          <p:cNvSpPr/>
          <p:nvPr/>
        </p:nvSpPr>
        <p:spPr>
          <a:xfrm>
            <a:off x="457200" y="274320"/>
            <a:ext cx="8229600" cy="594360"/>
          </a:xfrm>
          <a:prstGeom prst="rect">
            <a:avLst/>
          </a:prstGeom>
          <a:noFill/>
          <a:ln/>
        </p:spPr>
        <p:txBody>
          <a:bodyPr wrap="square" rtlCol="0" anchor="ctr"/>
          <a:lstStyle/>
          <a:p>
            <a:pPr marL="0" indent="0">
              <a:buNone/>
            </a:pPr>
            <a:r>
              <a:rPr lang="en-US" sz="3400" b="1" dirty="0">
                <a:solidFill>
                  <a:srgbClr val="FFFFFF"/>
                </a:solidFill>
                <a:latin typeface="Noto san"/>
                <a:ea typeface="Arial Black" pitchFamily="34" charset="-122"/>
                <a:cs typeface="Arial Black" pitchFamily="34" charset="-120"/>
              </a:rPr>
              <a:t>Mô hình kinh doanh</a:t>
            </a:r>
            <a:endParaRPr lang="en-US" sz="3400" dirty="0">
              <a:latin typeface="Noto san"/>
            </a:endParaRPr>
          </a:p>
        </p:txBody>
      </p:sp>
      <p:sp>
        <p:nvSpPr>
          <p:cNvPr id="4" name="Text 2"/>
          <p:cNvSpPr/>
          <p:nvPr/>
        </p:nvSpPr>
        <p:spPr>
          <a:xfrm>
            <a:off x="457200" y="868680"/>
            <a:ext cx="8229600" cy="365760"/>
          </a:xfrm>
          <a:prstGeom prst="rect">
            <a:avLst/>
          </a:prstGeom>
          <a:noFill/>
          <a:ln/>
        </p:spPr>
        <p:txBody>
          <a:bodyPr wrap="square" rtlCol="0" anchor="ctr"/>
          <a:lstStyle/>
          <a:p>
            <a:pPr marL="0" indent="0">
              <a:buNone/>
            </a:pPr>
            <a:r>
              <a:rPr lang="en-US" sz="1300" i="1" dirty="0">
                <a:solidFill>
                  <a:srgbClr val="C3C0FF"/>
                </a:solidFill>
                <a:latin typeface="Noto san"/>
                <a:ea typeface="Calibri" pitchFamily="34" charset="-122"/>
                <a:cs typeface="Calibri" pitchFamily="34" charset="-120"/>
              </a:rPr>
              <a:t>Ai trả tiền, và vì sao? — Freemium trước, subscription sau, workspace + API là nhánh mở rộng.</a:t>
            </a:r>
            <a:endParaRPr lang="en-US" sz="1300" dirty="0">
              <a:latin typeface="Noto san"/>
            </a:endParaRPr>
          </a:p>
        </p:txBody>
      </p:sp>
      <p:sp>
        <p:nvSpPr>
          <p:cNvPr id="5" name="Shape 3"/>
          <p:cNvSpPr/>
          <p:nvPr/>
        </p:nvSpPr>
        <p:spPr>
          <a:xfrm>
            <a:off x="457200" y="1325880"/>
            <a:ext cx="2651760" cy="3291840"/>
          </a:xfrm>
          <a:prstGeom prst="rect">
            <a:avLst/>
          </a:prstGeom>
          <a:solidFill>
            <a:srgbClr val="FFFFFF">
              <a:alpha val="7000"/>
            </a:srgbClr>
          </a:solidFill>
          <a:ln w="12700">
            <a:solidFill>
              <a:srgbClr val="464554">
                <a:alpha val="70000"/>
              </a:srgbClr>
            </a:solidFill>
            <a:prstDash val="solid"/>
          </a:ln>
          <a:effectLst>
            <a:outerShdw blurRad="101600" dist="38100" dir="8100000" algn="bl" rotWithShape="0">
              <a:srgbClr val="000000">
                <a:alpha val="10000"/>
              </a:srgbClr>
            </a:outerShdw>
          </a:effectLst>
        </p:spPr>
      </p:sp>
      <p:sp>
        <p:nvSpPr>
          <p:cNvPr id="6" name="Shape 4"/>
          <p:cNvSpPr/>
          <p:nvPr/>
        </p:nvSpPr>
        <p:spPr>
          <a:xfrm>
            <a:off x="457200" y="1325880"/>
            <a:ext cx="2651760" cy="685800"/>
          </a:xfrm>
          <a:prstGeom prst="rect">
            <a:avLst/>
          </a:prstGeom>
          <a:solidFill>
            <a:srgbClr val="464554"/>
          </a:solidFill>
          <a:ln w="12700">
            <a:solidFill>
              <a:srgbClr val="464554"/>
            </a:solidFill>
            <a:prstDash val="solid"/>
          </a:ln>
        </p:spPr>
      </p:sp>
      <p:sp>
        <p:nvSpPr>
          <p:cNvPr id="7" name="Text 5"/>
          <p:cNvSpPr/>
          <p:nvPr/>
        </p:nvSpPr>
        <p:spPr>
          <a:xfrm>
            <a:off x="457200" y="1325880"/>
            <a:ext cx="2651760" cy="685800"/>
          </a:xfrm>
          <a:prstGeom prst="rect">
            <a:avLst/>
          </a:prstGeom>
          <a:noFill/>
          <a:ln/>
        </p:spPr>
        <p:txBody>
          <a:bodyPr wrap="square" rtlCol="0" anchor="ctr"/>
          <a:lstStyle/>
          <a:p>
            <a:pPr marL="0" indent="0" algn="ctr">
              <a:buNone/>
            </a:pPr>
            <a:r>
              <a:rPr lang="en-US" sz="1500" b="1" dirty="0">
                <a:solidFill>
                  <a:srgbClr val="FFFFFF"/>
                </a:solidFill>
                <a:latin typeface="Noto san"/>
                <a:ea typeface="Arial" pitchFamily="34" charset="-122"/>
                <a:cs typeface="Arial" pitchFamily="34" charset="-120"/>
              </a:rPr>
              <a:t>Freemium</a:t>
            </a:r>
            <a:endParaRPr lang="en-US" sz="1500" dirty="0">
              <a:latin typeface="Noto san"/>
            </a:endParaRPr>
          </a:p>
        </p:txBody>
      </p:sp>
      <p:sp>
        <p:nvSpPr>
          <p:cNvPr id="8" name="Text 6"/>
          <p:cNvSpPr/>
          <p:nvPr/>
        </p:nvSpPr>
        <p:spPr>
          <a:xfrm>
            <a:off x="457200" y="2057400"/>
            <a:ext cx="2651760" cy="594360"/>
          </a:xfrm>
          <a:prstGeom prst="rect">
            <a:avLst/>
          </a:prstGeom>
          <a:noFill/>
          <a:ln/>
        </p:spPr>
        <p:txBody>
          <a:bodyPr wrap="square" rtlCol="0" anchor="ctr"/>
          <a:lstStyle/>
          <a:p>
            <a:pPr marL="0" indent="0" algn="ctr">
              <a:buNone/>
            </a:pPr>
            <a:r>
              <a:rPr lang="en-US" sz="2200" b="1" dirty="0">
                <a:solidFill>
                  <a:srgbClr val="FFFFFF"/>
                </a:solidFill>
                <a:latin typeface="Noto san"/>
                <a:ea typeface="Arial Black" pitchFamily="34" charset="-122"/>
                <a:cs typeface="Arial Black" pitchFamily="34" charset="-120"/>
              </a:rPr>
              <a:t>0đ / tháng</a:t>
            </a:r>
            <a:endParaRPr lang="en-US" sz="2200" dirty="0">
              <a:latin typeface="Noto san"/>
            </a:endParaRPr>
          </a:p>
        </p:txBody>
      </p:sp>
      <p:sp>
        <p:nvSpPr>
          <p:cNvPr id="9" name="Text 7"/>
          <p:cNvSpPr/>
          <p:nvPr/>
        </p:nvSpPr>
        <p:spPr>
          <a:xfrm>
            <a:off x="594360" y="2743200"/>
            <a:ext cx="2377440" cy="50292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Giới hạn số kỳ hoặc số file</a:t>
            </a:r>
            <a:endParaRPr lang="en-US" sz="1200" dirty="0">
              <a:latin typeface="Noto san"/>
            </a:endParaRPr>
          </a:p>
        </p:txBody>
      </p:sp>
      <p:sp>
        <p:nvSpPr>
          <p:cNvPr id="10" name="Text 8"/>
          <p:cNvSpPr/>
          <p:nvPr/>
        </p:nvSpPr>
        <p:spPr>
          <a:xfrm>
            <a:off x="594360" y="3310128"/>
            <a:ext cx="2377440" cy="50292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Trải nghiệm đối soát cơ bản</a:t>
            </a:r>
            <a:endParaRPr lang="en-US" sz="1200" dirty="0">
              <a:latin typeface="Noto san"/>
            </a:endParaRPr>
          </a:p>
        </p:txBody>
      </p:sp>
      <p:sp>
        <p:nvSpPr>
          <p:cNvPr id="11" name="Text 9"/>
          <p:cNvSpPr/>
          <p:nvPr/>
        </p:nvSpPr>
        <p:spPr>
          <a:xfrm>
            <a:off x="594360" y="3877056"/>
            <a:ext cx="2377440" cy="50292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Nhìn thấy giá trị trước khi trả tiền</a:t>
            </a:r>
            <a:endParaRPr lang="en-US" sz="1200" dirty="0">
              <a:latin typeface="Noto san"/>
            </a:endParaRPr>
          </a:p>
        </p:txBody>
      </p:sp>
      <p:sp>
        <p:nvSpPr>
          <p:cNvPr id="12" name="Shape 10"/>
          <p:cNvSpPr/>
          <p:nvPr/>
        </p:nvSpPr>
        <p:spPr>
          <a:xfrm>
            <a:off x="3337560" y="1325880"/>
            <a:ext cx="2651760" cy="3291840"/>
          </a:xfrm>
          <a:prstGeom prst="rect">
            <a:avLst/>
          </a:prstGeom>
          <a:solidFill>
            <a:srgbClr val="FFFFFF">
              <a:alpha val="7000"/>
            </a:srgbClr>
          </a:solidFill>
          <a:ln w="12700">
            <a:solidFill>
              <a:srgbClr val="4136C3">
                <a:alpha val="70000"/>
              </a:srgbClr>
            </a:solidFill>
            <a:prstDash val="solid"/>
          </a:ln>
          <a:effectLst>
            <a:outerShdw blurRad="101600" dist="38100" dir="8100000" algn="bl" rotWithShape="0">
              <a:srgbClr val="000000">
                <a:alpha val="10000"/>
              </a:srgbClr>
            </a:outerShdw>
          </a:effectLst>
        </p:spPr>
      </p:sp>
      <p:sp>
        <p:nvSpPr>
          <p:cNvPr id="13" name="Shape 11"/>
          <p:cNvSpPr/>
          <p:nvPr/>
        </p:nvSpPr>
        <p:spPr>
          <a:xfrm>
            <a:off x="3337560" y="1325880"/>
            <a:ext cx="2651760" cy="685800"/>
          </a:xfrm>
          <a:prstGeom prst="rect">
            <a:avLst/>
          </a:prstGeom>
          <a:solidFill>
            <a:srgbClr val="4136C3"/>
          </a:solidFill>
          <a:ln w="12700">
            <a:solidFill>
              <a:srgbClr val="4136C3"/>
            </a:solidFill>
            <a:prstDash val="solid"/>
          </a:ln>
        </p:spPr>
      </p:sp>
      <p:sp>
        <p:nvSpPr>
          <p:cNvPr id="14" name="Text 12"/>
          <p:cNvSpPr/>
          <p:nvPr/>
        </p:nvSpPr>
        <p:spPr>
          <a:xfrm>
            <a:off x="3337560" y="1325880"/>
            <a:ext cx="2651760" cy="685800"/>
          </a:xfrm>
          <a:prstGeom prst="rect">
            <a:avLst/>
          </a:prstGeom>
          <a:noFill/>
          <a:ln/>
        </p:spPr>
        <p:txBody>
          <a:bodyPr wrap="square" rtlCol="0" anchor="ctr"/>
          <a:lstStyle/>
          <a:p>
            <a:pPr marL="0" indent="0" algn="ctr">
              <a:buNone/>
            </a:pPr>
            <a:r>
              <a:rPr lang="en-US" sz="1500" b="1" dirty="0">
                <a:solidFill>
                  <a:srgbClr val="FFFFFF"/>
                </a:solidFill>
                <a:latin typeface="Noto san"/>
                <a:ea typeface="Arial" pitchFamily="34" charset="-122"/>
                <a:cs typeface="Arial" pitchFamily="34" charset="-120"/>
              </a:rPr>
              <a:t>Subscription ⭐</a:t>
            </a:r>
            <a:endParaRPr lang="en-US" sz="1500" dirty="0">
              <a:latin typeface="Noto san"/>
            </a:endParaRPr>
          </a:p>
        </p:txBody>
      </p:sp>
      <p:sp>
        <p:nvSpPr>
          <p:cNvPr id="15" name="Text 13"/>
          <p:cNvSpPr/>
          <p:nvPr/>
        </p:nvSpPr>
        <p:spPr>
          <a:xfrm>
            <a:off x="3337560" y="2057400"/>
            <a:ext cx="2651760" cy="594360"/>
          </a:xfrm>
          <a:prstGeom prst="rect">
            <a:avLst/>
          </a:prstGeom>
          <a:noFill/>
          <a:ln/>
        </p:spPr>
        <p:txBody>
          <a:bodyPr wrap="square" rtlCol="0" anchor="ctr"/>
          <a:lstStyle/>
          <a:p>
            <a:pPr marL="0" indent="0" algn="ctr">
              <a:buNone/>
            </a:pPr>
            <a:r>
              <a:rPr lang="en-US" sz="2200" b="1" dirty="0">
                <a:solidFill>
                  <a:srgbClr val="FFFFFF"/>
                </a:solidFill>
                <a:latin typeface="Noto san"/>
                <a:ea typeface="Arial Black" pitchFamily="34" charset="-122"/>
                <a:cs typeface="Arial Black" pitchFamily="34" charset="-120"/>
              </a:rPr>
              <a:t>299k / tháng</a:t>
            </a:r>
            <a:endParaRPr lang="en-US" sz="2200" dirty="0">
              <a:latin typeface="Noto san"/>
            </a:endParaRPr>
          </a:p>
        </p:txBody>
      </p:sp>
      <p:sp>
        <p:nvSpPr>
          <p:cNvPr id="16" name="Text 14"/>
          <p:cNvSpPr/>
          <p:nvPr/>
        </p:nvSpPr>
        <p:spPr>
          <a:xfrm>
            <a:off x="3474720" y="2743200"/>
            <a:ext cx="2377440" cy="50292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Không giới hạn kỳ đối soát</a:t>
            </a:r>
            <a:endParaRPr lang="en-US" sz="1200" dirty="0">
              <a:latin typeface="Noto san"/>
            </a:endParaRPr>
          </a:p>
        </p:txBody>
      </p:sp>
      <p:sp>
        <p:nvSpPr>
          <p:cNvPr id="17" name="Text 15"/>
          <p:cNvSpPr/>
          <p:nvPr/>
        </p:nvSpPr>
        <p:spPr>
          <a:xfrm>
            <a:off x="3474720" y="3310128"/>
            <a:ext cx="2377440" cy="50292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Đối soát CSV ↔ chứng từ</a:t>
            </a:r>
            <a:endParaRPr lang="en-US" sz="1200" dirty="0">
              <a:latin typeface="Noto san"/>
            </a:endParaRPr>
          </a:p>
        </p:txBody>
      </p:sp>
      <p:sp>
        <p:nvSpPr>
          <p:cNvPr id="18" name="Text 16"/>
          <p:cNvSpPr/>
          <p:nvPr/>
        </p:nvSpPr>
        <p:spPr>
          <a:xfrm>
            <a:off x="3474720" y="3877056"/>
            <a:ext cx="2377440" cy="50292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Explain Tax đầy đủ</a:t>
            </a:r>
            <a:endParaRPr lang="en-US" sz="1200" dirty="0">
              <a:latin typeface="Noto san"/>
            </a:endParaRPr>
          </a:p>
        </p:txBody>
      </p:sp>
      <p:sp>
        <p:nvSpPr>
          <p:cNvPr id="19" name="Shape 17"/>
          <p:cNvSpPr/>
          <p:nvPr/>
        </p:nvSpPr>
        <p:spPr>
          <a:xfrm>
            <a:off x="6217920" y="1325880"/>
            <a:ext cx="2651760" cy="3291840"/>
          </a:xfrm>
          <a:prstGeom prst="rect">
            <a:avLst/>
          </a:prstGeom>
          <a:solidFill>
            <a:srgbClr val="FFFFFF">
              <a:alpha val="7000"/>
            </a:srgbClr>
          </a:solidFill>
          <a:ln w="12700">
            <a:solidFill>
              <a:srgbClr val="734AA4">
                <a:alpha val="70000"/>
              </a:srgbClr>
            </a:solidFill>
            <a:prstDash val="solid"/>
          </a:ln>
          <a:effectLst>
            <a:outerShdw blurRad="101600" dist="38100" dir="8100000" algn="bl" rotWithShape="0">
              <a:srgbClr val="000000">
                <a:alpha val="10000"/>
              </a:srgbClr>
            </a:outerShdw>
          </a:effectLst>
        </p:spPr>
      </p:sp>
      <p:sp>
        <p:nvSpPr>
          <p:cNvPr id="20" name="Shape 18"/>
          <p:cNvSpPr/>
          <p:nvPr/>
        </p:nvSpPr>
        <p:spPr>
          <a:xfrm>
            <a:off x="6217920" y="1325880"/>
            <a:ext cx="2651760" cy="685800"/>
          </a:xfrm>
          <a:prstGeom prst="rect">
            <a:avLst/>
          </a:prstGeom>
          <a:solidFill>
            <a:srgbClr val="734AA4"/>
          </a:solidFill>
          <a:ln w="12700">
            <a:solidFill>
              <a:srgbClr val="734AA4"/>
            </a:solidFill>
            <a:prstDash val="solid"/>
          </a:ln>
        </p:spPr>
      </p:sp>
      <p:sp>
        <p:nvSpPr>
          <p:cNvPr id="21" name="Text 19"/>
          <p:cNvSpPr/>
          <p:nvPr/>
        </p:nvSpPr>
        <p:spPr>
          <a:xfrm>
            <a:off x="6217920" y="1325880"/>
            <a:ext cx="2651760" cy="685800"/>
          </a:xfrm>
          <a:prstGeom prst="rect">
            <a:avLst/>
          </a:prstGeom>
          <a:noFill/>
          <a:ln/>
        </p:spPr>
        <p:txBody>
          <a:bodyPr wrap="square"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Workspace + API</a:t>
            </a:r>
            <a:endParaRPr lang="en-US" sz="1500" dirty="0"/>
          </a:p>
        </p:txBody>
      </p:sp>
      <p:sp>
        <p:nvSpPr>
          <p:cNvPr id="22" name="Text 20"/>
          <p:cNvSpPr/>
          <p:nvPr/>
        </p:nvSpPr>
        <p:spPr>
          <a:xfrm>
            <a:off x="6217920" y="2057400"/>
            <a:ext cx="2651760" cy="594360"/>
          </a:xfrm>
          <a:prstGeom prst="rect">
            <a:avLst/>
          </a:prstGeom>
          <a:noFill/>
          <a:ln/>
        </p:spPr>
        <p:txBody>
          <a:bodyPr wrap="square" rtlCol="0" anchor="ctr"/>
          <a:lstStyle/>
          <a:p>
            <a:pPr marL="0" indent="0" algn="ctr">
              <a:buNone/>
            </a:pPr>
            <a:r>
              <a:rPr lang="en-US" sz="2200" b="1" dirty="0">
                <a:solidFill>
                  <a:srgbClr val="FFFFFF"/>
                </a:solidFill>
                <a:latin typeface="Arial Black" pitchFamily="34" charset="0"/>
                <a:ea typeface="Arial Black" pitchFamily="34" charset="-122"/>
                <a:cs typeface="Arial Black" pitchFamily="34" charset="-120"/>
              </a:rPr>
              <a:t>Tùy nhu cầu</a:t>
            </a:r>
            <a:endParaRPr lang="en-US" sz="2200" dirty="0"/>
          </a:p>
        </p:txBody>
      </p:sp>
      <p:sp>
        <p:nvSpPr>
          <p:cNvPr id="23" name="Text 21"/>
          <p:cNvSpPr/>
          <p:nvPr/>
        </p:nvSpPr>
        <p:spPr>
          <a:xfrm>
            <a:off x="6355080" y="2743200"/>
            <a:ext cx="2377440" cy="502920"/>
          </a:xfrm>
          <a:prstGeom prst="rect">
            <a:avLst/>
          </a:prstGeom>
          <a:noFill/>
          <a:ln/>
        </p:spPr>
        <p:txBody>
          <a:bodyPr wrap="square" rtlCol="0" anchor="ctr"/>
          <a:lstStyle/>
          <a:p>
            <a:pPr marL="0" indent="0">
              <a:buNone/>
            </a:pPr>
            <a:r>
              <a:rPr lang="en-US" sz="1200" dirty="0">
                <a:solidFill>
                  <a:srgbClr val="C3C0FF"/>
                </a:solidFill>
                <a:latin typeface="Calibri" pitchFamily="34" charset="0"/>
                <a:ea typeface="Calibri" pitchFamily="34" charset="-122"/>
                <a:cs typeface="Calibri" pitchFamily="34" charset="-120"/>
              </a:rPr>
              <a:t>✓  Mở rộng sau pilot lõi</a:t>
            </a:r>
            <a:endParaRPr lang="en-US" sz="1200" dirty="0"/>
          </a:p>
        </p:txBody>
      </p:sp>
      <p:sp>
        <p:nvSpPr>
          <p:cNvPr id="24" name="Text 22"/>
          <p:cNvSpPr/>
          <p:nvPr/>
        </p:nvSpPr>
        <p:spPr>
          <a:xfrm>
            <a:off x="6355080" y="3310128"/>
            <a:ext cx="2377440" cy="502920"/>
          </a:xfrm>
          <a:prstGeom prst="rect">
            <a:avLst/>
          </a:prstGeom>
          <a:noFill/>
          <a:ln/>
        </p:spPr>
        <p:txBody>
          <a:bodyPr wrap="square" rtlCol="0" anchor="ctr"/>
          <a:lstStyle/>
          <a:p>
            <a:pPr marL="0" indent="0">
              <a:buNone/>
            </a:pPr>
            <a:r>
              <a:rPr lang="en-US" sz="1200" dirty="0">
                <a:solidFill>
                  <a:srgbClr val="C3C0FF"/>
                </a:solidFill>
                <a:latin typeface="Calibri" pitchFamily="34" charset="0"/>
                <a:ea typeface="Calibri" pitchFamily="34" charset="-122"/>
                <a:cs typeface="Calibri" pitchFamily="34" charset="-120"/>
              </a:rPr>
              <a:t>✓  Nhiều shop, API tích hợp</a:t>
            </a:r>
            <a:endParaRPr lang="en-US" sz="1200" dirty="0"/>
          </a:p>
        </p:txBody>
      </p:sp>
      <p:sp>
        <p:nvSpPr>
          <p:cNvPr id="25" name="Text 23"/>
          <p:cNvSpPr/>
          <p:nvPr/>
        </p:nvSpPr>
        <p:spPr>
          <a:xfrm>
            <a:off x="6355080" y="3877056"/>
            <a:ext cx="2377440" cy="502920"/>
          </a:xfrm>
          <a:prstGeom prst="rect">
            <a:avLst/>
          </a:prstGeom>
          <a:noFill/>
          <a:ln/>
        </p:spPr>
        <p:txBody>
          <a:bodyPr wrap="square" rtlCol="0" anchor="ctr"/>
          <a:lstStyle/>
          <a:p>
            <a:pPr marL="0" indent="0">
              <a:buNone/>
            </a:pPr>
            <a:r>
              <a:rPr lang="en-US" sz="1200" dirty="0">
                <a:solidFill>
                  <a:srgbClr val="C3C0FF"/>
                </a:solidFill>
                <a:latin typeface="Calibri" pitchFamily="34" charset="0"/>
                <a:ea typeface="Calibri" pitchFamily="34" charset="-122"/>
                <a:cs typeface="Calibri" pitchFamily="34" charset="-120"/>
              </a:rPr>
              <a:t>✓  Khai thác sau khi chứng minh nhu cầu</a:t>
            </a:r>
            <a:endParaRPr lang="en-US" sz="1200" dirty="0"/>
          </a:p>
        </p:txBody>
      </p:sp>
      <p:sp>
        <p:nvSpPr>
          <p:cNvPr id="26" name="Text 24"/>
          <p:cNvSpPr/>
          <p:nvPr/>
        </p:nvSpPr>
        <p:spPr>
          <a:xfrm>
            <a:off x="45720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812AD"/>
          </a:solidFill>
          <a:ln w="12700">
            <a:solidFill>
              <a:srgbClr val="2812AD"/>
            </a:solidFill>
            <a:prstDash val="solid"/>
          </a:ln>
        </p:spPr>
      </p:sp>
      <p:sp>
        <p:nvSpPr>
          <p:cNvPr id="3" name="Text 1"/>
          <p:cNvSpPr/>
          <p:nvPr/>
        </p:nvSpPr>
        <p:spPr>
          <a:xfrm>
            <a:off x="365760" y="228600"/>
            <a:ext cx="8412480" cy="594360"/>
          </a:xfrm>
          <a:prstGeom prst="rect">
            <a:avLst/>
          </a:prstGeom>
          <a:noFill/>
          <a:ln/>
        </p:spPr>
        <p:txBody>
          <a:bodyPr wrap="square" rtlCol="0" anchor="ctr"/>
          <a:lstStyle/>
          <a:p>
            <a:pPr marL="0" indent="0">
              <a:buNone/>
            </a:pPr>
            <a:r>
              <a:rPr lang="en-US" sz="3000" b="1" dirty="0">
                <a:solidFill>
                  <a:srgbClr val="1B1B23"/>
                </a:solidFill>
                <a:latin typeface="Noto san"/>
                <a:ea typeface="Arial Black" pitchFamily="34" charset="-122"/>
                <a:cs typeface="Arial Black" pitchFamily="34" charset="-120"/>
              </a:rPr>
              <a:t>Traction &amp; Hiện trạng</a:t>
            </a:r>
            <a:endParaRPr lang="en-US" sz="3000" dirty="0">
              <a:latin typeface="Noto san"/>
            </a:endParaRPr>
          </a:p>
        </p:txBody>
      </p:sp>
      <p:sp>
        <p:nvSpPr>
          <p:cNvPr id="4" name="Text 2"/>
          <p:cNvSpPr/>
          <p:nvPr/>
        </p:nvSpPr>
        <p:spPr>
          <a:xfrm>
            <a:off x="365760" y="822960"/>
            <a:ext cx="8412480" cy="365760"/>
          </a:xfrm>
          <a:prstGeom prst="rect">
            <a:avLst/>
          </a:prstGeom>
          <a:noFill/>
          <a:ln/>
        </p:spPr>
        <p:txBody>
          <a:bodyPr wrap="square" rtlCol="0" anchor="ctr"/>
          <a:lstStyle/>
          <a:p>
            <a:pPr marL="0" indent="0">
              <a:buNone/>
            </a:pPr>
            <a:r>
              <a:rPr lang="en-US" sz="1300" i="1" dirty="0">
                <a:solidFill>
                  <a:srgbClr val="777586"/>
                </a:solidFill>
                <a:latin typeface="Noto san"/>
                <a:ea typeface="Calibri" pitchFamily="34" charset="-122"/>
                <a:cs typeface="Calibri" pitchFamily="34" charset="-120"/>
              </a:rPr>
              <a:t>Traction ở giai đoạn này: luồng sản phẩm chạy end-to-end, có log, có phản hồi và có thể lặp lại trong pilot thật.</a:t>
            </a:r>
            <a:endParaRPr lang="en-US" sz="1300" dirty="0">
              <a:latin typeface="Noto san"/>
            </a:endParaRPr>
          </a:p>
        </p:txBody>
      </p:sp>
      <p:sp>
        <p:nvSpPr>
          <p:cNvPr id="5" name="Shape 3"/>
          <p:cNvSpPr/>
          <p:nvPr/>
        </p:nvSpPr>
        <p:spPr>
          <a:xfrm>
            <a:off x="365760" y="1234440"/>
            <a:ext cx="2286000" cy="1645920"/>
          </a:xfrm>
          <a:prstGeom prst="rect">
            <a:avLst/>
          </a:prstGeom>
          <a:solidFill>
            <a:srgbClr val="2812AD"/>
          </a:solidFill>
          <a:ln w="12700">
            <a:solidFill>
              <a:srgbClr val="2812AD"/>
            </a:solidFill>
            <a:prstDash val="solid"/>
          </a:ln>
          <a:effectLst>
            <a:outerShdw blurRad="101600" dist="38100" dir="8100000" algn="bl" rotWithShape="0">
              <a:srgbClr val="000000">
                <a:alpha val="10000"/>
              </a:srgbClr>
            </a:outerShdw>
          </a:effectLst>
        </p:spPr>
      </p:sp>
      <p:sp>
        <p:nvSpPr>
          <p:cNvPr id="6" name="Text 4"/>
          <p:cNvSpPr/>
          <p:nvPr/>
        </p:nvSpPr>
        <p:spPr>
          <a:xfrm>
            <a:off x="365760" y="1234440"/>
            <a:ext cx="2286000" cy="822960"/>
          </a:xfrm>
          <a:prstGeom prst="rect">
            <a:avLst/>
          </a:prstGeom>
          <a:noFill/>
          <a:ln/>
        </p:spPr>
        <p:txBody>
          <a:bodyPr wrap="square" rtlCol="0" anchor="ctr"/>
          <a:lstStyle/>
          <a:p>
            <a:pPr marL="0" indent="0" algn="ctr">
              <a:buNone/>
            </a:pPr>
            <a:r>
              <a:rPr lang="en-US" sz="6400" b="1" dirty="0">
                <a:solidFill>
                  <a:srgbClr val="FFFFFF"/>
                </a:solidFill>
                <a:latin typeface="Noto san"/>
                <a:ea typeface="Arial Black" pitchFamily="34" charset="-122"/>
                <a:cs typeface="Arial Black" pitchFamily="34" charset="-120"/>
              </a:rPr>
              <a:t>1</a:t>
            </a:r>
            <a:endParaRPr lang="en-US" sz="6400" dirty="0">
              <a:latin typeface="Noto san"/>
            </a:endParaRPr>
          </a:p>
        </p:txBody>
      </p:sp>
      <p:sp>
        <p:nvSpPr>
          <p:cNvPr id="7" name="Text 5"/>
          <p:cNvSpPr/>
          <p:nvPr/>
        </p:nvSpPr>
        <p:spPr>
          <a:xfrm>
            <a:off x="365760" y="1920240"/>
            <a:ext cx="2286000" cy="594360"/>
          </a:xfrm>
          <a:prstGeom prst="rect">
            <a:avLst/>
          </a:prstGeom>
          <a:noFill/>
          <a:ln/>
        </p:spPr>
        <p:txBody>
          <a:bodyPr wrap="square" rtlCol="0" anchor="ctr"/>
          <a:lstStyle/>
          <a:p>
            <a:pPr marL="0" indent="0" algn="ctr">
              <a:buNone/>
            </a:pPr>
            <a:r>
              <a:rPr lang="en-US" sz="1200" dirty="0">
                <a:solidFill>
                  <a:srgbClr val="C3C0FF"/>
                </a:solidFill>
                <a:latin typeface="Noto san"/>
                <a:ea typeface="Calibri" pitchFamily="34" charset="-122"/>
                <a:cs typeface="Calibri" pitchFamily="34" charset="-120"/>
              </a:rPr>
              <a:t>Luồng end-to-end</a:t>
            </a:r>
            <a:endParaRPr lang="en-US" sz="1200" dirty="0">
              <a:latin typeface="Noto san"/>
            </a:endParaRPr>
          </a:p>
          <a:p>
            <a:pPr marL="0" indent="0" algn="ctr">
              <a:buNone/>
            </a:pPr>
            <a:r>
              <a:rPr lang="en-US" sz="1200" dirty="0">
                <a:solidFill>
                  <a:srgbClr val="C3C0FF"/>
                </a:solidFill>
                <a:latin typeface="Noto san"/>
                <a:ea typeface="Calibri" pitchFamily="34" charset="-122"/>
                <a:cs typeface="Calibri" pitchFamily="34" charset="-120"/>
              </a:rPr>
              <a:t>complete</a:t>
            </a:r>
            <a:endParaRPr lang="en-US" sz="1200" dirty="0">
              <a:latin typeface="Noto san"/>
            </a:endParaRPr>
          </a:p>
        </p:txBody>
      </p:sp>
      <p:sp>
        <p:nvSpPr>
          <p:cNvPr id="8" name="Shape 6"/>
          <p:cNvSpPr/>
          <p:nvPr/>
        </p:nvSpPr>
        <p:spPr>
          <a:xfrm>
            <a:off x="2926080" y="1298448"/>
            <a:ext cx="292608" cy="292608"/>
          </a:xfrm>
          <a:prstGeom prst="ellipse">
            <a:avLst/>
          </a:prstGeom>
          <a:solidFill>
            <a:srgbClr val="2812AD"/>
          </a:solidFill>
          <a:ln w="12700">
            <a:solidFill>
              <a:srgbClr val="2812AD"/>
            </a:solidFill>
            <a:prstDash val="solid"/>
          </a:ln>
        </p:spPr>
      </p:sp>
      <p:sp>
        <p:nvSpPr>
          <p:cNvPr id="9" name="Text 7"/>
          <p:cNvSpPr/>
          <p:nvPr/>
        </p:nvSpPr>
        <p:spPr>
          <a:xfrm>
            <a:off x="2926080" y="1298448"/>
            <a:ext cx="292608" cy="292608"/>
          </a:xfrm>
          <a:prstGeom prst="rect">
            <a:avLst/>
          </a:prstGeom>
          <a:noFill/>
          <a:ln/>
        </p:spPr>
        <p:txBody>
          <a:bodyPr wrap="square" rtlCol="0" anchor="ctr"/>
          <a:lstStyle/>
          <a:p>
            <a:pPr marL="0" indent="0" algn="ctr">
              <a:buNone/>
            </a:pPr>
            <a:r>
              <a:rPr lang="en-US" sz="1100" dirty="0">
                <a:solidFill>
                  <a:srgbClr val="FFFFFF"/>
                </a:solidFill>
                <a:latin typeface="Noto san"/>
              </a:rPr>
              <a:t>✓</a:t>
            </a:r>
            <a:endParaRPr lang="en-US" sz="1100" dirty="0">
              <a:latin typeface="Noto san"/>
            </a:endParaRPr>
          </a:p>
        </p:txBody>
      </p:sp>
      <p:sp>
        <p:nvSpPr>
          <p:cNvPr id="10" name="Text 8"/>
          <p:cNvSpPr/>
          <p:nvPr/>
        </p:nvSpPr>
        <p:spPr>
          <a:xfrm>
            <a:off x="3337560" y="1298448"/>
            <a:ext cx="5394960" cy="365760"/>
          </a:xfrm>
          <a:prstGeom prst="rect">
            <a:avLst/>
          </a:prstGeom>
          <a:noFill/>
          <a:ln/>
        </p:spPr>
        <p:txBody>
          <a:bodyPr wrap="square" lIns="0" tIns="0" rIns="0" bIns="0" rtlCol="0" anchor="ctr"/>
          <a:lstStyle/>
          <a:p>
            <a:pPr marL="0" indent="0">
              <a:buNone/>
            </a:pPr>
            <a:r>
              <a:rPr lang="en-US" sz="1300" dirty="0">
                <a:solidFill>
                  <a:srgbClr val="1B1B23"/>
                </a:solidFill>
                <a:latin typeface="Noto san"/>
                <a:ea typeface="Calibri" pitchFamily="34" charset="-122"/>
                <a:cs typeface="Calibri" pitchFamily="34" charset="-120"/>
              </a:rPr>
              <a:t>Pipeline chạy được: Upload → OCR → Đối soát → Cảnh báo → Hồ sơ kỳ</a:t>
            </a:r>
            <a:endParaRPr lang="en-US" sz="1300" dirty="0">
              <a:latin typeface="Noto san"/>
            </a:endParaRPr>
          </a:p>
        </p:txBody>
      </p:sp>
      <p:sp>
        <p:nvSpPr>
          <p:cNvPr id="11" name="Shape 9"/>
          <p:cNvSpPr/>
          <p:nvPr/>
        </p:nvSpPr>
        <p:spPr>
          <a:xfrm>
            <a:off x="2926080" y="1737360"/>
            <a:ext cx="292608" cy="292608"/>
          </a:xfrm>
          <a:prstGeom prst="ellipse">
            <a:avLst/>
          </a:prstGeom>
          <a:solidFill>
            <a:srgbClr val="2812AD"/>
          </a:solidFill>
          <a:ln w="12700">
            <a:solidFill>
              <a:srgbClr val="2812AD"/>
            </a:solidFill>
            <a:prstDash val="solid"/>
          </a:ln>
        </p:spPr>
      </p:sp>
      <p:sp>
        <p:nvSpPr>
          <p:cNvPr id="12" name="Text 10"/>
          <p:cNvSpPr/>
          <p:nvPr/>
        </p:nvSpPr>
        <p:spPr>
          <a:xfrm>
            <a:off x="2926080" y="1737360"/>
            <a:ext cx="292608" cy="292608"/>
          </a:xfrm>
          <a:prstGeom prst="rect">
            <a:avLst/>
          </a:prstGeom>
          <a:noFill/>
          <a:ln/>
        </p:spPr>
        <p:txBody>
          <a:bodyPr wrap="square" rtlCol="0" anchor="ctr"/>
          <a:lstStyle/>
          <a:p>
            <a:pPr marL="0" indent="0" algn="ctr">
              <a:buNone/>
            </a:pPr>
            <a:r>
              <a:rPr lang="en-US" sz="1100" dirty="0">
                <a:solidFill>
                  <a:srgbClr val="FFFFFF"/>
                </a:solidFill>
                <a:latin typeface="Noto san"/>
              </a:rPr>
              <a:t>✓</a:t>
            </a:r>
            <a:endParaRPr lang="en-US" sz="1100" dirty="0">
              <a:latin typeface="Noto san"/>
            </a:endParaRPr>
          </a:p>
        </p:txBody>
      </p:sp>
      <p:sp>
        <p:nvSpPr>
          <p:cNvPr id="13" name="Text 11"/>
          <p:cNvSpPr/>
          <p:nvPr/>
        </p:nvSpPr>
        <p:spPr>
          <a:xfrm>
            <a:off x="3337560" y="1737360"/>
            <a:ext cx="5394960" cy="365760"/>
          </a:xfrm>
          <a:prstGeom prst="rect">
            <a:avLst/>
          </a:prstGeom>
          <a:noFill/>
          <a:ln/>
        </p:spPr>
        <p:txBody>
          <a:bodyPr wrap="square" lIns="0" tIns="0" rIns="0" bIns="0" rtlCol="0" anchor="ctr"/>
          <a:lstStyle/>
          <a:p>
            <a:pPr marL="0" indent="0">
              <a:buNone/>
            </a:pPr>
            <a:r>
              <a:rPr lang="en-US" sz="1300" dirty="0">
                <a:solidFill>
                  <a:srgbClr val="1B1B23"/>
                </a:solidFill>
                <a:latin typeface="Noto san"/>
                <a:ea typeface="Calibri" pitchFamily="34" charset="-122"/>
                <a:cs typeface="Calibri" pitchFamily="34" charset="-120"/>
              </a:rPr>
              <a:t>Test tự động: pipeline, compliance score và lớp giải thích</a:t>
            </a:r>
            <a:endParaRPr lang="en-US" sz="1300" dirty="0">
              <a:latin typeface="Noto san"/>
            </a:endParaRPr>
          </a:p>
        </p:txBody>
      </p:sp>
      <p:sp>
        <p:nvSpPr>
          <p:cNvPr id="14" name="Shape 12"/>
          <p:cNvSpPr/>
          <p:nvPr/>
        </p:nvSpPr>
        <p:spPr>
          <a:xfrm>
            <a:off x="2926080" y="2176272"/>
            <a:ext cx="292608" cy="292608"/>
          </a:xfrm>
          <a:prstGeom prst="ellipse">
            <a:avLst/>
          </a:prstGeom>
          <a:solidFill>
            <a:srgbClr val="2812AD"/>
          </a:solidFill>
          <a:ln w="12700">
            <a:solidFill>
              <a:srgbClr val="2812AD"/>
            </a:solidFill>
            <a:prstDash val="solid"/>
          </a:ln>
        </p:spPr>
      </p:sp>
      <p:sp>
        <p:nvSpPr>
          <p:cNvPr id="15" name="Text 13"/>
          <p:cNvSpPr/>
          <p:nvPr/>
        </p:nvSpPr>
        <p:spPr>
          <a:xfrm>
            <a:off x="2926080" y="2176272"/>
            <a:ext cx="292608" cy="292608"/>
          </a:xfrm>
          <a:prstGeom prst="rect">
            <a:avLst/>
          </a:prstGeom>
          <a:noFill/>
          <a:ln/>
        </p:spPr>
        <p:txBody>
          <a:bodyPr wrap="square" rtlCol="0" anchor="ctr"/>
          <a:lstStyle/>
          <a:p>
            <a:pPr marL="0" indent="0" algn="ctr">
              <a:buNone/>
            </a:pPr>
            <a:r>
              <a:rPr lang="en-US" sz="1100" dirty="0">
                <a:solidFill>
                  <a:srgbClr val="FFFFFF"/>
                </a:solidFill>
                <a:latin typeface="Noto san"/>
              </a:rPr>
              <a:t>✓</a:t>
            </a:r>
            <a:endParaRPr lang="en-US" sz="1100" dirty="0">
              <a:latin typeface="Noto san"/>
            </a:endParaRPr>
          </a:p>
        </p:txBody>
      </p:sp>
      <p:sp>
        <p:nvSpPr>
          <p:cNvPr id="16" name="Text 14"/>
          <p:cNvSpPr/>
          <p:nvPr/>
        </p:nvSpPr>
        <p:spPr>
          <a:xfrm>
            <a:off x="3337560" y="2176272"/>
            <a:ext cx="5394960" cy="365760"/>
          </a:xfrm>
          <a:prstGeom prst="rect">
            <a:avLst/>
          </a:prstGeom>
          <a:noFill/>
          <a:ln/>
        </p:spPr>
        <p:txBody>
          <a:bodyPr wrap="square" lIns="0" tIns="0" rIns="0" bIns="0" rtlCol="0" anchor="ctr"/>
          <a:lstStyle/>
          <a:p>
            <a:pPr marL="0" indent="0">
              <a:buNone/>
            </a:pPr>
            <a:r>
              <a:rPr lang="en-US" sz="1300" dirty="0">
                <a:solidFill>
                  <a:srgbClr val="1B1B23"/>
                </a:solidFill>
                <a:latin typeface="Noto san"/>
                <a:ea typeface="Calibri" pitchFamily="34" charset="-122"/>
                <a:cs typeface="Calibri" pitchFamily="34" charset="-120"/>
              </a:rPr>
              <a:t>Demo nội bộ với log phản hồi để tiếp tục lặp sản phẩm</a:t>
            </a:r>
            <a:endParaRPr lang="en-US" sz="1300" dirty="0">
              <a:latin typeface="Noto san"/>
            </a:endParaRPr>
          </a:p>
        </p:txBody>
      </p:sp>
      <p:sp>
        <p:nvSpPr>
          <p:cNvPr id="17" name="Shape 15"/>
          <p:cNvSpPr/>
          <p:nvPr/>
        </p:nvSpPr>
        <p:spPr>
          <a:xfrm>
            <a:off x="2926080" y="2615184"/>
            <a:ext cx="292608" cy="292608"/>
          </a:xfrm>
          <a:prstGeom prst="ellipse">
            <a:avLst/>
          </a:prstGeom>
          <a:solidFill>
            <a:srgbClr val="2812AD"/>
          </a:solidFill>
          <a:ln w="12700">
            <a:solidFill>
              <a:srgbClr val="2812AD"/>
            </a:solidFill>
            <a:prstDash val="solid"/>
          </a:ln>
        </p:spPr>
      </p:sp>
      <p:sp>
        <p:nvSpPr>
          <p:cNvPr id="18" name="Text 16"/>
          <p:cNvSpPr/>
          <p:nvPr/>
        </p:nvSpPr>
        <p:spPr>
          <a:xfrm>
            <a:off x="2926080" y="2615184"/>
            <a:ext cx="292608" cy="292608"/>
          </a:xfrm>
          <a:prstGeom prst="rect">
            <a:avLst/>
          </a:prstGeom>
          <a:noFill/>
          <a:ln/>
        </p:spPr>
        <p:txBody>
          <a:bodyPr wrap="square" rtlCol="0" anchor="ctr"/>
          <a:lstStyle/>
          <a:p>
            <a:pPr marL="0" indent="0" algn="ctr">
              <a:buNone/>
            </a:pPr>
            <a:r>
              <a:rPr lang="en-US" sz="1100" dirty="0">
                <a:solidFill>
                  <a:srgbClr val="FFFFFF"/>
                </a:solidFill>
                <a:latin typeface="Noto san"/>
              </a:rPr>
              <a:t>✓</a:t>
            </a:r>
            <a:endParaRPr lang="en-US" sz="1100" dirty="0">
              <a:latin typeface="Noto san"/>
            </a:endParaRPr>
          </a:p>
        </p:txBody>
      </p:sp>
      <p:sp>
        <p:nvSpPr>
          <p:cNvPr id="19" name="Text 17"/>
          <p:cNvSpPr/>
          <p:nvPr/>
        </p:nvSpPr>
        <p:spPr>
          <a:xfrm>
            <a:off x="3337560" y="2615184"/>
            <a:ext cx="5394960" cy="365760"/>
          </a:xfrm>
          <a:prstGeom prst="rect">
            <a:avLst/>
          </a:prstGeom>
          <a:noFill/>
          <a:ln/>
        </p:spPr>
        <p:txBody>
          <a:bodyPr wrap="square" lIns="0" tIns="0" rIns="0" bIns="0" rtlCol="0" anchor="ctr"/>
          <a:lstStyle/>
          <a:p>
            <a:pPr marL="0" indent="0">
              <a:buNone/>
            </a:pPr>
            <a:r>
              <a:rPr lang="en-US" sz="1300" dirty="0">
                <a:solidFill>
                  <a:srgbClr val="1B1B23"/>
                </a:solidFill>
                <a:latin typeface="Noto san"/>
                <a:ea typeface="Calibri" pitchFamily="34" charset="-122"/>
                <a:cs typeface="Calibri" pitchFamily="34" charset="-120"/>
              </a:rPr>
              <a:t>PRD, kiến trúc, hồ sơ giải thích vì sao kết quả ra như vậy</a:t>
            </a:r>
            <a:endParaRPr lang="en-US" sz="1300" dirty="0">
              <a:latin typeface="Noto san"/>
            </a:endParaRPr>
          </a:p>
        </p:txBody>
      </p:sp>
      <p:sp>
        <p:nvSpPr>
          <p:cNvPr id="20" name="Shape 18"/>
          <p:cNvSpPr/>
          <p:nvPr/>
        </p:nvSpPr>
        <p:spPr>
          <a:xfrm>
            <a:off x="365760" y="3246120"/>
            <a:ext cx="8412480" cy="1371600"/>
          </a:xfrm>
          <a:prstGeom prst="rect">
            <a:avLst/>
          </a:prstGeom>
          <a:solidFill>
            <a:srgbClr val="E9DDFF"/>
          </a:solidFill>
          <a:ln w="12700">
            <a:solidFill>
              <a:srgbClr val="4136C3"/>
            </a:solidFill>
            <a:prstDash val="solid"/>
          </a:ln>
          <a:effectLst>
            <a:outerShdw blurRad="101600" dist="38100" dir="8100000" algn="bl" rotWithShape="0">
              <a:srgbClr val="000000">
                <a:alpha val="10000"/>
              </a:srgbClr>
            </a:outerShdw>
          </a:effectLst>
        </p:spPr>
      </p:sp>
      <p:sp>
        <p:nvSpPr>
          <p:cNvPr id="21" name="Text 19"/>
          <p:cNvSpPr/>
          <p:nvPr/>
        </p:nvSpPr>
        <p:spPr>
          <a:xfrm>
            <a:off x="548640" y="3337560"/>
            <a:ext cx="3657600" cy="411480"/>
          </a:xfrm>
          <a:prstGeom prst="rect">
            <a:avLst/>
          </a:prstGeom>
          <a:noFill/>
          <a:ln/>
        </p:spPr>
        <p:txBody>
          <a:bodyPr wrap="square" lIns="0" tIns="0" rIns="0" bIns="0" rtlCol="0" anchor="ctr"/>
          <a:lstStyle/>
          <a:p>
            <a:pPr marL="0" indent="0">
              <a:buNone/>
            </a:pPr>
            <a:r>
              <a:rPr lang="en-US" sz="1600" b="1" dirty="0">
                <a:solidFill>
                  <a:srgbClr val="2812AD"/>
                </a:solidFill>
                <a:latin typeface="Noto san"/>
                <a:ea typeface="Arial" pitchFamily="34" charset="-122"/>
                <a:cs typeface="Arial" pitchFamily="34" charset="-120"/>
              </a:rPr>
              <a:t>🚀  Mục tiêu 3-6 tháng tới</a:t>
            </a:r>
            <a:endParaRPr lang="en-US" sz="1600" dirty="0">
              <a:latin typeface="Noto san"/>
            </a:endParaRPr>
          </a:p>
        </p:txBody>
      </p:sp>
      <p:sp>
        <p:nvSpPr>
          <p:cNvPr id="22" name="Text 20"/>
          <p:cNvSpPr/>
          <p:nvPr/>
        </p:nvSpPr>
        <p:spPr>
          <a:xfrm>
            <a:off x="548640" y="3749040"/>
            <a:ext cx="8046720" cy="777240"/>
          </a:xfrm>
          <a:prstGeom prst="rect">
            <a:avLst/>
          </a:prstGeom>
          <a:noFill/>
          <a:ln/>
        </p:spPr>
        <p:txBody>
          <a:bodyPr wrap="square" rtlCol="0" anchor="ctr"/>
          <a:lstStyle/>
          <a:p>
            <a:pPr marL="0" indent="0">
              <a:buNone/>
            </a:pPr>
            <a:r>
              <a:rPr lang="en-US" sz="1250" dirty="0">
                <a:solidFill>
                  <a:srgbClr val="1B1B23"/>
                </a:solidFill>
                <a:latin typeface="Noto san"/>
                <a:ea typeface="Calibri" pitchFamily="34" charset="-122"/>
                <a:cs typeface="Calibri" pitchFamily="34" charset="-120"/>
              </a:rPr>
              <a:t>50 khách hàng pilot → Thu thập phản hồi thật từ người bán tự ghi chép → Tinh chỉnh cảnh báo, ngưỡng và Explain Tax → Hoàn thiện workflow trước khi mở rộng.</a:t>
            </a:r>
            <a:endParaRPr lang="en-US" sz="1250" dirty="0">
              <a:latin typeface="Noto san"/>
            </a:endParaRPr>
          </a:p>
        </p:txBody>
      </p:sp>
      <p:sp>
        <p:nvSpPr>
          <p:cNvPr id="23" name="Text 21"/>
          <p:cNvSpPr/>
          <p:nvPr/>
        </p:nvSpPr>
        <p:spPr>
          <a:xfrm>
            <a:off x="36576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23"/>
        </a:solidFill>
        <a:effectLst/>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9B72F9">
              <a:alpha val="12000"/>
            </a:srgbClr>
          </a:solidFill>
          <a:ln w="12700">
            <a:solidFill>
              <a:srgbClr val="9B72F9">
                <a:alpha val="12000"/>
              </a:srgbClr>
            </a:solidFill>
            <a:prstDash val="solid"/>
          </a:ln>
        </p:spPr>
      </p:sp>
      <p:sp>
        <p:nvSpPr>
          <p:cNvPr id="3" name="Text 1"/>
          <p:cNvSpPr/>
          <p:nvPr/>
        </p:nvSpPr>
        <p:spPr>
          <a:xfrm>
            <a:off x="457200" y="274320"/>
            <a:ext cx="8229600" cy="594360"/>
          </a:xfrm>
          <a:prstGeom prst="rect">
            <a:avLst/>
          </a:prstGeom>
          <a:noFill/>
          <a:ln/>
        </p:spPr>
        <p:txBody>
          <a:bodyPr wrap="square" rtlCol="0" anchor="ctr"/>
          <a:lstStyle/>
          <a:p>
            <a:pPr marL="0" indent="0">
              <a:buNone/>
            </a:pPr>
            <a:r>
              <a:rPr lang="en-US" sz="3400" b="1" dirty="0">
                <a:solidFill>
                  <a:srgbClr val="FFFFFF"/>
                </a:solidFill>
                <a:latin typeface="Noto san"/>
                <a:ea typeface="Arial Black" pitchFamily="34" charset="-122"/>
                <a:cs typeface="Arial Black" pitchFamily="34" charset="-120"/>
              </a:rPr>
              <a:t>Lộ trình phát triển</a:t>
            </a:r>
            <a:endParaRPr lang="en-US" sz="3400" dirty="0">
              <a:latin typeface="Noto san"/>
            </a:endParaRPr>
          </a:p>
        </p:txBody>
      </p:sp>
      <p:sp>
        <p:nvSpPr>
          <p:cNvPr id="4" name="Text 2"/>
          <p:cNvSpPr/>
          <p:nvPr/>
        </p:nvSpPr>
        <p:spPr>
          <a:xfrm>
            <a:off x="457200" y="868680"/>
            <a:ext cx="8229600" cy="365760"/>
          </a:xfrm>
          <a:prstGeom prst="rect">
            <a:avLst/>
          </a:prstGeom>
          <a:noFill/>
          <a:ln/>
        </p:spPr>
        <p:txBody>
          <a:bodyPr wrap="square" rtlCol="0" anchor="ctr"/>
          <a:lstStyle/>
          <a:p>
            <a:pPr marL="0" indent="0">
              <a:buNone/>
            </a:pPr>
            <a:r>
              <a:rPr lang="en-US" sz="1300" i="1" dirty="0">
                <a:solidFill>
                  <a:srgbClr val="C3C0FF"/>
                </a:solidFill>
                <a:latin typeface="Noto san"/>
                <a:ea typeface="Calibri" pitchFamily="34" charset="-122"/>
                <a:cs typeface="Calibri" pitchFamily="34" charset="-120"/>
              </a:rPr>
              <a:t>Freemium trước, subscription sau, workspace + API tiếp theo. Mỗi chặng gắn mốc người dùng &amp; doanh thu cụ thể.</a:t>
            </a:r>
            <a:endParaRPr lang="en-US" sz="1300" dirty="0">
              <a:latin typeface="Noto san"/>
            </a:endParaRPr>
          </a:p>
        </p:txBody>
      </p:sp>
      <p:sp>
        <p:nvSpPr>
          <p:cNvPr id="5" name="Shape 3"/>
          <p:cNvSpPr/>
          <p:nvPr/>
        </p:nvSpPr>
        <p:spPr>
          <a:xfrm>
            <a:off x="457200" y="1371600"/>
            <a:ext cx="2651760" cy="3429000"/>
          </a:xfrm>
          <a:prstGeom prst="rect">
            <a:avLst/>
          </a:prstGeom>
          <a:solidFill>
            <a:srgbClr val="FFFFFF">
              <a:alpha val="8000"/>
            </a:srgbClr>
          </a:solidFill>
          <a:ln w="12700">
            <a:solidFill>
              <a:srgbClr val="2812AD"/>
            </a:solidFill>
            <a:prstDash val="solid"/>
          </a:ln>
          <a:effectLst>
            <a:outerShdw blurRad="101600" dist="38100" dir="8100000" algn="bl" rotWithShape="0">
              <a:srgbClr val="000000">
                <a:alpha val="10000"/>
              </a:srgbClr>
            </a:outerShdw>
          </a:effectLst>
        </p:spPr>
      </p:sp>
      <p:sp>
        <p:nvSpPr>
          <p:cNvPr id="6" name="Shape 4"/>
          <p:cNvSpPr/>
          <p:nvPr/>
        </p:nvSpPr>
        <p:spPr>
          <a:xfrm>
            <a:off x="457200" y="1371600"/>
            <a:ext cx="2651760" cy="594360"/>
          </a:xfrm>
          <a:prstGeom prst="rect">
            <a:avLst/>
          </a:prstGeom>
          <a:solidFill>
            <a:srgbClr val="2812AD"/>
          </a:solidFill>
          <a:ln w="12700">
            <a:solidFill>
              <a:srgbClr val="2812AD"/>
            </a:solidFill>
            <a:prstDash val="solid"/>
          </a:ln>
        </p:spPr>
      </p:sp>
      <p:sp>
        <p:nvSpPr>
          <p:cNvPr id="7" name="Text 5"/>
          <p:cNvSpPr/>
          <p:nvPr/>
        </p:nvSpPr>
        <p:spPr>
          <a:xfrm>
            <a:off x="457200" y="1371600"/>
            <a:ext cx="2651760" cy="594360"/>
          </a:xfrm>
          <a:prstGeom prst="rect">
            <a:avLst/>
          </a:prstGeom>
          <a:noFill/>
          <a:ln/>
        </p:spPr>
        <p:txBody>
          <a:bodyPr wrap="square" rtlCol="0" anchor="ctr"/>
          <a:lstStyle/>
          <a:p>
            <a:pPr marL="0" indent="0" algn="ctr">
              <a:buNone/>
            </a:pPr>
            <a:r>
              <a:rPr lang="en-US" sz="1400" b="1" dirty="0">
                <a:solidFill>
                  <a:srgbClr val="FFFFFF"/>
                </a:solidFill>
                <a:latin typeface="Noto san"/>
                <a:ea typeface="Arial" pitchFamily="34" charset="-122"/>
                <a:cs typeface="Arial" pitchFamily="34" charset="-120"/>
              </a:rPr>
              <a:t>Chặng 1  🚀  Soft Launch</a:t>
            </a:r>
            <a:endParaRPr lang="en-US" sz="1400" dirty="0">
              <a:latin typeface="Noto san"/>
            </a:endParaRPr>
          </a:p>
        </p:txBody>
      </p:sp>
      <p:sp>
        <p:nvSpPr>
          <p:cNvPr id="8" name="Text 6"/>
          <p:cNvSpPr/>
          <p:nvPr/>
        </p:nvSpPr>
        <p:spPr>
          <a:xfrm>
            <a:off x="594360" y="2057400"/>
            <a:ext cx="2377440" cy="320040"/>
          </a:xfrm>
          <a:prstGeom prst="rect">
            <a:avLst/>
          </a:prstGeom>
          <a:noFill/>
          <a:ln/>
        </p:spPr>
        <p:txBody>
          <a:bodyPr wrap="square" rtlCol="0" anchor="ctr"/>
          <a:lstStyle/>
          <a:p>
            <a:pPr marL="0" indent="0">
              <a:buNone/>
            </a:pPr>
            <a:r>
              <a:rPr lang="en-US" sz="1200" b="1" dirty="0">
                <a:solidFill>
                  <a:srgbClr val="FFFFFF"/>
                </a:solidFill>
                <a:latin typeface="Noto san"/>
                <a:ea typeface="Calibri" pitchFamily="34" charset="-122"/>
                <a:cs typeface="Calibri" pitchFamily="34" charset="-120"/>
              </a:rPr>
              <a:t>Mục tiêu:</a:t>
            </a:r>
            <a:endParaRPr lang="en-US" sz="1200" dirty="0">
              <a:latin typeface="Noto san"/>
            </a:endParaRPr>
          </a:p>
        </p:txBody>
      </p:sp>
      <p:sp>
        <p:nvSpPr>
          <p:cNvPr id="9" name="Text 7"/>
          <p:cNvSpPr/>
          <p:nvPr/>
        </p:nvSpPr>
        <p:spPr>
          <a:xfrm>
            <a:off x="594360" y="2377440"/>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500 users, 200 active</a:t>
            </a:r>
            <a:endParaRPr lang="en-US" sz="1200" dirty="0">
              <a:latin typeface="Noto san"/>
            </a:endParaRPr>
          </a:p>
        </p:txBody>
      </p:sp>
      <p:sp>
        <p:nvSpPr>
          <p:cNvPr id="10" name="Text 8"/>
          <p:cNvSpPr/>
          <p:nvPr/>
        </p:nvSpPr>
        <p:spPr>
          <a:xfrm>
            <a:off x="594360" y="2761488"/>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50 user quay lại tháng 2</a:t>
            </a:r>
            <a:endParaRPr lang="en-US" sz="1200" dirty="0">
              <a:latin typeface="Noto san"/>
            </a:endParaRPr>
          </a:p>
        </p:txBody>
      </p:sp>
      <p:sp>
        <p:nvSpPr>
          <p:cNvPr id="11" name="Text 9"/>
          <p:cNvSpPr/>
          <p:nvPr/>
        </p:nvSpPr>
        <p:spPr>
          <a:xfrm>
            <a:off x="594360" y="3145536"/>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NPS ≥ 40</a:t>
            </a:r>
            <a:endParaRPr lang="en-US" sz="1200" dirty="0">
              <a:latin typeface="Noto san"/>
            </a:endParaRPr>
          </a:p>
        </p:txBody>
      </p:sp>
      <p:sp>
        <p:nvSpPr>
          <p:cNvPr id="12" name="Text 10"/>
          <p:cNvSpPr/>
          <p:nvPr/>
        </p:nvSpPr>
        <p:spPr>
          <a:xfrm>
            <a:off x="594360" y="3566160"/>
            <a:ext cx="2377440" cy="274320"/>
          </a:xfrm>
          <a:prstGeom prst="rect">
            <a:avLst/>
          </a:prstGeom>
          <a:noFill/>
          <a:ln/>
        </p:spPr>
        <p:txBody>
          <a:bodyPr wrap="square" rtlCol="0" anchor="ctr"/>
          <a:lstStyle/>
          <a:p>
            <a:pPr marL="0" indent="0">
              <a:buNone/>
            </a:pPr>
            <a:r>
              <a:rPr lang="en-US" sz="1200" b="1" dirty="0">
                <a:solidFill>
                  <a:srgbClr val="FFFFFF"/>
                </a:solidFill>
                <a:latin typeface="Noto san"/>
                <a:ea typeface="Calibri" pitchFamily="34" charset="-122"/>
                <a:cs typeface="Calibri" pitchFamily="34" charset="-120"/>
              </a:rPr>
              <a:t>Kênh:</a:t>
            </a:r>
            <a:endParaRPr lang="en-US" sz="1200" dirty="0">
              <a:latin typeface="Noto san"/>
            </a:endParaRPr>
          </a:p>
        </p:txBody>
      </p:sp>
      <p:sp>
        <p:nvSpPr>
          <p:cNvPr id="13" name="Text 11"/>
          <p:cNvSpPr/>
          <p:nvPr/>
        </p:nvSpPr>
        <p:spPr>
          <a:xfrm>
            <a:off x="594360" y="3840480"/>
            <a:ext cx="2377440" cy="822960"/>
          </a:xfrm>
          <a:prstGeom prst="rect">
            <a:avLst/>
          </a:prstGeom>
          <a:noFill/>
          <a:ln/>
        </p:spPr>
        <p:txBody>
          <a:bodyPr wrap="square" rtlCol="0" anchor="ctr"/>
          <a:lstStyle/>
          <a:p>
            <a:pPr marL="0" indent="0">
              <a:buNone/>
            </a:pPr>
            <a:r>
              <a:rPr lang="en-US" sz="1100" dirty="0">
                <a:solidFill>
                  <a:srgbClr val="C3C0FF"/>
                </a:solidFill>
                <a:latin typeface="Noto san"/>
                <a:ea typeface="Calibri" pitchFamily="34" charset="-122"/>
                <a:cs typeface="Calibri" pitchFamily="34" charset="-120"/>
              </a:rPr>
              <a:t>Facebook groups, SEO blog, email outreach, partnership dịch vụ thuế</a:t>
            </a:r>
            <a:endParaRPr lang="en-US" sz="1100" dirty="0">
              <a:latin typeface="Noto san"/>
            </a:endParaRPr>
          </a:p>
        </p:txBody>
      </p:sp>
      <p:sp>
        <p:nvSpPr>
          <p:cNvPr id="14" name="Shape 12"/>
          <p:cNvSpPr/>
          <p:nvPr/>
        </p:nvSpPr>
        <p:spPr>
          <a:xfrm>
            <a:off x="3337560" y="1371600"/>
            <a:ext cx="2651760" cy="3429000"/>
          </a:xfrm>
          <a:prstGeom prst="rect">
            <a:avLst/>
          </a:prstGeom>
          <a:solidFill>
            <a:srgbClr val="FFFFFF">
              <a:alpha val="8000"/>
            </a:srgbClr>
          </a:solidFill>
          <a:ln w="12700">
            <a:solidFill>
              <a:srgbClr val="734AA4"/>
            </a:solidFill>
            <a:prstDash val="solid"/>
          </a:ln>
          <a:effectLst>
            <a:outerShdw blurRad="101600" dist="38100" dir="8100000" algn="bl" rotWithShape="0">
              <a:srgbClr val="000000">
                <a:alpha val="10000"/>
              </a:srgbClr>
            </a:outerShdw>
          </a:effectLst>
        </p:spPr>
      </p:sp>
      <p:sp>
        <p:nvSpPr>
          <p:cNvPr id="15" name="Shape 13"/>
          <p:cNvSpPr/>
          <p:nvPr/>
        </p:nvSpPr>
        <p:spPr>
          <a:xfrm>
            <a:off x="3337560" y="1371600"/>
            <a:ext cx="2651760" cy="594360"/>
          </a:xfrm>
          <a:prstGeom prst="rect">
            <a:avLst/>
          </a:prstGeom>
          <a:solidFill>
            <a:srgbClr val="734AA4"/>
          </a:solidFill>
          <a:ln w="12700">
            <a:solidFill>
              <a:srgbClr val="734AA4"/>
            </a:solidFill>
            <a:prstDash val="solid"/>
          </a:ln>
        </p:spPr>
      </p:sp>
      <p:sp>
        <p:nvSpPr>
          <p:cNvPr id="16" name="Text 14"/>
          <p:cNvSpPr/>
          <p:nvPr/>
        </p:nvSpPr>
        <p:spPr>
          <a:xfrm>
            <a:off x="3337560" y="1371600"/>
            <a:ext cx="2651760" cy="594360"/>
          </a:xfrm>
          <a:prstGeom prst="rect">
            <a:avLst/>
          </a:prstGeom>
          <a:noFill/>
          <a:ln/>
        </p:spPr>
        <p:txBody>
          <a:bodyPr wrap="square" rtlCol="0" anchor="ctr"/>
          <a:lstStyle/>
          <a:p>
            <a:pPr marL="0" indent="0" algn="ctr">
              <a:buNone/>
            </a:pPr>
            <a:r>
              <a:rPr lang="en-US" sz="1400" b="1" dirty="0">
                <a:solidFill>
                  <a:srgbClr val="FFFFFF"/>
                </a:solidFill>
                <a:latin typeface="Noto san"/>
                <a:ea typeface="Arial" pitchFamily="34" charset="-122"/>
                <a:cs typeface="Arial" pitchFamily="34" charset="-120"/>
              </a:rPr>
              <a:t>Chặng 2  📈  Growth</a:t>
            </a:r>
            <a:endParaRPr lang="en-US" sz="1400" dirty="0">
              <a:latin typeface="Noto san"/>
            </a:endParaRPr>
          </a:p>
        </p:txBody>
      </p:sp>
      <p:sp>
        <p:nvSpPr>
          <p:cNvPr id="17" name="Text 15"/>
          <p:cNvSpPr/>
          <p:nvPr/>
        </p:nvSpPr>
        <p:spPr>
          <a:xfrm>
            <a:off x="3474720" y="2057400"/>
            <a:ext cx="2377440" cy="320040"/>
          </a:xfrm>
          <a:prstGeom prst="rect">
            <a:avLst/>
          </a:prstGeom>
          <a:noFill/>
          <a:ln/>
        </p:spPr>
        <p:txBody>
          <a:bodyPr wrap="square" rtlCol="0" anchor="ctr"/>
          <a:lstStyle/>
          <a:p>
            <a:pPr marL="0" indent="0">
              <a:buNone/>
            </a:pPr>
            <a:r>
              <a:rPr lang="en-US" sz="1200" b="1" dirty="0">
                <a:solidFill>
                  <a:srgbClr val="FFFFFF"/>
                </a:solidFill>
                <a:latin typeface="Noto san"/>
                <a:ea typeface="Calibri" pitchFamily="34" charset="-122"/>
                <a:cs typeface="Calibri" pitchFamily="34" charset="-120"/>
              </a:rPr>
              <a:t>Mục tiêu:</a:t>
            </a:r>
            <a:endParaRPr lang="en-US" sz="1200" dirty="0">
              <a:latin typeface="Noto san"/>
            </a:endParaRPr>
          </a:p>
        </p:txBody>
      </p:sp>
      <p:sp>
        <p:nvSpPr>
          <p:cNvPr id="18" name="Text 16"/>
          <p:cNvSpPr/>
          <p:nvPr/>
        </p:nvSpPr>
        <p:spPr>
          <a:xfrm>
            <a:off x="3474720" y="2377440"/>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5.000 users</a:t>
            </a:r>
            <a:endParaRPr lang="en-US" sz="1200" dirty="0">
              <a:latin typeface="Noto san"/>
            </a:endParaRPr>
          </a:p>
        </p:txBody>
      </p:sp>
      <p:sp>
        <p:nvSpPr>
          <p:cNvPr id="19" name="Text 17"/>
          <p:cNvSpPr/>
          <p:nvPr/>
        </p:nvSpPr>
        <p:spPr>
          <a:xfrm>
            <a:off x="3474720" y="2761488"/>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250 user trả phí</a:t>
            </a:r>
            <a:endParaRPr lang="en-US" sz="1200" dirty="0">
              <a:latin typeface="Noto san"/>
            </a:endParaRPr>
          </a:p>
        </p:txBody>
      </p:sp>
      <p:sp>
        <p:nvSpPr>
          <p:cNvPr id="20" name="Text 18"/>
          <p:cNvSpPr/>
          <p:nvPr/>
        </p:nvSpPr>
        <p:spPr>
          <a:xfrm>
            <a:off x="3474720" y="3145536"/>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~25 triệu/tháng</a:t>
            </a:r>
            <a:endParaRPr lang="en-US" sz="1200" dirty="0">
              <a:latin typeface="Noto san"/>
            </a:endParaRPr>
          </a:p>
        </p:txBody>
      </p:sp>
      <p:sp>
        <p:nvSpPr>
          <p:cNvPr id="21" name="Text 19"/>
          <p:cNvSpPr/>
          <p:nvPr/>
        </p:nvSpPr>
        <p:spPr>
          <a:xfrm>
            <a:off x="3474720" y="3566160"/>
            <a:ext cx="2377440" cy="274320"/>
          </a:xfrm>
          <a:prstGeom prst="rect">
            <a:avLst/>
          </a:prstGeom>
          <a:noFill/>
          <a:ln/>
        </p:spPr>
        <p:txBody>
          <a:bodyPr wrap="square" rtlCol="0" anchor="ctr"/>
          <a:lstStyle/>
          <a:p>
            <a:pPr marL="0" indent="0">
              <a:buNone/>
            </a:pPr>
            <a:r>
              <a:rPr lang="en-US" sz="1200" b="1" dirty="0">
                <a:solidFill>
                  <a:srgbClr val="FFFFFF"/>
                </a:solidFill>
                <a:latin typeface="Noto san"/>
                <a:ea typeface="Calibri" pitchFamily="34" charset="-122"/>
                <a:cs typeface="Calibri" pitchFamily="34" charset="-120"/>
              </a:rPr>
              <a:t>Kênh:</a:t>
            </a:r>
            <a:endParaRPr lang="en-US" sz="1200" dirty="0">
              <a:latin typeface="Noto san"/>
            </a:endParaRPr>
          </a:p>
        </p:txBody>
      </p:sp>
      <p:sp>
        <p:nvSpPr>
          <p:cNvPr id="22" name="Text 20"/>
          <p:cNvSpPr/>
          <p:nvPr/>
        </p:nvSpPr>
        <p:spPr>
          <a:xfrm>
            <a:off x="3474720" y="3840480"/>
            <a:ext cx="2377440" cy="822960"/>
          </a:xfrm>
          <a:prstGeom prst="rect">
            <a:avLst/>
          </a:prstGeom>
          <a:noFill/>
          <a:ln/>
        </p:spPr>
        <p:txBody>
          <a:bodyPr wrap="square" rtlCol="0" anchor="ctr"/>
          <a:lstStyle/>
          <a:p>
            <a:pPr marL="0" indent="0">
              <a:buNone/>
            </a:pPr>
            <a:r>
              <a:rPr lang="en-US" sz="1100" dirty="0">
                <a:solidFill>
                  <a:srgbClr val="C3C0FF"/>
                </a:solidFill>
                <a:latin typeface="Noto san"/>
                <a:ea typeface="Calibri" pitchFamily="34" charset="-122"/>
                <a:cs typeface="Calibri" pitchFamily="34" charset="-120"/>
              </a:rPr>
              <a:t>Ads, content, affiliate, TikTok organic, partnership</a:t>
            </a:r>
            <a:endParaRPr lang="en-US" sz="1100" dirty="0">
              <a:latin typeface="Noto san"/>
            </a:endParaRPr>
          </a:p>
        </p:txBody>
      </p:sp>
      <p:sp>
        <p:nvSpPr>
          <p:cNvPr id="23" name="Shape 21"/>
          <p:cNvSpPr/>
          <p:nvPr/>
        </p:nvSpPr>
        <p:spPr>
          <a:xfrm>
            <a:off x="6217920" y="1371600"/>
            <a:ext cx="2651760" cy="3429000"/>
          </a:xfrm>
          <a:prstGeom prst="rect">
            <a:avLst/>
          </a:prstGeom>
          <a:solidFill>
            <a:srgbClr val="FFFFFF">
              <a:alpha val="8000"/>
            </a:srgbClr>
          </a:solidFill>
          <a:ln w="12700">
            <a:solidFill>
              <a:srgbClr val="028090"/>
            </a:solidFill>
            <a:prstDash val="solid"/>
          </a:ln>
          <a:effectLst>
            <a:outerShdw blurRad="101600" dist="38100" dir="8100000" algn="bl" rotWithShape="0">
              <a:srgbClr val="000000">
                <a:alpha val="10000"/>
              </a:srgbClr>
            </a:outerShdw>
          </a:effectLst>
        </p:spPr>
      </p:sp>
      <p:sp>
        <p:nvSpPr>
          <p:cNvPr id="24" name="Shape 22"/>
          <p:cNvSpPr/>
          <p:nvPr/>
        </p:nvSpPr>
        <p:spPr>
          <a:xfrm>
            <a:off x="6217920" y="1371600"/>
            <a:ext cx="2651760" cy="594360"/>
          </a:xfrm>
          <a:prstGeom prst="rect">
            <a:avLst/>
          </a:prstGeom>
          <a:solidFill>
            <a:srgbClr val="028090"/>
          </a:solidFill>
          <a:ln w="12700">
            <a:solidFill>
              <a:srgbClr val="028090"/>
            </a:solidFill>
            <a:prstDash val="solid"/>
          </a:ln>
        </p:spPr>
      </p:sp>
      <p:sp>
        <p:nvSpPr>
          <p:cNvPr id="25" name="Text 23"/>
          <p:cNvSpPr/>
          <p:nvPr/>
        </p:nvSpPr>
        <p:spPr>
          <a:xfrm>
            <a:off x="6217920" y="1371600"/>
            <a:ext cx="2651760" cy="594360"/>
          </a:xfrm>
          <a:prstGeom prst="rect">
            <a:avLst/>
          </a:prstGeom>
          <a:noFill/>
          <a:ln/>
        </p:spPr>
        <p:txBody>
          <a:bodyPr wrap="square" rtlCol="0" anchor="ctr"/>
          <a:lstStyle/>
          <a:p>
            <a:pPr marL="0" indent="0" algn="ctr">
              <a:buNone/>
            </a:pPr>
            <a:r>
              <a:rPr lang="en-US" sz="1400" b="1" dirty="0">
                <a:solidFill>
                  <a:srgbClr val="FFFFFF"/>
                </a:solidFill>
                <a:latin typeface="Noto san"/>
                <a:ea typeface="Arial" pitchFamily="34" charset="-122"/>
                <a:cs typeface="Arial" pitchFamily="34" charset="-120"/>
              </a:rPr>
              <a:t>Chặng 3  🌐  Scale</a:t>
            </a:r>
            <a:endParaRPr lang="en-US" sz="1400" dirty="0">
              <a:latin typeface="Noto san"/>
            </a:endParaRPr>
          </a:p>
        </p:txBody>
      </p:sp>
      <p:sp>
        <p:nvSpPr>
          <p:cNvPr id="26" name="Text 24"/>
          <p:cNvSpPr/>
          <p:nvPr/>
        </p:nvSpPr>
        <p:spPr>
          <a:xfrm>
            <a:off x="6355080" y="2057400"/>
            <a:ext cx="2377440" cy="320040"/>
          </a:xfrm>
          <a:prstGeom prst="rect">
            <a:avLst/>
          </a:prstGeom>
          <a:noFill/>
          <a:ln/>
        </p:spPr>
        <p:txBody>
          <a:bodyPr wrap="square" rtlCol="0" anchor="ctr"/>
          <a:lstStyle/>
          <a:p>
            <a:pPr marL="0" indent="0">
              <a:buNone/>
            </a:pPr>
            <a:r>
              <a:rPr lang="en-US" sz="1200" b="1" dirty="0">
                <a:solidFill>
                  <a:srgbClr val="FFFFFF"/>
                </a:solidFill>
                <a:latin typeface="Noto san"/>
                <a:ea typeface="Calibri" pitchFamily="34" charset="-122"/>
                <a:cs typeface="Calibri" pitchFamily="34" charset="-120"/>
              </a:rPr>
              <a:t>Mục tiêu:</a:t>
            </a:r>
            <a:endParaRPr lang="en-US" sz="1200" dirty="0">
              <a:latin typeface="Noto san"/>
            </a:endParaRPr>
          </a:p>
        </p:txBody>
      </p:sp>
      <p:sp>
        <p:nvSpPr>
          <p:cNvPr id="27" name="Text 25"/>
          <p:cNvSpPr/>
          <p:nvPr/>
        </p:nvSpPr>
        <p:spPr>
          <a:xfrm>
            <a:off x="6355080" y="2377440"/>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20.000 users</a:t>
            </a:r>
            <a:endParaRPr lang="en-US" sz="1200" dirty="0">
              <a:latin typeface="Noto san"/>
            </a:endParaRPr>
          </a:p>
        </p:txBody>
      </p:sp>
      <p:sp>
        <p:nvSpPr>
          <p:cNvPr id="28" name="Text 26"/>
          <p:cNvSpPr/>
          <p:nvPr/>
        </p:nvSpPr>
        <p:spPr>
          <a:xfrm>
            <a:off x="6355080" y="2761488"/>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Mở rộng B2B</a:t>
            </a:r>
            <a:endParaRPr lang="en-US" sz="1200" dirty="0">
              <a:latin typeface="Noto san"/>
            </a:endParaRPr>
          </a:p>
        </p:txBody>
      </p:sp>
      <p:sp>
        <p:nvSpPr>
          <p:cNvPr id="29" name="Text 27"/>
          <p:cNvSpPr/>
          <p:nvPr/>
        </p:nvSpPr>
        <p:spPr>
          <a:xfrm>
            <a:off x="6355080" y="3145536"/>
            <a:ext cx="2377440" cy="347472"/>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 Workspace + API</a:t>
            </a:r>
            <a:endParaRPr lang="en-US" sz="1200" dirty="0">
              <a:latin typeface="Noto san"/>
            </a:endParaRPr>
          </a:p>
        </p:txBody>
      </p:sp>
      <p:sp>
        <p:nvSpPr>
          <p:cNvPr id="30" name="Text 28"/>
          <p:cNvSpPr/>
          <p:nvPr/>
        </p:nvSpPr>
        <p:spPr>
          <a:xfrm>
            <a:off x="6355080" y="3566160"/>
            <a:ext cx="2377440" cy="274320"/>
          </a:xfrm>
          <a:prstGeom prst="rect">
            <a:avLst/>
          </a:prstGeom>
          <a:noFill/>
          <a:ln/>
        </p:spPr>
        <p:txBody>
          <a:bodyPr wrap="square" rtlCol="0" anchor="ctr"/>
          <a:lstStyle/>
          <a:p>
            <a:pPr marL="0" indent="0">
              <a:buNone/>
            </a:pPr>
            <a:r>
              <a:rPr lang="en-US" sz="1200" b="1" dirty="0">
                <a:solidFill>
                  <a:srgbClr val="FFFFFF"/>
                </a:solidFill>
                <a:latin typeface="Noto san"/>
                <a:ea typeface="Calibri" pitchFamily="34" charset="-122"/>
                <a:cs typeface="Calibri" pitchFamily="34" charset="-120"/>
              </a:rPr>
              <a:t>Kênh:</a:t>
            </a:r>
            <a:endParaRPr lang="en-US" sz="1200" dirty="0">
              <a:latin typeface="Noto san"/>
            </a:endParaRPr>
          </a:p>
        </p:txBody>
      </p:sp>
      <p:sp>
        <p:nvSpPr>
          <p:cNvPr id="31" name="Text 29"/>
          <p:cNvSpPr/>
          <p:nvPr/>
        </p:nvSpPr>
        <p:spPr>
          <a:xfrm>
            <a:off x="6355080" y="3840480"/>
            <a:ext cx="2377440" cy="822960"/>
          </a:xfrm>
          <a:prstGeom prst="rect">
            <a:avLst/>
          </a:prstGeom>
          <a:noFill/>
          <a:ln/>
        </p:spPr>
        <p:txBody>
          <a:bodyPr wrap="square" rtlCol="0" anchor="ctr"/>
          <a:lstStyle/>
          <a:p>
            <a:pPr marL="0" indent="0">
              <a:buNone/>
            </a:pPr>
            <a:r>
              <a:rPr lang="en-US" sz="1100" dirty="0">
                <a:solidFill>
                  <a:srgbClr val="C3C0FF"/>
                </a:solidFill>
                <a:latin typeface="Noto san"/>
                <a:ea typeface="Calibri" pitchFamily="34" charset="-122"/>
                <a:cs typeface="Calibri" pitchFamily="34" charset="-120"/>
              </a:rPr>
              <a:t>Xuất PDF, retention, chuẩn bị workspace + API</a:t>
            </a:r>
            <a:endParaRPr lang="en-US" sz="1100" dirty="0">
              <a:latin typeface="Noto san"/>
            </a:endParaRPr>
          </a:p>
        </p:txBody>
      </p:sp>
      <p:sp>
        <p:nvSpPr>
          <p:cNvPr id="32" name="Text 30"/>
          <p:cNvSpPr/>
          <p:nvPr/>
        </p:nvSpPr>
        <p:spPr>
          <a:xfrm>
            <a:off x="45720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812AD"/>
          </a:solidFill>
          <a:ln w="12700">
            <a:solidFill>
              <a:srgbClr val="2812AD"/>
            </a:solidFill>
            <a:prstDash val="solid"/>
          </a:ln>
        </p:spPr>
      </p:sp>
      <p:sp>
        <p:nvSpPr>
          <p:cNvPr id="3" name="Text 1"/>
          <p:cNvSpPr/>
          <p:nvPr/>
        </p:nvSpPr>
        <p:spPr>
          <a:xfrm>
            <a:off x="365760" y="228600"/>
            <a:ext cx="8412480" cy="594360"/>
          </a:xfrm>
          <a:prstGeom prst="rect">
            <a:avLst/>
          </a:prstGeom>
          <a:noFill/>
          <a:ln/>
        </p:spPr>
        <p:txBody>
          <a:bodyPr wrap="square" rtlCol="0" anchor="ctr"/>
          <a:lstStyle/>
          <a:p>
            <a:pPr marL="0" indent="0">
              <a:buNone/>
            </a:pPr>
            <a:r>
              <a:rPr lang="en-US" sz="3000" b="1" dirty="0">
                <a:solidFill>
                  <a:srgbClr val="1B1B23"/>
                </a:solidFill>
                <a:latin typeface="Noto san"/>
                <a:ea typeface="Arial Black" pitchFamily="34" charset="-122"/>
                <a:cs typeface="Arial Black" pitchFamily="34" charset="-120"/>
              </a:rPr>
              <a:t>Đội ngũ &amp; khả năng thực thi</a:t>
            </a:r>
            <a:endParaRPr lang="en-US" sz="3000" dirty="0">
              <a:latin typeface="Noto san"/>
            </a:endParaRPr>
          </a:p>
        </p:txBody>
      </p:sp>
      <p:sp>
        <p:nvSpPr>
          <p:cNvPr id="4" name="Shape 2"/>
          <p:cNvSpPr/>
          <p:nvPr/>
        </p:nvSpPr>
        <p:spPr>
          <a:xfrm>
            <a:off x="365760" y="914400"/>
            <a:ext cx="8412480" cy="2011680"/>
          </a:xfrm>
          <a:prstGeom prst="rect">
            <a:avLst/>
          </a:prstGeom>
          <a:solidFill>
            <a:srgbClr val="F6F2FE"/>
          </a:solidFill>
          <a:ln w="12700">
            <a:solidFill>
              <a:srgbClr val="E4E1ED"/>
            </a:solidFill>
            <a:prstDash val="solid"/>
          </a:ln>
          <a:effectLst>
            <a:outerShdw blurRad="101600" dist="38100" dir="8100000" algn="bl" rotWithShape="0">
              <a:srgbClr val="000000">
                <a:alpha val="10000"/>
              </a:srgbClr>
            </a:outerShdw>
          </a:effectLst>
        </p:spPr>
      </p:sp>
      <p:sp>
        <p:nvSpPr>
          <p:cNvPr id="5" name="Shape 3"/>
          <p:cNvSpPr/>
          <p:nvPr/>
        </p:nvSpPr>
        <p:spPr>
          <a:xfrm>
            <a:off x="365760" y="914400"/>
            <a:ext cx="91440" cy="2011680"/>
          </a:xfrm>
          <a:prstGeom prst="rect">
            <a:avLst/>
          </a:prstGeom>
          <a:solidFill>
            <a:srgbClr val="734AA4"/>
          </a:solidFill>
          <a:ln w="12700">
            <a:solidFill>
              <a:srgbClr val="734AA4"/>
            </a:solidFill>
            <a:prstDash val="solid"/>
          </a:ln>
        </p:spPr>
      </p:sp>
      <p:sp>
        <p:nvSpPr>
          <p:cNvPr id="6" name="Text 4"/>
          <p:cNvSpPr/>
          <p:nvPr/>
        </p:nvSpPr>
        <p:spPr>
          <a:xfrm>
            <a:off x="594360" y="1005840"/>
            <a:ext cx="8046720" cy="457200"/>
          </a:xfrm>
          <a:prstGeom prst="rect">
            <a:avLst/>
          </a:prstGeom>
          <a:noFill/>
          <a:ln/>
        </p:spPr>
        <p:txBody>
          <a:bodyPr wrap="square" rtlCol="0" anchor="ctr"/>
          <a:lstStyle/>
          <a:p>
            <a:pPr marL="0" indent="0">
              <a:buNone/>
            </a:pPr>
            <a:r>
              <a:rPr lang="en-US" sz="1800" b="1" dirty="0">
                <a:solidFill>
                  <a:srgbClr val="2812AD"/>
                </a:solidFill>
                <a:latin typeface="Noto san"/>
                <a:ea typeface="Arial" pitchFamily="34" charset="-122"/>
                <a:cs typeface="Arial" pitchFamily="34" charset="-120"/>
              </a:rPr>
              <a:t>👥  Nhóm dự án VinUni · A20-App-072</a:t>
            </a:r>
            <a:endParaRPr lang="en-US" sz="1800" dirty="0">
              <a:latin typeface="Noto san"/>
            </a:endParaRPr>
          </a:p>
        </p:txBody>
      </p:sp>
      <p:sp>
        <p:nvSpPr>
          <p:cNvPr id="7" name="Text 5"/>
          <p:cNvSpPr/>
          <p:nvPr/>
        </p:nvSpPr>
        <p:spPr>
          <a:xfrm>
            <a:off x="594360" y="1463040"/>
            <a:ext cx="8046720" cy="731520"/>
          </a:xfrm>
          <a:prstGeom prst="rect">
            <a:avLst/>
          </a:prstGeom>
          <a:noFill/>
          <a:ln/>
        </p:spPr>
        <p:txBody>
          <a:bodyPr wrap="square" rtlCol="0" anchor="ctr"/>
          <a:lstStyle/>
          <a:p>
            <a:pPr marL="0" indent="0">
              <a:buNone/>
            </a:pPr>
            <a:r>
              <a:rPr lang="en-US" sz="1300" dirty="0">
                <a:solidFill>
                  <a:srgbClr val="464554"/>
                </a:solidFill>
                <a:latin typeface="Noto san"/>
                <a:ea typeface="Calibri" pitchFamily="34" charset="-122"/>
                <a:cs typeface="Calibri" pitchFamily="34" charset="-120"/>
              </a:rPr>
              <a:t>Đa ngành (AI/ML, kỹ thuật phần mềm, bối cảnh thuế TMĐT) triển khai MVP Scaify: đối soát CSV ↔ chứng từ (OCR/VLM), preview thuế &amp; ngưỡng, Explain Tax, RAG pháp lý, dashboard minh bạch.</a:t>
            </a:r>
            <a:endParaRPr lang="en-US" sz="1300" dirty="0">
              <a:latin typeface="Noto san"/>
            </a:endParaRPr>
          </a:p>
        </p:txBody>
      </p:sp>
      <p:sp>
        <p:nvSpPr>
          <p:cNvPr id="8" name="Text 6"/>
          <p:cNvSpPr/>
          <p:nvPr/>
        </p:nvSpPr>
        <p:spPr>
          <a:xfrm>
            <a:off x="594360" y="2212848"/>
            <a:ext cx="8046720" cy="594360"/>
          </a:xfrm>
          <a:prstGeom prst="rect">
            <a:avLst/>
          </a:prstGeom>
          <a:noFill/>
          <a:ln/>
        </p:spPr>
        <p:txBody>
          <a:bodyPr wrap="square" rtlCol="0" anchor="ctr"/>
          <a:lstStyle/>
          <a:p>
            <a:pPr marL="0" indent="0">
              <a:buNone/>
            </a:pPr>
            <a:r>
              <a:rPr lang="en-US" sz="1200" i="1" dirty="0">
                <a:solidFill>
                  <a:srgbClr val="777586"/>
                </a:solidFill>
                <a:latin typeface="Noto san"/>
                <a:ea typeface="Calibri" pitchFamily="34" charset="-122"/>
                <a:cs typeface="Calibri" pitchFamily="34" charset="-120"/>
              </a:rPr>
              <a:t>Phạm vi MVP: không thay thế kế toán hay kê khai chính thức — tập trung minh bạch đối soát và giải thích cho người bán tự ghi chép.</a:t>
            </a:r>
            <a:endParaRPr lang="en-US" sz="1200" dirty="0">
              <a:latin typeface="Noto san"/>
            </a:endParaRPr>
          </a:p>
        </p:txBody>
      </p:sp>
      <p:sp>
        <p:nvSpPr>
          <p:cNvPr id="9" name="Text 7"/>
          <p:cNvSpPr/>
          <p:nvPr/>
        </p:nvSpPr>
        <p:spPr>
          <a:xfrm>
            <a:off x="365760" y="3017520"/>
            <a:ext cx="8412480" cy="457200"/>
          </a:xfrm>
          <a:prstGeom prst="rect">
            <a:avLst/>
          </a:prstGeom>
          <a:noFill/>
          <a:ln/>
        </p:spPr>
        <p:txBody>
          <a:bodyPr wrap="square" rtlCol="0" anchor="ctr"/>
          <a:lstStyle/>
          <a:p>
            <a:pPr marL="0" indent="0">
              <a:buNone/>
            </a:pPr>
            <a:r>
              <a:rPr lang="en-US" sz="1700" b="1" dirty="0">
                <a:solidFill>
                  <a:srgbClr val="2812AD"/>
                </a:solidFill>
                <a:latin typeface="Noto san"/>
                <a:ea typeface="Arial" pitchFamily="34" charset="-122"/>
                <a:cs typeface="Arial" pitchFamily="34" charset="-120"/>
              </a:rPr>
              <a:t>✅  Bằng chứng thực thi — Proof, không chỉ mô tả</a:t>
            </a:r>
            <a:endParaRPr lang="en-US" sz="1700" dirty="0">
              <a:latin typeface="Noto san"/>
            </a:endParaRPr>
          </a:p>
        </p:txBody>
      </p:sp>
      <p:sp>
        <p:nvSpPr>
          <p:cNvPr id="10" name="Shape 8"/>
          <p:cNvSpPr/>
          <p:nvPr/>
        </p:nvSpPr>
        <p:spPr>
          <a:xfrm>
            <a:off x="365760" y="3520440"/>
            <a:ext cx="2697480" cy="1051560"/>
          </a:xfrm>
          <a:prstGeom prst="rect">
            <a:avLst/>
          </a:prstGeom>
          <a:solidFill>
            <a:srgbClr val="E9DDFF"/>
          </a:solidFill>
          <a:ln w="12700">
            <a:solidFill>
              <a:srgbClr val="4136C3"/>
            </a:solidFill>
            <a:prstDash val="solid"/>
          </a:ln>
          <a:effectLst>
            <a:outerShdw blurRad="101600" dist="38100" dir="8100000" algn="bl" rotWithShape="0">
              <a:srgbClr val="000000">
                <a:alpha val="10000"/>
              </a:srgbClr>
            </a:outerShdw>
          </a:effectLst>
        </p:spPr>
      </p:sp>
      <p:sp>
        <p:nvSpPr>
          <p:cNvPr id="11" name="Text 9"/>
          <p:cNvSpPr/>
          <p:nvPr/>
        </p:nvSpPr>
        <p:spPr>
          <a:xfrm>
            <a:off x="502920" y="3566160"/>
            <a:ext cx="2423160" cy="960120"/>
          </a:xfrm>
          <a:prstGeom prst="rect">
            <a:avLst/>
          </a:prstGeom>
          <a:noFill/>
          <a:ln/>
        </p:spPr>
        <p:txBody>
          <a:bodyPr wrap="square" rtlCol="0" anchor="ctr"/>
          <a:lstStyle/>
          <a:p>
            <a:pPr marL="0" indent="0">
              <a:buNone/>
            </a:pPr>
            <a:r>
              <a:rPr lang="en-US" sz="1250" dirty="0">
                <a:solidFill>
                  <a:srgbClr val="2812AD"/>
                </a:solidFill>
                <a:latin typeface="Noto san"/>
                <a:ea typeface="Calibri" pitchFamily="34" charset="-122"/>
                <a:cs typeface="Calibri" pitchFamily="34" charset="-120"/>
              </a:rPr>
              <a:t>✓  Test tự động: pipeline, compliance score, RAG chatbot</a:t>
            </a:r>
            <a:endParaRPr lang="en-US" sz="1250" dirty="0">
              <a:latin typeface="Noto san"/>
            </a:endParaRPr>
          </a:p>
        </p:txBody>
      </p:sp>
      <p:sp>
        <p:nvSpPr>
          <p:cNvPr id="12" name="Shape 10"/>
          <p:cNvSpPr/>
          <p:nvPr/>
        </p:nvSpPr>
        <p:spPr>
          <a:xfrm>
            <a:off x="3246120" y="3520440"/>
            <a:ext cx="2697480" cy="1051560"/>
          </a:xfrm>
          <a:prstGeom prst="rect">
            <a:avLst/>
          </a:prstGeom>
          <a:solidFill>
            <a:srgbClr val="E9DDFF"/>
          </a:solidFill>
          <a:ln w="12700">
            <a:solidFill>
              <a:srgbClr val="4136C3"/>
            </a:solidFill>
            <a:prstDash val="solid"/>
          </a:ln>
          <a:effectLst>
            <a:outerShdw blurRad="101600" dist="38100" dir="8100000" algn="bl" rotWithShape="0">
              <a:srgbClr val="000000">
                <a:alpha val="10000"/>
              </a:srgbClr>
            </a:outerShdw>
          </a:effectLst>
        </p:spPr>
      </p:sp>
      <p:sp>
        <p:nvSpPr>
          <p:cNvPr id="13" name="Text 11"/>
          <p:cNvSpPr/>
          <p:nvPr/>
        </p:nvSpPr>
        <p:spPr>
          <a:xfrm>
            <a:off x="3383280" y="3566160"/>
            <a:ext cx="2423160" cy="960120"/>
          </a:xfrm>
          <a:prstGeom prst="rect">
            <a:avLst/>
          </a:prstGeom>
          <a:noFill/>
          <a:ln/>
        </p:spPr>
        <p:txBody>
          <a:bodyPr wrap="square" rtlCol="0" anchor="ctr"/>
          <a:lstStyle/>
          <a:p>
            <a:pPr marL="0" indent="0">
              <a:buNone/>
            </a:pPr>
            <a:r>
              <a:rPr lang="en-US" sz="1250" dirty="0">
                <a:solidFill>
                  <a:srgbClr val="2812AD"/>
                </a:solidFill>
                <a:latin typeface="Noto san"/>
                <a:ea typeface="Calibri" pitchFamily="34" charset="-122"/>
                <a:cs typeface="Calibri" pitchFamily="34" charset="-120"/>
              </a:rPr>
              <a:t>✓  PRD, kiến trúc, chunk pháp lý phục vụ RAG</a:t>
            </a:r>
            <a:endParaRPr lang="en-US" sz="1250" dirty="0">
              <a:latin typeface="Noto san"/>
            </a:endParaRPr>
          </a:p>
        </p:txBody>
      </p:sp>
      <p:sp>
        <p:nvSpPr>
          <p:cNvPr id="14" name="Shape 12"/>
          <p:cNvSpPr/>
          <p:nvPr/>
        </p:nvSpPr>
        <p:spPr>
          <a:xfrm>
            <a:off x="6126480" y="3520440"/>
            <a:ext cx="2697480" cy="1051560"/>
          </a:xfrm>
          <a:prstGeom prst="rect">
            <a:avLst/>
          </a:prstGeom>
          <a:solidFill>
            <a:srgbClr val="E9DDFF"/>
          </a:solidFill>
          <a:ln w="12700">
            <a:solidFill>
              <a:srgbClr val="4136C3"/>
            </a:solidFill>
            <a:prstDash val="solid"/>
          </a:ln>
          <a:effectLst>
            <a:outerShdw blurRad="101600" dist="38100" dir="8100000" algn="bl" rotWithShape="0">
              <a:srgbClr val="000000">
                <a:alpha val="10000"/>
              </a:srgbClr>
            </a:outerShdw>
          </a:effectLst>
        </p:spPr>
      </p:sp>
      <p:sp>
        <p:nvSpPr>
          <p:cNvPr id="15" name="Text 13"/>
          <p:cNvSpPr/>
          <p:nvPr/>
        </p:nvSpPr>
        <p:spPr>
          <a:xfrm>
            <a:off x="6263640" y="3566160"/>
            <a:ext cx="2423160" cy="960120"/>
          </a:xfrm>
          <a:prstGeom prst="rect">
            <a:avLst/>
          </a:prstGeom>
          <a:noFill/>
          <a:ln/>
        </p:spPr>
        <p:txBody>
          <a:bodyPr wrap="square" rtlCol="0" anchor="ctr"/>
          <a:lstStyle/>
          <a:p>
            <a:pPr marL="0" indent="0">
              <a:buNone/>
            </a:pPr>
            <a:r>
              <a:rPr lang="en-US" sz="1250" dirty="0">
                <a:solidFill>
                  <a:srgbClr val="2812AD"/>
                </a:solidFill>
                <a:latin typeface="Noto san"/>
                <a:ea typeface="Calibri" pitchFamily="34" charset="-122"/>
                <a:cs typeface="Calibri" pitchFamily="34" charset="-120"/>
              </a:rPr>
              <a:t>✓  Demo pilot nội bộ, có log phản hồi để lặp</a:t>
            </a:r>
            <a:endParaRPr lang="en-US" sz="1250" dirty="0">
              <a:latin typeface="Noto san"/>
            </a:endParaRPr>
          </a:p>
        </p:txBody>
      </p:sp>
      <p:sp>
        <p:nvSpPr>
          <p:cNvPr id="16" name="Text 14"/>
          <p:cNvSpPr/>
          <p:nvPr/>
        </p:nvSpPr>
        <p:spPr>
          <a:xfrm>
            <a:off x="36576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23"/>
        </a:solidFill>
        <a:effectLst/>
      </p:bgPr>
    </p:bg>
    <p:spTree>
      <p:nvGrpSpPr>
        <p:cNvPr id="1" name=""/>
        <p:cNvGrpSpPr/>
        <p:nvPr/>
      </p:nvGrpSpPr>
      <p:grpSpPr>
        <a:xfrm>
          <a:off x="0" y="0"/>
          <a:ext cx="0" cy="0"/>
          <a:chOff x="0" y="0"/>
          <a:chExt cx="0" cy="0"/>
        </a:xfrm>
      </p:grpSpPr>
      <p:sp>
        <p:nvSpPr>
          <p:cNvPr id="2" name="Shape 0"/>
          <p:cNvSpPr/>
          <p:nvPr/>
        </p:nvSpPr>
        <p:spPr>
          <a:xfrm>
            <a:off x="-457200" y="3200400"/>
            <a:ext cx="3657600" cy="3657600"/>
          </a:xfrm>
          <a:prstGeom prst="ellipse">
            <a:avLst/>
          </a:prstGeom>
          <a:solidFill>
            <a:srgbClr val="4136C3">
              <a:alpha val="12000"/>
            </a:srgbClr>
          </a:solidFill>
          <a:ln w="12700">
            <a:solidFill>
              <a:srgbClr val="4136C3">
                <a:alpha val="12000"/>
              </a:srgbClr>
            </a:solidFill>
            <a:prstDash val="solid"/>
          </a:ln>
        </p:spPr>
      </p:sp>
      <p:sp>
        <p:nvSpPr>
          <p:cNvPr id="3" name="Shape 1"/>
          <p:cNvSpPr/>
          <p:nvPr/>
        </p:nvSpPr>
        <p:spPr>
          <a:xfrm>
            <a:off x="7315200" y="-457200"/>
            <a:ext cx="3200400" cy="3200400"/>
          </a:xfrm>
          <a:prstGeom prst="ellipse">
            <a:avLst/>
          </a:prstGeom>
          <a:solidFill>
            <a:srgbClr val="9B72F9">
              <a:alpha val="12000"/>
            </a:srgbClr>
          </a:solidFill>
          <a:ln w="12700">
            <a:solidFill>
              <a:srgbClr val="9B72F9">
                <a:alpha val="12000"/>
              </a:srgbClr>
            </a:solidFill>
            <a:prstDash val="solid"/>
          </a:ln>
        </p:spPr>
      </p:sp>
      <p:sp>
        <p:nvSpPr>
          <p:cNvPr id="4" name="Text 2"/>
          <p:cNvSpPr/>
          <p:nvPr/>
        </p:nvSpPr>
        <p:spPr>
          <a:xfrm>
            <a:off x="457200" y="228600"/>
            <a:ext cx="8229600" cy="594360"/>
          </a:xfrm>
          <a:prstGeom prst="rect">
            <a:avLst/>
          </a:prstGeom>
          <a:noFill/>
          <a:ln/>
        </p:spPr>
        <p:txBody>
          <a:bodyPr wrap="square" rtlCol="0" anchor="ctr"/>
          <a:lstStyle/>
          <a:p>
            <a:pPr marL="0" indent="0">
              <a:buNone/>
            </a:pPr>
            <a:r>
              <a:rPr lang="en-US" sz="3400" b="1" dirty="0">
                <a:solidFill>
                  <a:srgbClr val="FFFFFF"/>
                </a:solidFill>
                <a:latin typeface="Noto san"/>
                <a:ea typeface="Arial Black" pitchFamily="34" charset="-122"/>
                <a:cs typeface="Arial Black" pitchFamily="34" charset="-120"/>
              </a:rPr>
              <a:t>Kêu gọi đầu tư</a:t>
            </a:r>
            <a:endParaRPr lang="en-US" sz="3400" dirty="0">
              <a:latin typeface="Noto san"/>
            </a:endParaRPr>
          </a:p>
        </p:txBody>
      </p:sp>
      <p:sp>
        <p:nvSpPr>
          <p:cNvPr id="5" name="Text 3"/>
          <p:cNvSpPr/>
          <p:nvPr/>
        </p:nvSpPr>
        <p:spPr>
          <a:xfrm>
            <a:off x="457200" y="822960"/>
            <a:ext cx="8229600" cy="365760"/>
          </a:xfrm>
          <a:prstGeom prst="rect">
            <a:avLst/>
          </a:prstGeom>
          <a:noFill/>
          <a:ln/>
        </p:spPr>
        <p:txBody>
          <a:bodyPr wrap="square" rtlCol="0" anchor="ctr"/>
          <a:lstStyle/>
          <a:p>
            <a:pPr marL="0" indent="0">
              <a:buNone/>
            </a:pPr>
            <a:r>
              <a:rPr lang="en-US" sz="1300" i="1" dirty="0">
                <a:solidFill>
                  <a:srgbClr val="C3C0FF"/>
                </a:solidFill>
                <a:latin typeface="Noto san"/>
                <a:ea typeface="Calibri" pitchFamily="34" charset="-122"/>
                <a:cs typeface="Calibri" pitchFamily="34" charset="-120"/>
              </a:rPr>
              <a:t>Hoàn thiện pipeline đối soát + RAG pháp lý + bằng chứng vận hành (50 người dùng pilot có log phản hồi).</a:t>
            </a:r>
            <a:endParaRPr lang="en-US" sz="1300" dirty="0">
              <a:latin typeface="Noto san"/>
            </a:endParaRPr>
          </a:p>
        </p:txBody>
      </p:sp>
      <p:sp>
        <p:nvSpPr>
          <p:cNvPr id="6" name="Shape 4"/>
          <p:cNvSpPr/>
          <p:nvPr/>
        </p:nvSpPr>
        <p:spPr>
          <a:xfrm>
            <a:off x="457200" y="1280160"/>
            <a:ext cx="2286000" cy="1828800"/>
          </a:xfrm>
          <a:prstGeom prst="rect">
            <a:avLst/>
          </a:prstGeom>
          <a:solidFill>
            <a:srgbClr val="2812AD"/>
          </a:solidFill>
          <a:ln w="12700">
            <a:solidFill>
              <a:srgbClr val="2812AD"/>
            </a:solidFill>
            <a:prstDash val="solid"/>
          </a:ln>
          <a:effectLst>
            <a:outerShdw blurRad="101600" dist="38100" dir="8100000" algn="bl" rotWithShape="0">
              <a:srgbClr val="000000">
                <a:alpha val="10000"/>
              </a:srgbClr>
            </a:outerShdw>
          </a:effectLst>
        </p:spPr>
      </p:sp>
      <p:sp>
        <p:nvSpPr>
          <p:cNvPr id="7" name="Text 5"/>
          <p:cNvSpPr/>
          <p:nvPr/>
        </p:nvSpPr>
        <p:spPr>
          <a:xfrm>
            <a:off x="457200" y="1280160"/>
            <a:ext cx="2286000" cy="1005840"/>
          </a:xfrm>
          <a:prstGeom prst="rect">
            <a:avLst/>
          </a:prstGeom>
          <a:noFill/>
          <a:ln/>
        </p:spPr>
        <p:txBody>
          <a:bodyPr wrap="square" rtlCol="0" anchor="ctr"/>
          <a:lstStyle/>
          <a:p>
            <a:pPr marL="0" indent="0" algn="ctr">
              <a:buNone/>
            </a:pPr>
            <a:r>
              <a:rPr lang="en-US" sz="6200" b="1" dirty="0">
                <a:solidFill>
                  <a:srgbClr val="FFFFFF"/>
                </a:solidFill>
                <a:latin typeface="Noto san"/>
                <a:ea typeface="Arial Black" pitchFamily="34" charset="-122"/>
                <a:cs typeface="Arial Black" pitchFamily="34" charset="-120"/>
              </a:rPr>
              <a:t>500</a:t>
            </a:r>
            <a:endParaRPr lang="en-US" sz="6200" dirty="0">
              <a:latin typeface="Noto san"/>
            </a:endParaRPr>
          </a:p>
        </p:txBody>
      </p:sp>
      <p:sp>
        <p:nvSpPr>
          <p:cNvPr id="8" name="Text 6"/>
          <p:cNvSpPr/>
          <p:nvPr/>
        </p:nvSpPr>
        <p:spPr>
          <a:xfrm>
            <a:off x="457200" y="2286000"/>
            <a:ext cx="2286000" cy="685800"/>
          </a:xfrm>
          <a:prstGeom prst="rect">
            <a:avLst/>
          </a:prstGeom>
          <a:noFill/>
          <a:ln/>
        </p:spPr>
        <p:txBody>
          <a:bodyPr wrap="square" rtlCol="0" anchor="ctr"/>
          <a:lstStyle/>
          <a:p>
            <a:pPr marL="0" indent="0" algn="ctr">
              <a:buNone/>
            </a:pPr>
            <a:r>
              <a:rPr lang="en-US" sz="1300" dirty="0">
                <a:solidFill>
                  <a:srgbClr val="C3C0FF"/>
                </a:solidFill>
                <a:latin typeface="Noto san"/>
                <a:ea typeface="Calibri" pitchFamily="34" charset="-122"/>
                <a:cs typeface="Calibri" pitchFamily="34" charset="-120"/>
              </a:rPr>
              <a:t>Triệu VNĐ</a:t>
            </a:r>
            <a:endParaRPr lang="en-US" sz="1300" dirty="0">
              <a:latin typeface="Noto san"/>
            </a:endParaRPr>
          </a:p>
          <a:p>
            <a:pPr marL="0" indent="0" algn="ctr">
              <a:buNone/>
            </a:pPr>
            <a:r>
              <a:rPr lang="en-US" sz="1300" dirty="0">
                <a:solidFill>
                  <a:srgbClr val="C3C0FF"/>
                </a:solidFill>
                <a:latin typeface="Noto san"/>
                <a:ea typeface="Calibri" pitchFamily="34" charset="-122"/>
                <a:cs typeface="Calibri" pitchFamily="34" charset="-120"/>
              </a:rPr>
              <a:t>Vốn giai đoạn 1</a:t>
            </a:r>
            <a:endParaRPr lang="en-US" sz="1300" dirty="0">
              <a:latin typeface="Noto san"/>
            </a:endParaRPr>
          </a:p>
        </p:txBody>
      </p:sp>
      <p:sp>
        <p:nvSpPr>
          <p:cNvPr id="9" name="Shape 7"/>
          <p:cNvSpPr/>
          <p:nvPr/>
        </p:nvSpPr>
        <p:spPr>
          <a:xfrm>
            <a:off x="2926080" y="1280160"/>
            <a:ext cx="2286000" cy="1828800"/>
          </a:xfrm>
          <a:prstGeom prst="rect">
            <a:avLst/>
          </a:prstGeom>
          <a:solidFill>
            <a:srgbClr val="734AA4"/>
          </a:solidFill>
          <a:ln w="12700">
            <a:solidFill>
              <a:srgbClr val="734AA4"/>
            </a:solidFill>
            <a:prstDash val="solid"/>
          </a:ln>
          <a:effectLst>
            <a:outerShdw blurRad="101600" dist="38100" dir="8100000" algn="bl" rotWithShape="0">
              <a:srgbClr val="000000">
                <a:alpha val="10000"/>
              </a:srgbClr>
            </a:outerShdw>
          </a:effectLst>
        </p:spPr>
      </p:sp>
      <p:sp>
        <p:nvSpPr>
          <p:cNvPr id="10" name="Text 8"/>
          <p:cNvSpPr/>
          <p:nvPr/>
        </p:nvSpPr>
        <p:spPr>
          <a:xfrm>
            <a:off x="2926080" y="1280160"/>
            <a:ext cx="2286000" cy="1005840"/>
          </a:xfrm>
          <a:prstGeom prst="rect">
            <a:avLst/>
          </a:prstGeom>
          <a:noFill/>
          <a:ln/>
        </p:spPr>
        <p:txBody>
          <a:bodyPr wrap="square" rtlCol="0" anchor="ctr"/>
          <a:lstStyle/>
          <a:p>
            <a:pPr marL="0" indent="0" algn="ctr">
              <a:buNone/>
            </a:pPr>
            <a:r>
              <a:rPr lang="en-US" sz="6200" b="1" dirty="0">
                <a:solidFill>
                  <a:srgbClr val="FFFFFF"/>
                </a:solidFill>
                <a:latin typeface="Noto san"/>
                <a:ea typeface="Arial Black" pitchFamily="34" charset="-122"/>
                <a:cs typeface="Arial Black" pitchFamily="34" charset="-120"/>
              </a:rPr>
              <a:t>50</a:t>
            </a:r>
            <a:endParaRPr lang="en-US" sz="6200" dirty="0">
              <a:latin typeface="Noto san"/>
            </a:endParaRPr>
          </a:p>
        </p:txBody>
      </p:sp>
      <p:sp>
        <p:nvSpPr>
          <p:cNvPr id="11" name="Text 9"/>
          <p:cNvSpPr/>
          <p:nvPr/>
        </p:nvSpPr>
        <p:spPr>
          <a:xfrm>
            <a:off x="2926080" y="2286000"/>
            <a:ext cx="2286000" cy="685800"/>
          </a:xfrm>
          <a:prstGeom prst="rect">
            <a:avLst/>
          </a:prstGeom>
          <a:noFill/>
          <a:ln/>
        </p:spPr>
        <p:txBody>
          <a:bodyPr wrap="square" rtlCol="0" anchor="ctr"/>
          <a:lstStyle/>
          <a:p>
            <a:pPr marL="0" indent="0" algn="ctr">
              <a:buNone/>
            </a:pPr>
            <a:r>
              <a:rPr lang="en-US" sz="1300" dirty="0">
                <a:solidFill>
                  <a:srgbClr val="FFFFFF"/>
                </a:solidFill>
                <a:latin typeface="Noto san"/>
                <a:ea typeface="Calibri" pitchFamily="34" charset="-122"/>
                <a:cs typeface="Calibri" pitchFamily="34" charset="-120"/>
              </a:rPr>
              <a:t>Khách Hàng</a:t>
            </a:r>
            <a:endParaRPr lang="en-US" sz="1300" dirty="0">
              <a:latin typeface="Noto san"/>
            </a:endParaRPr>
          </a:p>
          <a:p>
            <a:pPr marL="0" indent="0" algn="ctr">
              <a:buNone/>
            </a:pPr>
            <a:r>
              <a:rPr lang="en-US" sz="1300" dirty="0">
                <a:solidFill>
                  <a:srgbClr val="FFFFFF"/>
                </a:solidFill>
                <a:latin typeface="Noto san"/>
                <a:ea typeface="Calibri" pitchFamily="34" charset="-122"/>
                <a:cs typeface="Calibri" pitchFamily="34" charset="-120"/>
              </a:rPr>
              <a:t>Pilot · Mục tiêu</a:t>
            </a:r>
            <a:endParaRPr lang="en-US" sz="1300" dirty="0">
              <a:latin typeface="Noto san"/>
            </a:endParaRPr>
          </a:p>
        </p:txBody>
      </p:sp>
      <p:sp>
        <p:nvSpPr>
          <p:cNvPr id="12" name="Text 10"/>
          <p:cNvSpPr/>
          <p:nvPr/>
        </p:nvSpPr>
        <p:spPr>
          <a:xfrm>
            <a:off x="5394960" y="1234440"/>
            <a:ext cx="3474720" cy="411480"/>
          </a:xfrm>
          <a:prstGeom prst="rect">
            <a:avLst/>
          </a:prstGeom>
          <a:noFill/>
          <a:ln/>
        </p:spPr>
        <p:txBody>
          <a:bodyPr wrap="square" rtlCol="0" anchor="ctr"/>
          <a:lstStyle/>
          <a:p>
            <a:pPr marL="0" indent="0">
              <a:buNone/>
            </a:pPr>
            <a:r>
              <a:rPr lang="en-US" sz="1500" b="1" dirty="0">
                <a:solidFill>
                  <a:srgbClr val="FFFFFF"/>
                </a:solidFill>
                <a:latin typeface="Noto san"/>
                <a:ea typeface="Arial" pitchFamily="34" charset="-122"/>
                <a:cs typeface="Arial" pitchFamily="34" charset="-120"/>
              </a:rPr>
              <a:t>Phân bổ nguồn lực (dự kiến)</a:t>
            </a:r>
            <a:endParaRPr lang="en-US" sz="1500" dirty="0">
              <a:latin typeface="Noto san"/>
            </a:endParaRPr>
          </a:p>
        </p:txBody>
      </p:sp>
      <p:sp>
        <p:nvSpPr>
          <p:cNvPr id="13" name="Text 11"/>
          <p:cNvSpPr/>
          <p:nvPr/>
        </p:nvSpPr>
        <p:spPr>
          <a:xfrm>
            <a:off x="5394960" y="1691640"/>
            <a:ext cx="2560320" cy="36576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Phát triển Kỹ thuật &amp; Sản phẩm</a:t>
            </a:r>
            <a:endParaRPr lang="en-US" sz="1200" dirty="0">
              <a:latin typeface="Noto san"/>
            </a:endParaRPr>
          </a:p>
        </p:txBody>
      </p:sp>
      <p:sp>
        <p:nvSpPr>
          <p:cNvPr id="14" name="Shape 12"/>
          <p:cNvSpPr/>
          <p:nvPr/>
        </p:nvSpPr>
        <p:spPr>
          <a:xfrm>
            <a:off x="7909560" y="1737360"/>
            <a:ext cx="777240" cy="274320"/>
          </a:xfrm>
          <a:prstGeom prst="rect">
            <a:avLst/>
          </a:prstGeom>
          <a:solidFill>
            <a:srgbClr val="4136C3"/>
          </a:solidFill>
          <a:ln w="12700">
            <a:solidFill>
              <a:srgbClr val="4136C3"/>
            </a:solidFill>
            <a:prstDash val="solid"/>
          </a:ln>
        </p:spPr>
      </p:sp>
      <p:sp>
        <p:nvSpPr>
          <p:cNvPr id="15" name="Text 13"/>
          <p:cNvSpPr/>
          <p:nvPr/>
        </p:nvSpPr>
        <p:spPr>
          <a:xfrm>
            <a:off x="7909560" y="1737360"/>
            <a:ext cx="777240" cy="274320"/>
          </a:xfrm>
          <a:prstGeom prst="rect">
            <a:avLst/>
          </a:prstGeom>
          <a:noFill/>
          <a:ln/>
        </p:spPr>
        <p:txBody>
          <a:bodyPr wrap="square" rtlCol="0" anchor="ctr"/>
          <a:lstStyle/>
          <a:p>
            <a:pPr marL="0" indent="0" algn="ctr">
              <a:buNone/>
            </a:pPr>
            <a:r>
              <a:rPr lang="en-US" sz="1100" b="1" dirty="0">
                <a:solidFill>
                  <a:srgbClr val="FFFFFF"/>
                </a:solidFill>
                <a:latin typeface="Noto san"/>
              </a:rPr>
              <a:t>35%</a:t>
            </a:r>
            <a:endParaRPr lang="en-US" sz="1100" dirty="0">
              <a:latin typeface="Noto san"/>
            </a:endParaRPr>
          </a:p>
        </p:txBody>
      </p:sp>
      <p:sp>
        <p:nvSpPr>
          <p:cNvPr id="16" name="Text 14"/>
          <p:cNvSpPr/>
          <p:nvPr/>
        </p:nvSpPr>
        <p:spPr>
          <a:xfrm>
            <a:off x="5394960" y="2093976"/>
            <a:ext cx="2560320" cy="36576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Hạ tầng Server &amp; API AI</a:t>
            </a:r>
            <a:endParaRPr lang="en-US" sz="1200" dirty="0">
              <a:latin typeface="Noto san"/>
            </a:endParaRPr>
          </a:p>
        </p:txBody>
      </p:sp>
      <p:sp>
        <p:nvSpPr>
          <p:cNvPr id="17" name="Shape 15"/>
          <p:cNvSpPr/>
          <p:nvPr/>
        </p:nvSpPr>
        <p:spPr>
          <a:xfrm>
            <a:off x="7909560" y="2139696"/>
            <a:ext cx="777240" cy="274320"/>
          </a:xfrm>
          <a:prstGeom prst="rect">
            <a:avLst/>
          </a:prstGeom>
          <a:solidFill>
            <a:srgbClr val="4136C3"/>
          </a:solidFill>
          <a:ln w="12700">
            <a:solidFill>
              <a:srgbClr val="4136C3"/>
            </a:solidFill>
            <a:prstDash val="solid"/>
          </a:ln>
        </p:spPr>
      </p:sp>
      <p:sp>
        <p:nvSpPr>
          <p:cNvPr id="18" name="Text 16"/>
          <p:cNvSpPr/>
          <p:nvPr/>
        </p:nvSpPr>
        <p:spPr>
          <a:xfrm>
            <a:off x="7909560" y="2139696"/>
            <a:ext cx="777240" cy="274320"/>
          </a:xfrm>
          <a:prstGeom prst="rect">
            <a:avLst/>
          </a:prstGeom>
          <a:noFill/>
          <a:ln/>
        </p:spPr>
        <p:txBody>
          <a:bodyPr wrap="square" rtlCol="0" anchor="ctr"/>
          <a:lstStyle/>
          <a:p>
            <a:pPr marL="0" indent="0" algn="ctr">
              <a:buNone/>
            </a:pPr>
            <a:r>
              <a:rPr lang="en-US" sz="1100" b="1" dirty="0">
                <a:solidFill>
                  <a:srgbClr val="FFFFFF"/>
                </a:solidFill>
                <a:latin typeface="Noto san"/>
              </a:rPr>
              <a:t>25%</a:t>
            </a:r>
            <a:endParaRPr lang="en-US" sz="1100" dirty="0">
              <a:latin typeface="Noto san"/>
            </a:endParaRPr>
          </a:p>
        </p:txBody>
      </p:sp>
      <p:sp>
        <p:nvSpPr>
          <p:cNvPr id="19" name="Text 17"/>
          <p:cNvSpPr/>
          <p:nvPr/>
        </p:nvSpPr>
        <p:spPr>
          <a:xfrm>
            <a:off x="5394960" y="2496312"/>
            <a:ext cx="2560320" cy="36576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Nghiên cứu &amp; UX</a:t>
            </a:r>
            <a:endParaRPr lang="en-US" sz="1200" dirty="0">
              <a:latin typeface="Noto san"/>
            </a:endParaRPr>
          </a:p>
        </p:txBody>
      </p:sp>
      <p:sp>
        <p:nvSpPr>
          <p:cNvPr id="20" name="Shape 18"/>
          <p:cNvSpPr/>
          <p:nvPr/>
        </p:nvSpPr>
        <p:spPr>
          <a:xfrm>
            <a:off x="7909560" y="2542032"/>
            <a:ext cx="777240" cy="274320"/>
          </a:xfrm>
          <a:prstGeom prst="rect">
            <a:avLst/>
          </a:prstGeom>
          <a:solidFill>
            <a:srgbClr val="4136C3"/>
          </a:solidFill>
          <a:ln w="12700">
            <a:solidFill>
              <a:srgbClr val="4136C3"/>
            </a:solidFill>
            <a:prstDash val="solid"/>
          </a:ln>
        </p:spPr>
      </p:sp>
      <p:sp>
        <p:nvSpPr>
          <p:cNvPr id="21" name="Text 19"/>
          <p:cNvSpPr/>
          <p:nvPr/>
        </p:nvSpPr>
        <p:spPr>
          <a:xfrm>
            <a:off x="7909560" y="2542032"/>
            <a:ext cx="777240" cy="274320"/>
          </a:xfrm>
          <a:prstGeom prst="rect">
            <a:avLst/>
          </a:prstGeom>
          <a:noFill/>
          <a:ln/>
        </p:spPr>
        <p:txBody>
          <a:bodyPr wrap="square" rtlCol="0" anchor="ctr"/>
          <a:lstStyle/>
          <a:p>
            <a:pPr marL="0" indent="0" algn="ctr">
              <a:buNone/>
            </a:pPr>
            <a:r>
              <a:rPr lang="en-US" sz="1100" b="1" dirty="0">
                <a:solidFill>
                  <a:srgbClr val="FFFFFF"/>
                </a:solidFill>
                <a:latin typeface="Noto san"/>
              </a:rPr>
              <a:t>20%</a:t>
            </a:r>
            <a:endParaRPr lang="en-US" sz="1100" dirty="0">
              <a:latin typeface="Noto san"/>
            </a:endParaRPr>
          </a:p>
        </p:txBody>
      </p:sp>
      <p:sp>
        <p:nvSpPr>
          <p:cNvPr id="22" name="Text 20"/>
          <p:cNvSpPr/>
          <p:nvPr/>
        </p:nvSpPr>
        <p:spPr>
          <a:xfrm>
            <a:off x="5394960" y="2898648"/>
            <a:ext cx="2560320" cy="36576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Tiếp thị &amp; Bán hàng</a:t>
            </a:r>
            <a:endParaRPr lang="en-US" sz="1200" dirty="0">
              <a:latin typeface="Noto san"/>
            </a:endParaRPr>
          </a:p>
        </p:txBody>
      </p:sp>
      <p:sp>
        <p:nvSpPr>
          <p:cNvPr id="23" name="Shape 21"/>
          <p:cNvSpPr/>
          <p:nvPr/>
        </p:nvSpPr>
        <p:spPr>
          <a:xfrm>
            <a:off x="7909560" y="2944368"/>
            <a:ext cx="777240" cy="274320"/>
          </a:xfrm>
          <a:prstGeom prst="rect">
            <a:avLst/>
          </a:prstGeom>
          <a:solidFill>
            <a:srgbClr val="4136C3"/>
          </a:solidFill>
          <a:ln w="12700">
            <a:solidFill>
              <a:srgbClr val="4136C3"/>
            </a:solidFill>
            <a:prstDash val="solid"/>
          </a:ln>
        </p:spPr>
      </p:sp>
      <p:sp>
        <p:nvSpPr>
          <p:cNvPr id="24" name="Text 22"/>
          <p:cNvSpPr/>
          <p:nvPr/>
        </p:nvSpPr>
        <p:spPr>
          <a:xfrm>
            <a:off x="7909560" y="2944368"/>
            <a:ext cx="777240" cy="274320"/>
          </a:xfrm>
          <a:prstGeom prst="rect">
            <a:avLst/>
          </a:prstGeom>
          <a:noFill/>
          <a:ln/>
        </p:spPr>
        <p:txBody>
          <a:bodyPr wrap="square" rtlCol="0" anchor="ctr"/>
          <a:lstStyle/>
          <a:p>
            <a:pPr marL="0" indent="0" algn="ctr">
              <a:buNone/>
            </a:pPr>
            <a:r>
              <a:rPr lang="en-US" sz="1100" b="1" dirty="0">
                <a:solidFill>
                  <a:srgbClr val="FFFFFF"/>
                </a:solidFill>
                <a:latin typeface="Noto san"/>
              </a:rPr>
              <a:t>15%</a:t>
            </a:r>
            <a:endParaRPr lang="en-US" sz="1100" dirty="0">
              <a:latin typeface="Noto san"/>
            </a:endParaRPr>
          </a:p>
        </p:txBody>
      </p:sp>
      <p:sp>
        <p:nvSpPr>
          <p:cNvPr id="25" name="Text 23"/>
          <p:cNvSpPr/>
          <p:nvPr/>
        </p:nvSpPr>
        <p:spPr>
          <a:xfrm>
            <a:off x="5394960" y="3300984"/>
            <a:ext cx="2560320" cy="365760"/>
          </a:xfrm>
          <a:prstGeom prst="rect">
            <a:avLst/>
          </a:prstGeom>
          <a:noFill/>
          <a:ln/>
        </p:spPr>
        <p:txBody>
          <a:bodyPr wrap="square" rtlCol="0" anchor="ctr"/>
          <a:lstStyle/>
          <a:p>
            <a:pPr marL="0" indent="0">
              <a:buNone/>
            </a:pPr>
            <a:r>
              <a:rPr lang="en-US" sz="1200" dirty="0">
                <a:solidFill>
                  <a:srgbClr val="C3C0FF"/>
                </a:solidFill>
                <a:latin typeface="Noto san"/>
                <a:ea typeface="Calibri" pitchFamily="34" charset="-122"/>
                <a:cs typeface="Calibri" pitchFamily="34" charset="-120"/>
              </a:rPr>
              <a:t>Dự phòng rủi ro</a:t>
            </a:r>
            <a:endParaRPr lang="en-US" sz="1200" dirty="0">
              <a:latin typeface="Noto san"/>
            </a:endParaRPr>
          </a:p>
        </p:txBody>
      </p:sp>
      <p:sp>
        <p:nvSpPr>
          <p:cNvPr id="26" name="Shape 24"/>
          <p:cNvSpPr/>
          <p:nvPr/>
        </p:nvSpPr>
        <p:spPr>
          <a:xfrm>
            <a:off x="7909560" y="3346704"/>
            <a:ext cx="777240" cy="274320"/>
          </a:xfrm>
          <a:prstGeom prst="rect">
            <a:avLst/>
          </a:prstGeom>
          <a:solidFill>
            <a:srgbClr val="4136C3"/>
          </a:solidFill>
          <a:ln w="12700">
            <a:solidFill>
              <a:srgbClr val="4136C3"/>
            </a:solidFill>
            <a:prstDash val="solid"/>
          </a:ln>
        </p:spPr>
      </p:sp>
      <p:sp>
        <p:nvSpPr>
          <p:cNvPr id="27" name="Text 25"/>
          <p:cNvSpPr/>
          <p:nvPr/>
        </p:nvSpPr>
        <p:spPr>
          <a:xfrm>
            <a:off x="7909560" y="3346704"/>
            <a:ext cx="777240" cy="274320"/>
          </a:xfrm>
          <a:prstGeom prst="rect">
            <a:avLst/>
          </a:prstGeom>
          <a:noFill/>
          <a:ln/>
        </p:spPr>
        <p:txBody>
          <a:bodyPr wrap="square" rtlCol="0" anchor="ctr"/>
          <a:lstStyle/>
          <a:p>
            <a:pPr marL="0" indent="0" algn="ctr">
              <a:buNone/>
            </a:pPr>
            <a:r>
              <a:rPr lang="en-US" sz="1100" b="1" dirty="0">
                <a:solidFill>
                  <a:srgbClr val="FFFFFF"/>
                </a:solidFill>
                <a:latin typeface="Noto san"/>
              </a:rPr>
              <a:t>5%</a:t>
            </a:r>
            <a:endParaRPr lang="en-US" sz="1100" dirty="0">
              <a:latin typeface="Noto san"/>
            </a:endParaRPr>
          </a:p>
        </p:txBody>
      </p:sp>
      <p:sp>
        <p:nvSpPr>
          <p:cNvPr id="28" name="Text 26"/>
          <p:cNvSpPr/>
          <p:nvPr/>
        </p:nvSpPr>
        <p:spPr>
          <a:xfrm>
            <a:off x="457200" y="4846320"/>
            <a:ext cx="8229600" cy="228600"/>
          </a:xfrm>
          <a:prstGeom prst="rect">
            <a:avLst/>
          </a:prstGeom>
          <a:noFill/>
          <a:ln/>
        </p:spPr>
        <p:txBody>
          <a:bodyPr wrap="square" rtlCol="0" anchor="ctr"/>
          <a:lstStyle/>
          <a:p>
            <a:pPr marL="0" indent="0">
              <a:buNone/>
            </a:pPr>
            <a:r>
              <a:rPr lang="en-US" sz="1000" dirty="0">
                <a:solidFill>
                  <a:srgbClr val="777586"/>
                </a:solidFill>
                <a:latin typeface="Noto san"/>
                <a:ea typeface="Calibri" pitchFamily="34" charset="-122"/>
                <a:cs typeface="Calibri" pitchFamily="34" charset="-120"/>
              </a:rPr>
              <a:t>Scaify AI  ·  Pitch Deck</a:t>
            </a:r>
            <a:endParaRPr lang="en-US" sz="1000" dirty="0">
              <a:latin typeface="Noto s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23"/>
        </a:solidFill>
        <a:effectLst/>
      </p:bgPr>
    </p:bg>
    <p:spTree>
      <p:nvGrpSpPr>
        <p:cNvPr id="1" name=""/>
        <p:cNvGrpSpPr/>
        <p:nvPr/>
      </p:nvGrpSpPr>
      <p:grpSpPr>
        <a:xfrm>
          <a:off x="0" y="0"/>
          <a:ext cx="0" cy="0"/>
          <a:chOff x="0" y="0"/>
          <a:chExt cx="0" cy="0"/>
        </a:xfrm>
      </p:grpSpPr>
      <p:sp>
        <p:nvSpPr>
          <p:cNvPr id="2" name="Shape 0"/>
          <p:cNvSpPr/>
          <p:nvPr/>
        </p:nvSpPr>
        <p:spPr>
          <a:xfrm>
            <a:off x="-1371600" y="-1371600"/>
            <a:ext cx="5486400" cy="5486400"/>
          </a:xfrm>
          <a:prstGeom prst="ellipse">
            <a:avLst/>
          </a:prstGeom>
          <a:solidFill>
            <a:srgbClr val="4136C3">
              <a:alpha val="15000"/>
            </a:srgbClr>
          </a:solidFill>
          <a:ln w="12700">
            <a:solidFill>
              <a:srgbClr val="4136C3">
                <a:alpha val="15000"/>
              </a:srgbClr>
            </a:solidFill>
            <a:prstDash val="solid"/>
          </a:ln>
        </p:spPr>
      </p:sp>
      <p:sp>
        <p:nvSpPr>
          <p:cNvPr id="3" name="Shape 1"/>
          <p:cNvSpPr/>
          <p:nvPr/>
        </p:nvSpPr>
        <p:spPr>
          <a:xfrm>
            <a:off x="6400800" y="2743200"/>
            <a:ext cx="4572000" cy="4572000"/>
          </a:xfrm>
          <a:prstGeom prst="ellipse">
            <a:avLst/>
          </a:prstGeom>
          <a:solidFill>
            <a:srgbClr val="734AA4">
              <a:alpha val="15000"/>
            </a:srgbClr>
          </a:solidFill>
          <a:ln w="12700">
            <a:solidFill>
              <a:srgbClr val="734AA4">
                <a:alpha val="15000"/>
              </a:srgbClr>
            </a:solidFill>
            <a:prstDash val="solid"/>
          </a:ln>
        </p:spPr>
      </p:sp>
      <p:sp>
        <p:nvSpPr>
          <p:cNvPr id="4" name="Shape 2"/>
          <p:cNvSpPr/>
          <p:nvPr/>
        </p:nvSpPr>
        <p:spPr>
          <a:xfrm rot="20839667">
            <a:off x="3657600" y="320039"/>
            <a:ext cx="1019908" cy="1023425"/>
          </a:xfrm>
          <a:prstGeom prst="roundRect">
            <a:avLst>
              <a:gd name="adj" fmla="val 18182"/>
            </a:avLst>
          </a:prstGeom>
          <a:solidFill>
            <a:srgbClr val="2812AD"/>
          </a:solidFill>
          <a:ln w="12700">
            <a:solidFill>
              <a:srgbClr val="4136C3"/>
            </a:solidFill>
            <a:prstDash val="solid"/>
          </a:ln>
        </p:spPr>
      </p:sp>
      <p:sp>
        <p:nvSpPr>
          <p:cNvPr id="5" name="Text 3"/>
          <p:cNvSpPr/>
          <p:nvPr/>
        </p:nvSpPr>
        <p:spPr>
          <a:xfrm rot="20839667">
            <a:off x="3657600" y="320039"/>
            <a:ext cx="1019908" cy="1023425"/>
          </a:xfrm>
          <a:prstGeom prst="rect">
            <a:avLst/>
          </a:prstGeom>
          <a:noFill/>
          <a:ln/>
        </p:spPr>
        <p:txBody>
          <a:bodyPr wrap="square" rtlCol="0" anchor="ctr"/>
          <a:lstStyle/>
          <a:p>
            <a:pPr marL="0" indent="0" algn="ctr">
              <a:buNone/>
            </a:pPr>
            <a:r>
              <a:rPr lang="en-US" sz="4200" b="1" dirty="0">
                <a:solidFill>
                  <a:srgbClr val="FFFFFF"/>
                </a:solidFill>
                <a:latin typeface="Noto san"/>
                <a:ea typeface="Arial Black" pitchFamily="34" charset="-122"/>
                <a:cs typeface="Arial Black" pitchFamily="34" charset="-120"/>
              </a:rPr>
              <a:t>S</a:t>
            </a:r>
            <a:endParaRPr lang="en-US" sz="4200" dirty="0">
              <a:latin typeface="Noto san"/>
            </a:endParaRPr>
          </a:p>
        </p:txBody>
      </p:sp>
      <p:sp>
        <p:nvSpPr>
          <p:cNvPr id="6" name="Text 4"/>
          <p:cNvSpPr/>
          <p:nvPr/>
        </p:nvSpPr>
        <p:spPr>
          <a:xfrm>
            <a:off x="457200" y="1463040"/>
            <a:ext cx="8229600" cy="685800"/>
          </a:xfrm>
          <a:prstGeom prst="rect">
            <a:avLst/>
          </a:prstGeom>
          <a:noFill/>
          <a:ln/>
        </p:spPr>
        <p:txBody>
          <a:bodyPr wrap="square" rtlCol="0" anchor="ctr"/>
          <a:lstStyle/>
          <a:p>
            <a:pPr marL="0" indent="0" algn="ctr">
              <a:buNone/>
            </a:pPr>
            <a:r>
              <a:rPr lang="en-US" sz="4200" b="1" dirty="0">
                <a:solidFill>
                  <a:srgbClr val="FFFFFF"/>
                </a:solidFill>
                <a:latin typeface="Noto san"/>
                <a:ea typeface="Arial Black" pitchFamily="34" charset="-122"/>
                <a:cs typeface="Arial Black" pitchFamily="34" charset="-120"/>
              </a:rPr>
              <a:t>Biến dữ liệu rời rạc</a:t>
            </a:r>
            <a:endParaRPr lang="en-US" sz="4200" dirty="0">
              <a:latin typeface="Noto san"/>
            </a:endParaRPr>
          </a:p>
        </p:txBody>
      </p:sp>
      <p:sp>
        <p:nvSpPr>
          <p:cNvPr id="7" name="Text 5"/>
          <p:cNvSpPr/>
          <p:nvPr/>
        </p:nvSpPr>
        <p:spPr>
          <a:xfrm>
            <a:off x="457200" y="2103120"/>
            <a:ext cx="8229600" cy="685800"/>
          </a:xfrm>
          <a:prstGeom prst="rect">
            <a:avLst/>
          </a:prstGeom>
          <a:noFill/>
          <a:ln/>
        </p:spPr>
        <p:txBody>
          <a:bodyPr wrap="square" rtlCol="0" anchor="ctr"/>
          <a:lstStyle/>
          <a:p>
            <a:pPr marL="0" indent="0" algn="ctr">
              <a:buNone/>
            </a:pPr>
            <a:r>
              <a:rPr lang="en-US" sz="4200" b="1" dirty="0">
                <a:solidFill>
                  <a:srgbClr val="9B72F9"/>
                </a:solidFill>
                <a:latin typeface="Noto san"/>
                <a:ea typeface="Arial Black" pitchFamily="34" charset="-122"/>
                <a:cs typeface="Arial Black" pitchFamily="34" charset="-120"/>
              </a:rPr>
              <a:t>thành hồ sơ sạch.</a:t>
            </a:r>
            <a:endParaRPr lang="en-US" sz="4200" dirty="0">
              <a:latin typeface="Noto san"/>
            </a:endParaRPr>
          </a:p>
        </p:txBody>
      </p:sp>
      <p:sp>
        <p:nvSpPr>
          <p:cNvPr id="8" name="Text 6"/>
          <p:cNvSpPr/>
          <p:nvPr/>
        </p:nvSpPr>
        <p:spPr>
          <a:xfrm>
            <a:off x="1097280" y="2834640"/>
            <a:ext cx="6949440" cy="685800"/>
          </a:xfrm>
          <a:prstGeom prst="rect">
            <a:avLst/>
          </a:prstGeom>
          <a:noFill/>
          <a:ln/>
        </p:spPr>
        <p:txBody>
          <a:bodyPr wrap="square" rtlCol="0" anchor="ctr"/>
          <a:lstStyle/>
          <a:p>
            <a:pPr marL="0" indent="0" algn="ctr">
              <a:buNone/>
            </a:pPr>
            <a:r>
              <a:rPr lang="en-US" sz="1400" i="1" dirty="0">
                <a:solidFill>
                  <a:srgbClr val="C3C0FF"/>
                </a:solidFill>
                <a:latin typeface="Noto san"/>
                <a:ea typeface="Calibri" pitchFamily="34" charset="-122"/>
                <a:cs typeface="Calibri" pitchFamily="34" charset="-120"/>
              </a:rPr>
              <a:t>Hành trình chuẩn hóa dữ liệu của bạn bắt đầu từ đây. Scaify cung cấp nền tảng thông minh giúp kiến tạo nguồn sự thật duy nhất, tối ưu hóa quy trình và sẵn sàng cho tương lai AI.</a:t>
            </a:r>
            <a:endParaRPr lang="en-US" sz="1400" dirty="0">
              <a:latin typeface="Noto san"/>
            </a:endParaRPr>
          </a:p>
        </p:txBody>
      </p:sp>
      <p:sp>
        <p:nvSpPr>
          <p:cNvPr id="9" name="Shape 7"/>
          <p:cNvSpPr/>
          <p:nvPr/>
        </p:nvSpPr>
        <p:spPr>
          <a:xfrm>
            <a:off x="822960" y="3611880"/>
            <a:ext cx="2377440" cy="1051560"/>
          </a:xfrm>
          <a:prstGeom prst="rect">
            <a:avLst/>
          </a:prstGeom>
          <a:solidFill>
            <a:srgbClr val="FFFFFF">
              <a:alpha val="7000"/>
            </a:srgbClr>
          </a:solidFill>
          <a:ln w="12700">
            <a:solidFill>
              <a:srgbClr val="9B72F9">
                <a:alpha val="40000"/>
              </a:srgbClr>
            </a:solidFill>
            <a:prstDash val="solid"/>
          </a:ln>
          <a:effectLst>
            <a:outerShdw blurRad="101600" dist="38100" dir="8100000" algn="bl" rotWithShape="0">
              <a:srgbClr val="000000">
                <a:alpha val="10000"/>
              </a:srgbClr>
            </a:outerShdw>
          </a:effectLst>
        </p:spPr>
      </p:sp>
      <p:sp>
        <p:nvSpPr>
          <p:cNvPr id="10" name="Text 8"/>
          <p:cNvSpPr/>
          <p:nvPr/>
        </p:nvSpPr>
        <p:spPr>
          <a:xfrm>
            <a:off x="822960" y="3657600"/>
            <a:ext cx="2377440" cy="411480"/>
          </a:xfrm>
          <a:prstGeom prst="rect">
            <a:avLst/>
          </a:prstGeom>
          <a:noFill/>
          <a:ln/>
        </p:spPr>
        <p:txBody>
          <a:bodyPr wrap="square" rtlCol="0" anchor="ctr"/>
          <a:lstStyle/>
          <a:p>
            <a:pPr marL="0" indent="0" algn="ctr">
              <a:buNone/>
            </a:pPr>
            <a:r>
              <a:rPr lang="en-US" sz="1300" b="1" dirty="0">
                <a:solidFill>
                  <a:srgbClr val="FFFFFF"/>
                </a:solidFill>
                <a:latin typeface="Noto san"/>
                <a:ea typeface="Arial" pitchFamily="34" charset="-122"/>
                <a:cs typeface="Arial" pitchFamily="34" charset="-120"/>
              </a:rPr>
              <a:t>✉️  Email</a:t>
            </a:r>
            <a:endParaRPr lang="en-US" sz="1300" dirty="0">
              <a:latin typeface="Noto san"/>
            </a:endParaRPr>
          </a:p>
        </p:txBody>
      </p:sp>
      <p:sp>
        <p:nvSpPr>
          <p:cNvPr id="11" name="Text 9"/>
          <p:cNvSpPr/>
          <p:nvPr/>
        </p:nvSpPr>
        <p:spPr>
          <a:xfrm>
            <a:off x="822960" y="4114800"/>
            <a:ext cx="2377440" cy="457200"/>
          </a:xfrm>
          <a:prstGeom prst="rect">
            <a:avLst/>
          </a:prstGeom>
          <a:noFill/>
          <a:ln/>
        </p:spPr>
        <p:txBody>
          <a:bodyPr wrap="square" rtlCol="0" anchor="ctr"/>
          <a:lstStyle/>
          <a:p>
            <a:pPr marL="0" indent="0" algn="ctr">
              <a:buNone/>
            </a:pPr>
            <a:r>
              <a:rPr lang="en-US" sz="1200" dirty="0">
                <a:solidFill>
                  <a:srgbClr val="C3C0FF"/>
                </a:solidFill>
                <a:latin typeface="Noto san"/>
                <a:ea typeface="Calibri" pitchFamily="34" charset="-122"/>
                <a:cs typeface="Calibri" pitchFamily="34" charset="-120"/>
              </a:rPr>
              <a:t>hello@scaify.ai</a:t>
            </a:r>
            <a:endParaRPr lang="en-US" sz="1200" dirty="0">
              <a:latin typeface="Noto san"/>
            </a:endParaRPr>
          </a:p>
        </p:txBody>
      </p:sp>
      <p:sp>
        <p:nvSpPr>
          <p:cNvPr id="12" name="Shape 10"/>
          <p:cNvSpPr/>
          <p:nvPr/>
        </p:nvSpPr>
        <p:spPr>
          <a:xfrm>
            <a:off x="3474720" y="3611880"/>
            <a:ext cx="2377440" cy="1051560"/>
          </a:xfrm>
          <a:prstGeom prst="rect">
            <a:avLst/>
          </a:prstGeom>
          <a:solidFill>
            <a:srgbClr val="FFFFFF">
              <a:alpha val="7000"/>
            </a:srgbClr>
          </a:solidFill>
          <a:ln w="12700">
            <a:solidFill>
              <a:srgbClr val="9B72F9">
                <a:alpha val="40000"/>
              </a:srgbClr>
            </a:solidFill>
            <a:prstDash val="solid"/>
          </a:ln>
          <a:effectLst>
            <a:outerShdw blurRad="101600" dist="38100" dir="8100000" algn="bl" rotWithShape="0">
              <a:srgbClr val="000000">
                <a:alpha val="10000"/>
              </a:srgbClr>
            </a:outerShdw>
          </a:effectLst>
        </p:spPr>
      </p:sp>
      <p:sp>
        <p:nvSpPr>
          <p:cNvPr id="13" name="Text 11"/>
          <p:cNvSpPr/>
          <p:nvPr/>
        </p:nvSpPr>
        <p:spPr>
          <a:xfrm>
            <a:off x="3474720" y="3657600"/>
            <a:ext cx="2377440" cy="411480"/>
          </a:xfrm>
          <a:prstGeom prst="rect">
            <a:avLst/>
          </a:prstGeom>
          <a:noFill/>
          <a:ln/>
        </p:spPr>
        <p:txBody>
          <a:bodyPr wrap="square" rtlCol="0" anchor="ctr"/>
          <a:lstStyle/>
          <a:p>
            <a:pPr marL="0" indent="0" algn="ctr">
              <a:buNone/>
            </a:pPr>
            <a:r>
              <a:rPr lang="en-US" sz="1300" b="1" dirty="0">
                <a:solidFill>
                  <a:srgbClr val="FFFFFF"/>
                </a:solidFill>
                <a:latin typeface="Noto san"/>
                <a:ea typeface="Arial" pitchFamily="34" charset="-122"/>
                <a:cs typeface="Arial" pitchFamily="34" charset="-120"/>
              </a:rPr>
              <a:t>📞  Hotline</a:t>
            </a:r>
            <a:endParaRPr lang="en-US" sz="1300" dirty="0">
              <a:latin typeface="Noto san"/>
            </a:endParaRPr>
          </a:p>
        </p:txBody>
      </p:sp>
      <p:sp>
        <p:nvSpPr>
          <p:cNvPr id="14" name="Text 12"/>
          <p:cNvSpPr/>
          <p:nvPr/>
        </p:nvSpPr>
        <p:spPr>
          <a:xfrm>
            <a:off x="3474720" y="4114800"/>
            <a:ext cx="2377440" cy="457200"/>
          </a:xfrm>
          <a:prstGeom prst="rect">
            <a:avLst/>
          </a:prstGeom>
          <a:noFill/>
          <a:ln/>
        </p:spPr>
        <p:txBody>
          <a:bodyPr wrap="square" rtlCol="0" anchor="ctr"/>
          <a:lstStyle/>
          <a:p>
            <a:pPr marL="0" indent="0" algn="ctr">
              <a:buNone/>
            </a:pPr>
            <a:r>
              <a:rPr lang="en-US" sz="1200" dirty="0">
                <a:solidFill>
                  <a:srgbClr val="C3C0FF"/>
                </a:solidFill>
                <a:latin typeface="Noto san"/>
                <a:ea typeface="Calibri" pitchFamily="34" charset="-122"/>
                <a:cs typeface="Calibri" pitchFamily="34" charset="-120"/>
              </a:rPr>
              <a:t>1900 8888</a:t>
            </a:r>
            <a:endParaRPr lang="en-US" sz="1200" dirty="0">
              <a:latin typeface="Noto san"/>
            </a:endParaRPr>
          </a:p>
        </p:txBody>
      </p:sp>
      <p:sp>
        <p:nvSpPr>
          <p:cNvPr id="15" name="Shape 13"/>
          <p:cNvSpPr/>
          <p:nvPr/>
        </p:nvSpPr>
        <p:spPr>
          <a:xfrm>
            <a:off x="6126480" y="3611880"/>
            <a:ext cx="2377440" cy="1051560"/>
          </a:xfrm>
          <a:prstGeom prst="rect">
            <a:avLst/>
          </a:prstGeom>
          <a:solidFill>
            <a:srgbClr val="FFFFFF">
              <a:alpha val="7000"/>
            </a:srgbClr>
          </a:solidFill>
          <a:ln w="12700">
            <a:solidFill>
              <a:srgbClr val="9B72F9">
                <a:alpha val="40000"/>
              </a:srgbClr>
            </a:solidFill>
            <a:prstDash val="solid"/>
          </a:ln>
          <a:effectLst>
            <a:outerShdw blurRad="101600" dist="38100" dir="8100000" algn="bl" rotWithShape="0">
              <a:srgbClr val="000000">
                <a:alpha val="10000"/>
              </a:srgbClr>
            </a:outerShdw>
          </a:effectLst>
        </p:spPr>
        <p:txBody>
          <a:bodyPr/>
          <a:lstStyle/>
          <a:p>
            <a:endParaRPr lang="en-US" dirty="0"/>
          </a:p>
        </p:txBody>
      </p:sp>
      <p:sp>
        <p:nvSpPr>
          <p:cNvPr id="16" name="Text 14"/>
          <p:cNvSpPr/>
          <p:nvPr/>
        </p:nvSpPr>
        <p:spPr>
          <a:xfrm>
            <a:off x="6126480" y="3657600"/>
            <a:ext cx="2377440" cy="411480"/>
          </a:xfrm>
          <a:prstGeom prst="rect">
            <a:avLst/>
          </a:prstGeom>
          <a:noFill/>
          <a:ln/>
        </p:spPr>
        <p:txBody>
          <a:bodyPr wrap="square" rtlCol="0" anchor="ctr"/>
          <a:lstStyle/>
          <a:p>
            <a:pPr marL="0" indent="0" algn="ctr">
              <a:buNone/>
            </a:pPr>
            <a:r>
              <a:rPr lang="en-US" sz="1300" b="1" dirty="0">
                <a:solidFill>
                  <a:srgbClr val="FFFFFF"/>
                </a:solidFill>
                <a:latin typeface="Noto san"/>
                <a:ea typeface="Arial" pitchFamily="34" charset="-122"/>
                <a:cs typeface="Arial" pitchFamily="34" charset="-120"/>
              </a:rPr>
              <a:t>🌐  Website</a:t>
            </a:r>
            <a:endParaRPr lang="en-US" sz="1300" dirty="0">
              <a:latin typeface="Noto san"/>
            </a:endParaRPr>
          </a:p>
        </p:txBody>
      </p:sp>
      <p:sp>
        <p:nvSpPr>
          <p:cNvPr id="17" name="Text 15"/>
          <p:cNvSpPr/>
          <p:nvPr/>
        </p:nvSpPr>
        <p:spPr>
          <a:xfrm>
            <a:off x="6126480" y="4114800"/>
            <a:ext cx="2377440" cy="457200"/>
          </a:xfrm>
          <a:prstGeom prst="rect">
            <a:avLst/>
          </a:prstGeom>
          <a:noFill/>
          <a:ln/>
        </p:spPr>
        <p:txBody>
          <a:bodyPr wrap="square" rtlCol="0" anchor="ctr"/>
          <a:lstStyle/>
          <a:p>
            <a:pPr marL="0" indent="0" algn="ctr">
              <a:buNone/>
            </a:pPr>
            <a:r>
              <a:rPr lang="en-US" sz="1200" dirty="0">
                <a:solidFill>
                  <a:srgbClr val="C3C0FF"/>
                </a:solidFill>
                <a:latin typeface="Noto san"/>
                <a:ea typeface="Calibri" pitchFamily="34" charset="-122"/>
                <a:cs typeface="Calibri" pitchFamily="34" charset="-120"/>
              </a:rPr>
              <a:t>https://a20-app-072.onehub.cfd/</a:t>
            </a:r>
            <a:endParaRPr lang="en-US" sz="1200" dirty="0">
              <a:latin typeface="Noto san"/>
            </a:endParaRPr>
          </a:p>
        </p:txBody>
      </p:sp>
      <p:sp>
        <p:nvSpPr>
          <p:cNvPr id="18" name="Text 16"/>
          <p:cNvSpPr/>
          <p:nvPr/>
        </p:nvSpPr>
        <p:spPr>
          <a:xfrm>
            <a:off x="457200" y="4800600"/>
            <a:ext cx="8229600" cy="274320"/>
          </a:xfrm>
          <a:prstGeom prst="rect">
            <a:avLst/>
          </a:prstGeom>
          <a:noFill/>
          <a:ln/>
        </p:spPr>
        <p:txBody>
          <a:bodyPr wrap="square" rtlCol="0" anchor="ctr"/>
          <a:lstStyle/>
          <a:p>
            <a:pPr marL="0" indent="0" algn="ctr">
              <a:buNone/>
            </a:pPr>
            <a:r>
              <a:rPr lang="en-US" sz="1000" dirty="0">
                <a:solidFill>
                  <a:srgbClr val="777586"/>
                </a:solidFill>
                <a:latin typeface="Calibri" pitchFamily="34" charset="0"/>
                <a:ea typeface="Calibri" pitchFamily="34" charset="-122"/>
                <a:cs typeface="Calibri" pitchFamily="34" charset="-120"/>
              </a:rPr>
              <a:t>Team 072 · VinUni · © 2026 Scaify AI Intelligence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TotalTime>
  <Words>1628</Words>
  <Application>Microsoft Office PowerPoint</Application>
  <PresentationFormat>On-screen Show (16:9)</PresentationFormat>
  <Paragraphs>214</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Arial Black</vt:lpstr>
      <vt:lpstr>Calibri</vt:lpstr>
      <vt:lpstr>Noto san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Scaify AI — Pitch Deck</dc:title>
  <dc:subject>PptxGenJS Presentation</dc:subject>
  <dc:creator>Team 072</dc:creator>
  <cp:lastModifiedBy>Nguyen Thi Tuyet (S.AI.20K)</cp:lastModifiedBy>
  <cp:revision>5</cp:revision>
  <dcterms:created xsi:type="dcterms:W3CDTF">2026-05-15T23:09:03Z</dcterms:created>
  <dcterms:modified xsi:type="dcterms:W3CDTF">2026-05-16T22:57:06Z</dcterms:modified>
</cp:coreProperties>
</file>