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51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7390" y="1873895"/>
            <a:ext cx="804922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Phân tích tài chính sản phẩm Scaify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47390" y="2911525"/>
            <a:ext cx="804922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9333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Định giá thực dụng &amp; Chiến lược thương mại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47390" y="3509814"/>
            <a:ext cx="804922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Người trình bày: Scaify Team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4625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Cấu trúc thương mại SaaS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30039"/>
            <a:ext cx="857250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333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Scaify áp dụng mô hình SaaS nhiều tầng để tối ưu hóa phễu khách hàng.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653332"/>
            <a:ext cx="4643438" cy="19859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653332"/>
            <a:ext cx="1130638" cy="38933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653332"/>
            <a:ext cx="1130638" cy="389334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Tầng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702138" y="1653332"/>
            <a:ext cx="1235646" cy="38933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6"/>
          <p:cNvSpPr/>
          <p:nvPr/>
        </p:nvSpPr>
        <p:spPr>
          <a:xfrm>
            <a:off x="1702138" y="1653332"/>
            <a:ext cx="1235646" cy="389334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Mô hình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937783" y="1653332"/>
            <a:ext cx="2277154" cy="38933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1" name="Text 8"/>
          <p:cNvSpPr/>
          <p:nvPr/>
        </p:nvSpPr>
        <p:spPr>
          <a:xfrm>
            <a:off x="2937783" y="1653332"/>
            <a:ext cx="2277154" cy="3893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Mục tiêu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1500" y="2042666"/>
            <a:ext cx="1130638" cy="528638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Freemium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702138" y="2042666"/>
            <a:ext cx="1235646" cy="528638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Miễn phí có giới hạn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937783" y="2042666"/>
            <a:ext cx="2277154" cy="5286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Thu hút người dùng mới &amp; tạo thói quen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71500" y="2571304"/>
            <a:ext cx="1130638" cy="532209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Subscription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702138" y="2571304"/>
            <a:ext cx="1235646" cy="532209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Trả phí định kỳ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937783" y="2571304"/>
            <a:ext cx="2277154" cy="53220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Doanh thu chính từ Professional Seller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1500" y="3103513"/>
            <a:ext cx="1130638" cy="532209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Workspace + API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702138" y="3103513"/>
            <a:ext cx="1235646" cy="532209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B2B / Enterprise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937783" y="3103513"/>
            <a:ext cx="2277154" cy="53220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Tăng giá trị trên mỗi khách hàng (Phase 3)</a:t>
            </a:r>
            <a:endParaRPr lang="en-US" sz="8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653332"/>
            <a:ext cx="2857500" cy="28575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0" y="4510832"/>
            <a:ext cx="9144000" cy="369689"/>
          </a:xfrm>
          <a:prstGeom prst="rect">
            <a:avLst/>
          </a:prstGeom>
          <a:noFill/>
          <a:ln/>
        </p:spPr>
        <p:txBody>
          <a:bodyPr wrap="square" lIns="680339" tIns="25514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i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*Gói Professional (299.000đ/tháng) là trọng tâm thương mại cốt lõi.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4625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So sánh chi phí với đối thủ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30039"/>
            <a:ext cx="857250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333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Scaify định vị mức giá cạnh tranh so với các giải pháp kế toán và POS phổ biến.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653332"/>
            <a:ext cx="8001000" cy="22538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653332"/>
            <a:ext cx="2122084" cy="46077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653332"/>
            <a:ext cx="2122084" cy="4607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Tiêu chí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693584" y="1653332"/>
            <a:ext cx="1102649" cy="460772"/>
          </a:xfrm>
          <a:prstGeom prst="rect">
            <a:avLst/>
          </a:prstGeom>
          <a:solidFill>
            <a:srgbClr val="581C87"/>
          </a:solidFill>
          <a:ln/>
        </p:spPr>
      </p:sp>
      <p:sp>
        <p:nvSpPr>
          <p:cNvPr id="9" name="Text 6"/>
          <p:cNvSpPr/>
          <p:nvPr/>
        </p:nvSpPr>
        <p:spPr>
          <a:xfrm>
            <a:off x="2693584" y="1653332"/>
            <a:ext cx="1102649" cy="460772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Scaify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796233" y="1653332"/>
            <a:ext cx="1637649" cy="46077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1" name="Text 8"/>
          <p:cNvSpPr/>
          <p:nvPr/>
        </p:nvSpPr>
        <p:spPr>
          <a:xfrm>
            <a:off x="3796233" y="1653332"/>
            <a:ext cx="1637649" cy="4607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MISA AMIS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33882" y="1653332"/>
            <a:ext cx="1569281" cy="46077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0"/>
          <p:cNvSpPr/>
          <p:nvPr/>
        </p:nvSpPr>
        <p:spPr>
          <a:xfrm>
            <a:off x="5433882" y="1653332"/>
            <a:ext cx="1569281" cy="4607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KiotViet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003163" y="1653332"/>
            <a:ext cx="1569337" cy="46077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5" name="Text 12"/>
          <p:cNvSpPr/>
          <p:nvPr/>
        </p:nvSpPr>
        <p:spPr>
          <a:xfrm>
            <a:off x="7003163" y="1653332"/>
            <a:ext cx="1569337" cy="4607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Sapo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1500" y="2114104"/>
            <a:ext cx="2122084" cy="44469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Giá khởi điểm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93584" y="2114104"/>
            <a:ext cx="1102649" cy="444698"/>
          </a:xfrm>
          <a:prstGeom prst="rect">
            <a:avLst/>
          </a:prstGeom>
          <a:solidFill>
            <a:srgbClr val="9333EA">
              <a:alpha val="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2693584" y="2551658"/>
            <a:ext cx="1102649" cy="7144"/>
          </a:xfrm>
          <a:prstGeom prst="rect">
            <a:avLst/>
          </a:prstGeom>
          <a:solidFill>
            <a:srgbClr val="E9D5FF"/>
          </a:solidFill>
          <a:ln/>
        </p:spPr>
      </p:sp>
      <p:sp>
        <p:nvSpPr>
          <p:cNvPr id="19" name="Text 16"/>
          <p:cNvSpPr/>
          <p:nvPr/>
        </p:nvSpPr>
        <p:spPr>
          <a:xfrm>
            <a:off x="2693584" y="2114104"/>
            <a:ext cx="1102649" cy="444698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0đ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796233" y="2114104"/>
            <a:ext cx="1637649" cy="44469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350K – 500K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433882" y="2114104"/>
            <a:ext cx="1569281" cy="44469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200K – 800K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003163" y="2114104"/>
            <a:ext cx="1569337" cy="44469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199K – 599K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71500" y="2558802"/>
            <a:ext cx="2122084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Gói chính/tháng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693584" y="2558802"/>
            <a:ext cx="1102649" cy="448270"/>
          </a:xfrm>
          <a:prstGeom prst="rect">
            <a:avLst/>
          </a:prstGeom>
          <a:solidFill>
            <a:srgbClr val="9333EA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693584" y="2999929"/>
            <a:ext cx="1102649" cy="7144"/>
          </a:xfrm>
          <a:prstGeom prst="rect">
            <a:avLst/>
          </a:prstGeom>
          <a:solidFill>
            <a:srgbClr val="E9D5FF"/>
          </a:solidFill>
          <a:ln/>
        </p:spPr>
      </p:sp>
      <p:sp>
        <p:nvSpPr>
          <p:cNvPr id="26" name="Text 23"/>
          <p:cNvSpPr/>
          <p:nvPr/>
        </p:nvSpPr>
        <p:spPr>
          <a:xfrm>
            <a:off x="2693584" y="2558802"/>
            <a:ext cx="1102649" cy="448270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299K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796233" y="2558802"/>
            <a:ext cx="1637649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1,5tr – 3tr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433882" y="2558802"/>
            <a:ext cx="1569281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800K – 1,5tr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003163" y="2558802"/>
            <a:ext cx="1569337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599K – 1,2tr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71500" y="3007072"/>
            <a:ext cx="2122084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Phí setup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693584" y="3007072"/>
            <a:ext cx="1102649" cy="448270"/>
          </a:xfrm>
          <a:prstGeom prst="rect">
            <a:avLst/>
          </a:prstGeom>
          <a:solidFill>
            <a:srgbClr val="9333EA">
              <a:alpha val="5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693584" y="3448199"/>
            <a:ext cx="1102649" cy="7144"/>
          </a:xfrm>
          <a:prstGeom prst="rect">
            <a:avLst/>
          </a:prstGeom>
          <a:solidFill>
            <a:srgbClr val="E9D5FF"/>
          </a:solidFill>
          <a:ln/>
        </p:spPr>
      </p:sp>
      <p:sp>
        <p:nvSpPr>
          <p:cNvPr id="33" name="Text 30"/>
          <p:cNvSpPr/>
          <p:nvPr/>
        </p:nvSpPr>
        <p:spPr>
          <a:xfrm>
            <a:off x="2693584" y="3007072"/>
            <a:ext cx="1102649" cy="448270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0đ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796233" y="3007072"/>
            <a:ext cx="1637649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2–5tr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433882" y="3007072"/>
            <a:ext cx="1569281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1–3tr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003163" y="3007072"/>
            <a:ext cx="1569337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1–2tr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71500" y="3455343"/>
            <a:ext cx="2122084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Cam kết tối thiểu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2693584" y="3455343"/>
            <a:ext cx="1102649" cy="448270"/>
          </a:xfrm>
          <a:prstGeom prst="rect">
            <a:avLst/>
          </a:prstGeom>
          <a:solidFill>
            <a:srgbClr val="9333EA">
              <a:alpha val="5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2693584" y="3896469"/>
            <a:ext cx="1102649" cy="7144"/>
          </a:xfrm>
          <a:prstGeom prst="rect">
            <a:avLst/>
          </a:prstGeom>
          <a:solidFill>
            <a:srgbClr val="E9D5FF"/>
          </a:solidFill>
          <a:ln/>
        </p:spPr>
      </p:sp>
      <p:sp>
        <p:nvSpPr>
          <p:cNvPr id="40" name="Text 37"/>
          <p:cNvSpPr/>
          <p:nvPr/>
        </p:nvSpPr>
        <p:spPr>
          <a:xfrm>
            <a:off x="2693584" y="3455343"/>
            <a:ext cx="1102649" cy="448270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Không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796233" y="3455343"/>
            <a:ext cx="1637649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6–12 tháng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433882" y="3455343"/>
            <a:ext cx="1569281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tháng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7003163" y="3455343"/>
            <a:ext cx="1569337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3–6 tháng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0" y="3907185"/>
            <a:ext cx="9144000" cy="441127"/>
          </a:xfrm>
          <a:prstGeom prst="rect">
            <a:avLst/>
          </a:prstGeom>
          <a:noFill/>
          <a:ln/>
        </p:spPr>
        <p:txBody>
          <a:bodyPr wrap="square" lIns="680339" tIns="34023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i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*Scaify loại bỏ rào cản gia nhập với phí setup 0đ và không cam kết thời hạn.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03188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So sánh giá trị mang lại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958602"/>
            <a:ext cx="857250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333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Tập trung giải quyết các pain point chuyên sâu về đối soát và thuế.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10457"/>
            <a:ext cx="5357813" cy="18984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510457"/>
            <a:ext cx="1957388" cy="326827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510457"/>
            <a:ext cx="1957388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Tính năng cốt lõi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528888" y="1510457"/>
            <a:ext cx="980926" cy="326827"/>
          </a:xfrm>
          <a:prstGeom prst="rect">
            <a:avLst/>
          </a:prstGeom>
          <a:solidFill>
            <a:srgbClr val="581C87"/>
          </a:solidFill>
          <a:ln/>
        </p:spPr>
      </p:sp>
      <p:sp>
        <p:nvSpPr>
          <p:cNvPr id="9" name="Text 6"/>
          <p:cNvSpPr/>
          <p:nvPr/>
        </p:nvSpPr>
        <p:spPr>
          <a:xfrm>
            <a:off x="2528888" y="1510457"/>
            <a:ext cx="980926" cy="32682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Scaify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509814" y="1510457"/>
            <a:ext cx="811960" cy="326827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1" name="Text 8"/>
          <p:cNvSpPr/>
          <p:nvPr/>
        </p:nvSpPr>
        <p:spPr>
          <a:xfrm>
            <a:off x="3509814" y="1510457"/>
            <a:ext cx="811960" cy="32682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MISA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321773" y="1510457"/>
            <a:ext cx="828396" cy="326827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0"/>
          <p:cNvSpPr/>
          <p:nvPr/>
        </p:nvSpPr>
        <p:spPr>
          <a:xfrm>
            <a:off x="4321773" y="1510457"/>
            <a:ext cx="828396" cy="32682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KiotViet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150169" y="1510457"/>
            <a:ext cx="779143" cy="326827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5" name="Text 12"/>
          <p:cNvSpPr/>
          <p:nvPr/>
        </p:nvSpPr>
        <p:spPr>
          <a:xfrm>
            <a:off x="5150169" y="1510457"/>
            <a:ext cx="779143" cy="32682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Sapo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71500" y="1837283"/>
            <a:ext cx="1957388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Đối soát CSV vs ảnh OCR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2528888" y="1837283"/>
            <a:ext cx="980926" cy="310753"/>
          </a:xfrm>
          <a:prstGeom prst="rect">
            <a:avLst/>
          </a:prstGeom>
          <a:solidFill>
            <a:srgbClr val="9333EA">
              <a:alpha val="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2528888" y="2140893"/>
            <a:ext cx="980926" cy="7144"/>
          </a:xfrm>
          <a:prstGeom prst="rect">
            <a:avLst/>
          </a:prstGeom>
          <a:solidFill>
            <a:srgbClr val="E9D5FF"/>
          </a:solidFill>
          <a:ln/>
        </p:spPr>
      </p:sp>
      <p:sp>
        <p:nvSpPr>
          <p:cNvPr id="19" name="Text 16"/>
          <p:cNvSpPr/>
          <p:nvPr/>
        </p:nvSpPr>
        <p:spPr>
          <a:xfrm>
            <a:off x="2528888" y="1837283"/>
            <a:ext cx="980926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Chuyên sâu</a:t>
            </a:r>
            <a:endParaRPr lang="en-US" sz="7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526" y="1942654"/>
            <a:ext cx="62508" cy="100013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717" y="1942654"/>
            <a:ext cx="62508" cy="100013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8473" y="1942654"/>
            <a:ext cx="62508" cy="10001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" y="2148036"/>
            <a:ext cx="1957388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Cảnh báo ngưỡng 1 tỷ</a:t>
            </a:r>
            <a:endParaRPr lang="en-US" sz="700" dirty="0"/>
          </a:p>
        </p:txBody>
      </p:sp>
      <p:sp>
        <p:nvSpPr>
          <p:cNvPr id="24" name="Shape 18"/>
          <p:cNvSpPr/>
          <p:nvPr/>
        </p:nvSpPr>
        <p:spPr>
          <a:xfrm>
            <a:off x="2528888" y="2148036"/>
            <a:ext cx="980926" cy="314325"/>
          </a:xfrm>
          <a:prstGeom prst="rect">
            <a:avLst/>
          </a:prstGeom>
          <a:solidFill>
            <a:srgbClr val="9333EA">
              <a:alpha val="5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2528888" y="2455218"/>
            <a:ext cx="980926" cy="7144"/>
          </a:xfrm>
          <a:prstGeom prst="rect">
            <a:avLst/>
          </a:prstGeom>
          <a:solidFill>
            <a:srgbClr val="E9D5FF"/>
          </a:solidFill>
          <a:ln/>
        </p:spPr>
      </p:sp>
      <p:sp>
        <p:nvSpPr>
          <p:cNvPr id="26" name="Text 20"/>
          <p:cNvSpPr/>
          <p:nvPr/>
        </p:nvSpPr>
        <p:spPr>
          <a:xfrm>
            <a:off x="2528888" y="2148036"/>
            <a:ext cx="980926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Tự động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3509814" y="2148036"/>
            <a:ext cx="811960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Thủ công</a:t>
            </a:r>
            <a:endParaRPr lang="en-US" sz="7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717" y="2256979"/>
            <a:ext cx="62508" cy="100013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8473" y="2256979"/>
            <a:ext cx="62508" cy="10001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71500" y="2462361"/>
            <a:ext cx="1957388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Explain Tax (AI)</a:t>
            </a:r>
            <a:endParaRPr lang="en-US" sz="700" dirty="0"/>
          </a:p>
        </p:txBody>
      </p:sp>
      <p:sp>
        <p:nvSpPr>
          <p:cNvPr id="31" name="Shape 23"/>
          <p:cNvSpPr/>
          <p:nvPr/>
        </p:nvSpPr>
        <p:spPr>
          <a:xfrm>
            <a:off x="2528888" y="2462361"/>
            <a:ext cx="980926" cy="314325"/>
          </a:xfrm>
          <a:prstGeom prst="rect">
            <a:avLst/>
          </a:prstGeom>
          <a:solidFill>
            <a:srgbClr val="9333EA">
              <a:alpha val="5000"/>
            </a:srgbClr>
          </a:solidFill>
          <a:ln/>
        </p:spPr>
      </p:sp>
      <p:sp>
        <p:nvSpPr>
          <p:cNvPr id="32" name="Shape 24"/>
          <p:cNvSpPr/>
          <p:nvPr/>
        </p:nvSpPr>
        <p:spPr>
          <a:xfrm>
            <a:off x="2528888" y="2769543"/>
            <a:ext cx="980926" cy="7144"/>
          </a:xfrm>
          <a:prstGeom prst="rect">
            <a:avLst/>
          </a:prstGeom>
          <a:solidFill>
            <a:srgbClr val="E9D5FF"/>
          </a:solidFill>
          <a:ln/>
        </p:spPr>
      </p:sp>
      <p:sp>
        <p:nvSpPr>
          <p:cNvPr id="33" name="Text 25"/>
          <p:cNvSpPr/>
          <p:nvPr/>
        </p:nvSpPr>
        <p:spPr>
          <a:xfrm>
            <a:off x="2528888" y="2462361"/>
            <a:ext cx="980926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Minh bạch</a:t>
            </a:r>
            <a:endParaRPr lang="en-US" sz="700" dirty="0"/>
          </a:p>
        </p:txBody>
      </p:sp>
      <p:sp>
        <p:nvSpPr>
          <p:cNvPr id="34" name="Text 26"/>
          <p:cNvSpPr/>
          <p:nvPr/>
        </p:nvSpPr>
        <p:spPr>
          <a:xfrm>
            <a:off x="3509814" y="2462361"/>
            <a:ext cx="811960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Khô khan</a:t>
            </a:r>
            <a:endParaRPr lang="en-US" sz="7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717" y="2571304"/>
            <a:ext cx="62508" cy="100013"/>
          </a:xfrm>
          <a:prstGeom prst="rect">
            <a:avLst/>
          </a:prstGeom>
        </p:spPr>
      </p:pic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8473" y="2571304"/>
            <a:ext cx="62508" cy="100013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71500" y="2776686"/>
            <a:ext cx="1957388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Kaify Bot (Pháp lý)</a:t>
            </a:r>
            <a:endParaRPr lang="en-US" sz="700" dirty="0"/>
          </a:p>
        </p:txBody>
      </p:sp>
      <p:sp>
        <p:nvSpPr>
          <p:cNvPr id="38" name="Shape 28"/>
          <p:cNvSpPr/>
          <p:nvPr/>
        </p:nvSpPr>
        <p:spPr>
          <a:xfrm>
            <a:off x="2528888" y="2776686"/>
            <a:ext cx="980926" cy="314325"/>
          </a:xfrm>
          <a:prstGeom prst="rect">
            <a:avLst/>
          </a:prstGeom>
          <a:solidFill>
            <a:srgbClr val="9333EA">
              <a:alpha val="5000"/>
            </a:srgbClr>
          </a:solidFill>
          <a:ln/>
        </p:spPr>
      </p:sp>
      <p:sp>
        <p:nvSpPr>
          <p:cNvPr id="39" name="Shape 29"/>
          <p:cNvSpPr/>
          <p:nvPr/>
        </p:nvSpPr>
        <p:spPr>
          <a:xfrm>
            <a:off x="2528888" y="3083868"/>
            <a:ext cx="980926" cy="7144"/>
          </a:xfrm>
          <a:prstGeom prst="rect">
            <a:avLst/>
          </a:prstGeom>
          <a:solidFill>
            <a:srgbClr val="E9D5FF"/>
          </a:solidFill>
          <a:ln/>
        </p:spPr>
      </p:sp>
      <p:sp>
        <p:nvSpPr>
          <p:cNvPr id="40" name="Text 30"/>
          <p:cNvSpPr/>
          <p:nvPr/>
        </p:nvSpPr>
        <p:spPr>
          <a:xfrm>
            <a:off x="2528888" y="2776686"/>
            <a:ext cx="980926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Có</a:t>
            </a:r>
            <a:endParaRPr lang="en-US" sz="7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526" y="2885629"/>
            <a:ext cx="62508" cy="100013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717" y="2885629"/>
            <a:ext cx="62508" cy="100013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8473" y="2885629"/>
            <a:ext cx="62508" cy="100013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571500" y="3091011"/>
            <a:ext cx="1957388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Thời gian onboarding</a:t>
            </a:r>
            <a:endParaRPr lang="en-US" sz="700" dirty="0"/>
          </a:p>
        </p:txBody>
      </p:sp>
      <p:sp>
        <p:nvSpPr>
          <p:cNvPr id="45" name="Shape 32"/>
          <p:cNvSpPr/>
          <p:nvPr/>
        </p:nvSpPr>
        <p:spPr>
          <a:xfrm>
            <a:off x="2528888" y="3091011"/>
            <a:ext cx="980926" cy="314325"/>
          </a:xfrm>
          <a:prstGeom prst="rect">
            <a:avLst/>
          </a:prstGeom>
          <a:solidFill>
            <a:srgbClr val="9333EA">
              <a:alpha val="5000"/>
            </a:srgbClr>
          </a:solidFill>
          <a:ln/>
        </p:spPr>
      </p:sp>
      <p:sp>
        <p:nvSpPr>
          <p:cNvPr id="46" name="Shape 33"/>
          <p:cNvSpPr/>
          <p:nvPr/>
        </p:nvSpPr>
        <p:spPr>
          <a:xfrm>
            <a:off x="2528888" y="3398193"/>
            <a:ext cx="980926" cy="7144"/>
          </a:xfrm>
          <a:prstGeom prst="rect">
            <a:avLst/>
          </a:prstGeom>
          <a:solidFill>
            <a:srgbClr val="E9D5FF"/>
          </a:solidFill>
          <a:ln/>
        </p:spPr>
      </p:sp>
      <p:sp>
        <p:nvSpPr>
          <p:cNvPr id="47" name="Text 34"/>
          <p:cNvSpPr/>
          <p:nvPr/>
        </p:nvSpPr>
        <p:spPr>
          <a:xfrm>
            <a:off x="2528888" y="3091011"/>
            <a:ext cx="980926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&lt; 10 phút</a:t>
            </a:r>
            <a:endParaRPr lang="en-US" sz="700" dirty="0"/>
          </a:p>
        </p:txBody>
      </p:sp>
      <p:sp>
        <p:nvSpPr>
          <p:cNvPr id="48" name="Text 35"/>
          <p:cNvSpPr/>
          <p:nvPr/>
        </p:nvSpPr>
        <p:spPr>
          <a:xfrm>
            <a:off x="3509814" y="3091011"/>
            <a:ext cx="811960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1–2 tuần</a:t>
            </a:r>
            <a:endParaRPr lang="en-US" sz="750" dirty="0"/>
          </a:p>
        </p:txBody>
      </p:sp>
      <p:sp>
        <p:nvSpPr>
          <p:cNvPr id="49" name="Text 36"/>
          <p:cNvSpPr/>
          <p:nvPr/>
        </p:nvSpPr>
        <p:spPr>
          <a:xfrm>
            <a:off x="4321773" y="3091011"/>
            <a:ext cx="828396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3–5 ngày</a:t>
            </a:r>
            <a:endParaRPr lang="en-US" sz="750" dirty="0"/>
          </a:p>
        </p:txBody>
      </p:sp>
      <p:sp>
        <p:nvSpPr>
          <p:cNvPr id="50" name="Text 37"/>
          <p:cNvSpPr/>
          <p:nvPr/>
        </p:nvSpPr>
        <p:spPr>
          <a:xfrm>
            <a:off x="5150169" y="3091011"/>
            <a:ext cx="779143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2–3 ngày</a:t>
            </a:r>
            <a:endParaRPr lang="en-US" sz="75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88" y="1510457"/>
            <a:ext cx="2500313" cy="2500313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5965031" y="4153644"/>
            <a:ext cx="2714625" cy="369689"/>
          </a:xfrm>
          <a:prstGeom prst="rect">
            <a:avLst/>
          </a:prstGeom>
          <a:solidFill>
            <a:srgbClr val="E9D5FF"/>
          </a:solidFill>
          <a:ln/>
        </p:spPr>
      </p:sp>
      <p:sp>
        <p:nvSpPr>
          <p:cNvPr id="53" name="Text 39"/>
          <p:cNvSpPr/>
          <p:nvPr/>
        </p:nvSpPr>
        <p:spPr>
          <a:xfrm>
            <a:off x="5965031" y="4153644"/>
            <a:ext cx="2714625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Scaify: Onboarding cực nhanh &lt; 10 phút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4625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Phân tích tỷ lệ Giá / Giá trị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30039"/>
            <a:ext cx="857250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333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Scaify mang lại hiệu quả kinh tế cao nhất trên mỗi điểm giá trị cho nhu cầu đối soát &amp; thuế.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653332"/>
            <a:ext cx="4286250" cy="15841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653332"/>
            <a:ext cx="974145" cy="326827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653332"/>
            <a:ext cx="974145" cy="32682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Sản phẩm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545645" y="1653332"/>
            <a:ext cx="1211731" cy="326827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6"/>
          <p:cNvSpPr/>
          <p:nvPr/>
        </p:nvSpPr>
        <p:spPr>
          <a:xfrm>
            <a:off x="1545645" y="1653332"/>
            <a:ext cx="1211731" cy="32682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Giá gói chính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57376" y="1653332"/>
            <a:ext cx="1078678" cy="326827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1" name="Text 8"/>
          <p:cNvSpPr/>
          <p:nvPr/>
        </p:nvSpPr>
        <p:spPr>
          <a:xfrm>
            <a:off x="2757376" y="1653332"/>
            <a:ext cx="1078678" cy="32682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Điểm (1-10)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836054" y="1653332"/>
            <a:ext cx="1021696" cy="326827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0"/>
          <p:cNvSpPr/>
          <p:nvPr/>
        </p:nvSpPr>
        <p:spPr>
          <a:xfrm>
            <a:off x="3836054" y="1653332"/>
            <a:ext cx="1021696" cy="32682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VND/Điểm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71500" y="1980158"/>
            <a:ext cx="4286250" cy="310753"/>
          </a:xfrm>
          <a:prstGeom prst="rect">
            <a:avLst/>
          </a:prstGeom>
          <a:solidFill>
            <a:srgbClr val="9333EA">
              <a:alpha val="1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1980158"/>
            <a:ext cx="974145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Scaify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545645" y="1980158"/>
            <a:ext cx="1211731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299K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757376" y="1980158"/>
            <a:ext cx="1078678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9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836054" y="1980158"/>
            <a:ext cx="1021696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~33.200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71500" y="2290911"/>
            <a:ext cx="974145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MISA AMIS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545645" y="2290911"/>
            <a:ext cx="1211731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2tr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2757376" y="2290911"/>
            <a:ext cx="1078678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836054" y="2290911"/>
            <a:ext cx="1021696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~285.700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71500" y="2605236"/>
            <a:ext cx="974145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KiotViet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545645" y="2605236"/>
            <a:ext cx="1211731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1,2tr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2757376" y="2605236"/>
            <a:ext cx="1078678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836054" y="2605236"/>
            <a:ext cx="1021696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~200.000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71500" y="2919561"/>
            <a:ext cx="974145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Sapo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545645" y="2919561"/>
            <a:ext cx="1211731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900K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757376" y="2919561"/>
            <a:ext cx="1078678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836054" y="2919561"/>
            <a:ext cx="1021696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~150.000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000625" y="1653332"/>
            <a:ext cx="3571875" cy="26431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1796207"/>
            <a:ext cx="3571875" cy="2500313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0" y="4296519"/>
            <a:ext cx="9144000" cy="441127"/>
          </a:xfrm>
          <a:prstGeom prst="rect">
            <a:avLst/>
          </a:prstGeom>
          <a:noFill/>
          <a:ln/>
        </p:spPr>
        <p:txBody>
          <a:bodyPr wrap="square" lIns="680339" tIns="34023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i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*Điểm giá trị dựa trên khả năng giải quyết pain point đối soát và chuẩn bị thuế.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2075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4625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Ma trận định vị tài chính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30039"/>
            <a:ext cx="857250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333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Scaify nhắm vào ngách chuyên sâu (pre-accounting), không cạnh tranh trực diện với POS full-stack.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1796207"/>
            <a:ext cx="4286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MISA AMIS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" y="2139107"/>
            <a:ext cx="4286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 phí cao, đa năng, giải pháp toàn diện nhưng thường "overkill" đối với các seller quy mô nhỏ.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764854"/>
            <a:ext cx="4286250" cy="251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333E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SCAIFY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1500" y="3145259"/>
            <a:ext cx="4286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 phí hợp lý, tập trung chuyên sâu vào đối soát và chuẩn bị thuế — giải pháp tối ưu cho ngách pre-accounting.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3771007"/>
            <a:ext cx="4286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KiotViet / Sapo / Nhanh.vn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4113907"/>
            <a:ext cx="4286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Tập trung vào POS và quản lý đơn hàng, chưa thể thay thế lớp đối soát và xử lý thuế chuyên sâu.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1767531"/>
            <a:ext cx="3214688" cy="2143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0" y="4303237"/>
            <a:ext cx="9144000" cy="460772"/>
          </a:xfrm>
          <a:prstGeom prst="rect">
            <a:avLst/>
          </a:prstGeom>
          <a:noFill/>
          <a:ln/>
        </p:spPr>
        <p:txBody>
          <a:bodyPr wrap="square" lIns="680339" tIns="34023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i="1" dirty="0">
                <a:solidFill>
                  <a:srgbClr val="9333E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*Chiến lược: Giữ vững định vị pre-accounting, tránh đối đầu trực tiếp "thay thế MISA".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4625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Unit Economics &amp; Cấu trúc chi phí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30039"/>
            <a:ext cx="857250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333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Tối ưu hóa lợi nhuận thông qua kiểm soát chi phí công nghệ và vận hành.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1653332"/>
            <a:ext cx="14680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Lợi ích khách hàng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" y="1989088"/>
            <a:ext cx="428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33E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•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5800" y="1989088"/>
            <a:ext cx="27967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Tiết kiệm thời gian đối soát &amp; giảm sai sót thủ công.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71500" y="2230189"/>
            <a:ext cx="428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33E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•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2230189"/>
            <a:ext cx="265926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Phát hiện lệch dữ liệu sớm &amp; giảm rủi rủi ro thuế.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71500" y="2685604"/>
            <a:ext cx="12180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Cấu trúc chi phí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1500" y="3021360"/>
            <a:ext cx="428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33E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•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" y="3021360"/>
            <a:ext cx="8036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AI/OCR + RAG: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489472" y="3021360"/>
            <a:ext cx="186809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Theo lượt xử lý (Model LLM &amp; Jina).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71500" y="3262461"/>
            <a:ext cx="428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33E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•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" y="3262461"/>
            <a:ext cx="957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Cloud &amp; Support: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43063" y="3262461"/>
            <a:ext cx="210383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Tăng theo lưu lượng và số khách hàng.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71500" y="3503563"/>
            <a:ext cx="428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33E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•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" y="3503563"/>
            <a:ext cx="10644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Sales &amp; Marketing: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750219" y="3503563"/>
            <a:ext cx="156269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Phụ thuộc kênh tăng trưởng.</a:t>
            </a:r>
            <a:endParaRPr lang="en-US" sz="8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213990"/>
            <a:ext cx="3429000" cy="178593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143500" y="3099941"/>
            <a:ext cx="3429000" cy="12072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>
            <a:off x="5286375" y="3357116"/>
            <a:ext cx="31432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Mục tiêu tài chính: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286375" y="3583930"/>
            <a:ext cx="114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33E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→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472113" y="3583930"/>
            <a:ext cx="236279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Gross margin cao hơn công cụ AI thuần túy.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286375" y="3825032"/>
            <a:ext cx="114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33E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→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472113" y="3825032"/>
            <a:ext cx="186987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 payback ngắn để scale nhanh.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5286375" y="4066133"/>
            <a:ext cx="114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33E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→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472113" y="4066133"/>
            <a:ext cx="215026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LTV tăng trưởng cùng Workspace &amp; API.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4625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Đánh giá theo nhóm khách hàng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30039"/>
            <a:ext cx="857250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333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Chiến lược tiếp cận riêng biệt để tối đa hóa ROI cho từng phân khúc.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653332"/>
            <a:ext cx="1643063" cy="285750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653332"/>
            <a:ext cx="1643063" cy="28575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867644"/>
            <a:ext cx="1357313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Người bán nhỏ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7250" y="2169468"/>
            <a:ext cx="1214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8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Nên dùng gói </a:t>
            </a:r>
            <a:r>
              <a:rPr lang="en-US" sz="750" b="1" dirty="0">
                <a:solidFill>
                  <a:srgbClr val="9333E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Starter (Free)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7250" y="2569518"/>
            <a:ext cx="1214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8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Mục tiêu: Hình thành thói quen sử dụng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7250" y="2969568"/>
            <a:ext cx="1214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8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ROI: Tiết kiệm thời gian &amp; giảm lỗi thủ công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428875" y="1653332"/>
            <a:ext cx="1643063" cy="285750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428875" y="1653332"/>
            <a:ext cx="1643063" cy="28575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0"/>
          <p:cNvSpPr/>
          <p:nvPr/>
        </p:nvSpPr>
        <p:spPr>
          <a:xfrm>
            <a:off x="2571750" y="1867644"/>
            <a:ext cx="1357313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Seller tăng trưởng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14625" y="2169468"/>
            <a:ext cx="1214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8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Phù hợp nhất với </a:t>
            </a:r>
            <a:r>
              <a:rPr lang="en-US" sz="750" b="1" dirty="0">
                <a:solidFill>
                  <a:srgbClr val="9333E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Professional (299K)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714625" y="2569518"/>
            <a:ext cx="1214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8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Cần Explain Tax &amp; Kaify Bot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714625" y="2969568"/>
            <a:ext cx="1214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8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Nhóm có ROI cao nhất cho sản phẩm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286250" y="1653332"/>
            <a:ext cx="1643063" cy="285750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0" y="1653332"/>
            <a:ext cx="1643063" cy="28575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9" name="Text 16"/>
          <p:cNvSpPr/>
          <p:nvPr/>
        </p:nvSpPr>
        <p:spPr>
          <a:xfrm>
            <a:off x="4429125" y="1867644"/>
            <a:ext cx="1357313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Kế toán dịch vụ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0" y="2169468"/>
            <a:ext cx="1214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8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Phù hợp với </a:t>
            </a:r>
            <a:r>
              <a:rPr lang="en-US" sz="750" b="1" dirty="0">
                <a:solidFill>
                  <a:srgbClr val="9333E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Business (Phase 3)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72000" y="2569518"/>
            <a:ext cx="1214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8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Giá trị: Xử lý nhiều shop cùng lúc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72000" y="2969568"/>
            <a:ext cx="1214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8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Tăng năng suất &amp; giảm công xử lý</a:t>
            </a:r>
            <a:endParaRPr lang="en-US" sz="8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88" y="1831925"/>
            <a:ext cx="2500313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4625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Kết luận chiến lược tài chính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30039"/>
            <a:ext cx="857250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333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Scaify tối ưu hóa giá trị dựa trên đúng pain point cốt lõi của khách hàng.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481882"/>
            <a:ext cx="4429125" cy="70042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81882"/>
            <a:ext cx="35719" cy="70042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553319"/>
            <a:ext cx="4143375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1. Phễu mở rộng linh hoạt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14375" y="1790849"/>
            <a:ext cx="41433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Starter (Free) đóng vai trò mở phễu, thu hút người dùng và hình thành thói quen đối soát dữ liệu.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1500" y="2239454"/>
            <a:ext cx="4429125" cy="70042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239454"/>
            <a:ext cx="35719" cy="70042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1" name="Text 8"/>
          <p:cNvSpPr/>
          <p:nvPr/>
        </p:nvSpPr>
        <p:spPr>
          <a:xfrm>
            <a:off x="714375" y="2310892"/>
            <a:ext cx="4143375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2. Dòng tiền thương mại cốt lõi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14375" y="2548421"/>
            <a:ext cx="41433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Professional 299K/tháng là gói chốt hiện tại, mang lại ROI cao nhất cho nhóm Seller đang tăng trưởng.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71500" y="2997026"/>
            <a:ext cx="4429125" cy="70042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2997026"/>
            <a:ext cx="35719" cy="70042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5" name="Text 12"/>
          <p:cNvSpPr/>
          <p:nvPr/>
        </p:nvSpPr>
        <p:spPr>
          <a:xfrm>
            <a:off x="714375" y="3068464"/>
            <a:ext cx="4143375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3. Lộ trình mở rộng B2B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14375" y="3305994"/>
            <a:ext cx="41433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(Workspace + API) là hướng đi chiến lược trong Phase 3 để tăng giá trị trên mỗi khách hàng.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71500" y="3754599"/>
            <a:ext cx="4429125" cy="70042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3754599"/>
            <a:ext cx="35719" cy="70042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9" name="Text 16"/>
          <p:cNvSpPr/>
          <p:nvPr/>
        </p:nvSpPr>
        <p:spPr>
          <a:xfrm>
            <a:off x="714375" y="3826036"/>
            <a:ext cx="4143375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4. Lợi thế cạnh tranh bền vững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14375" y="4063566"/>
            <a:ext cx="41433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Tập trung vào Price-to-value vượt trội trên đúng pain point đối soát và chuẩn bị thuế chuyên sâu.</a:t>
            </a:r>
            <a:endParaRPr lang="en-US" sz="8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3" y="1553319"/>
            <a:ext cx="2428875" cy="242887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0" y="4512171"/>
            <a:ext cx="8572500" cy="300038"/>
          </a:xfrm>
          <a:prstGeom prst="rect">
            <a:avLst/>
          </a:prstGeom>
          <a:noFill/>
          <a:ln/>
        </p:spPr>
        <p:txBody>
          <a:bodyPr wrap="square" lIns="680339" tIns="1021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1C87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Scaify: Công cụ chuyên sâu tối ưu nhất cho đối soát và chuẩn bị thuế.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902</Words>
  <Application>Microsoft Office PowerPoint</Application>
  <PresentationFormat>On-screen Show (16:9)</PresentationFormat>
  <Paragraphs>159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Noto Sans</vt:lpstr>
      <vt:lpstr>Noto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Nguyen Thi Tuyet (S.AI.20K)</cp:lastModifiedBy>
  <cp:revision>2</cp:revision>
  <dcterms:created xsi:type="dcterms:W3CDTF">2026-05-17T05:43:48Z</dcterms:created>
  <dcterms:modified xsi:type="dcterms:W3CDTF">2026-05-17T05:46:20Z</dcterms:modified>
</cp:coreProperties>
</file>